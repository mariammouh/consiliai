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0" y="2286000"/>
            <a:ext cx="3657600" cy="36576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0" y="1097280"/>
            <a:ext cx="731520" cy="7315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7315200" cy="365760"/>
          </a:xfrm>
          <a:prstGeom prst="rect">
            <a:avLst/>
          </a:prstGeom>
          <a:noFill/>
        </p:spPr>
        <p:txBody>
          <a:bodyPr wrap="none">
            <a:spAutoFit/>
          </a:bodyPr>
          <a:lstStyle/>
          <a:p>
            <a:pPr>
              <a:defRPr sz="1400" b="1">
                <a:solidFill>
                  <a:srgbClr val="3B82F6"/>
                </a:solidFill>
                <a:latin typeface="Calibri"/>
              </a:defRPr>
            </a:pPr>
            <a:r>
              <a:t>ADVANCED FAKE NEWS DETECTION: FROM TRANSFORMER ARCHITECTURES TO SOCIAL NETWORK DYNAMICS</a:t>
            </a:r>
          </a:p>
        </p:txBody>
      </p:sp>
      <p:sp>
        <p:nvSpPr>
          <p:cNvPr id="7" name="TextBox 6"/>
          <p:cNvSpPr txBox="1"/>
          <p:nvPr/>
        </p:nvSpPr>
        <p:spPr>
          <a:xfrm>
            <a:off x="548640" y="2377440"/>
            <a:ext cx="8229600" cy="2468880"/>
          </a:xfrm>
          <a:prstGeom prst="rect">
            <a:avLst/>
          </a:prstGeom>
          <a:noFill/>
        </p:spPr>
        <p:txBody>
          <a:bodyPr wrap="square">
            <a:spAutoFit/>
          </a:bodyPr>
          <a:lstStyle/>
          <a:p>
            <a:pPr>
              <a:defRPr sz="5000" b="1">
                <a:solidFill>
                  <a:srgbClr val="1E293B"/>
                </a:solidFill>
                <a:latin typeface="Calibri"/>
              </a:defRPr>
            </a:pPr>
            <a:r>
              <a:t>Foundations of Fake News Detection and Generalization Challenges</a:t>
            </a:r>
          </a:p>
        </p:txBody>
      </p:sp>
      <p:sp>
        <p:nvSpPr>
          <p:cNvPr id="8" name="Rectangle 7"/>
          <p:cNvSpPr/>
          <p:nvPr/>
        </p:nvSpPr>
        <p:spPr>
          <a:xfrm>
            <a:off x="548640" y="480060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937760"/>
            <a:ext cx="7315200" cy="457200"/>
          </a:xfrm>
          <a:prstGeom prst="rect">
            <a:avLst/>
          </a:prstGeom>
          <a:noFill/>
        </p:spPr>
        <p:txBody>
          <a:bodyPr wrap="none">
            <a:spAutoFit/>
          </a:bodyPr>
          <a:lstStyle/>
          <a:p>
            <a:pPr>
              <a:defRPr sz="2400">
                <a:solidFill>
                  <a:srgbClr val="64748B"/>
                </a:solidFill>
                <a:latin typeface="Calibri"/>
              </a:defRPr>
            </a:pPr>
            <a:r>
              <a:t>Foundations of Fake News Detection and Generalization Challenges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Learning Objectives</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36245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276604"/>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304036"/>
            <a:ext cx="384048" cy="347472"/>
          </a:xfrm>
          <a:prstGeom prst="rect">
            <a:avLst/>
          </a:prstGeom>
          <a:noFill/>
        </p:spPr>
        <p:txBody>
          <a:bodyPr wrap="none">
            <a:spAutoFit/>
          </a:bodyPr>
          <a:lstStyle/>
          <a:p>
            <a:pPr algn="ctr">
              <a:defRPr sz="1600" b="1">
                <a:solidFill>
                  <a:srgbClr val="FFFFFF"/>
                </a:solidFill>
                <a:latin typeface="Calibri"/>
              </a:defRPr>
            </a:pPr>
            <a:r>
              <a:t>1</a:t>
            </a:r>
          </a:p>
        </p:txBody>
      </p:sp>
      <p:sp>
        <p:nvSpPr>
          <p:cNvPr id="9" name="TextBox 8"/>
          <p:cNvSpPr txBox="1"/>
          <p:nvPr/>
        </p:nvSpPr>
        <p:spPr>
          <a:xfrm>
            <a:off x="1143000" y="1185164"/>
            <a:ext cx="4389120" cy="1088135"/>
          </a:xfrm>
          <a:prstGeom prst="rect">
            <a:avLst/>
          </a:prstGeom>
          <a:noFill/>
        </p:spPr>
        <p:txBody>
          <a:bodyPr wrap="square">
            <a:spAutoFit/>
          </a:bodyPr>
          <a:lstStyle/>
          <a:p>
            <a:pPr>
              <a:defRPr sz="1600">
                <a:solidFill>
                  <a:srgbClr val="1E293B"/>
                </a:solidFill>
                <a:latin typeface="Calibri"/>
              </a:defRPr>
            </a:pPr>
            <a:r>
              <a:t>Understand the limitations of text-only fake news detection models.</a:t>
            </a:r>
          </a:p>
        </p:txBody>
      </p:sp>
      <p:sp>
        <p:nvSpPr>
          <p:cNvPr id="10" name="Rounded Rectangle 9"/>
          <p:cNvSpPr/>
          <p:nvPr/>
        </p:nvSpPr>
        <p:spPr>
          <a:xfrm>
            <a:off x="5989320" y="1048004"/>
            <a:ext cx="5120640" cy="163677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99048" y="1276604"/>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8" y="1304036"/>
            <a:ext cx="384048" cy="347472"/>
          </a:xfrm>
          <a:prstGeom prst="rect">
            <a:avLst/>
          </a:prstGeom>
          <a:noFill/>
        </p:spPr>
        <p:txBody>
          <a:bodyPr wrap="none">
            <a:spAutoFit/>
          </a:bodyPr>
          <a:lstStyle/>
          <a:p>
            <a:pPr algn="ctr">
              <a:defRPr sz="1600" b="1">
                <a:solidFill>
                  <a:srgbClr val="FFFFFF"/>
                </a:solidFill>
                <a:latin typeface="Calibri"/>
              </a:defRPr>
            </a:pPr>
            <a:r>
              <a:t>2</a:t>
            </a:r>
          </a:p>
        </p:txBody>
      </p:sp>
      <p:sp>
        <p:nvSpPr>
          <p:cNvPr id="13" name="TextBox 12"/>
          <p:cNvSpPr txBox="1"/>
          <p:nvPr/>
        </p:nvSpPr>
        <p:spPr>
          <a:xfrm>
            <a:off x="6583680" y="1185164"/>
            <a:ext cx="4389120" cy="1362455"/>
          </a:xfrm>
          <a:prstGeom prst="rect">
            <a:avLst/>
          </a:prstGeom>
          <a:noFill/>
        </p:spPr>
        <p:txBody>
          <a:bodyPr wrap="square">
            <a:spAutoFit/>
          </a:bodyPr>
          <a:lstStyle/>
          <a:p>
            <a:pPr>
              <a:defRPr sz="1600">
                <a:solidFill>
                  <a:srgbClr val="1E293B"/>
                </a:solidFill>
                <a:latin typeface="Calibri"/>
              </a:defRPr>
            </a:pPr>
            <a:r>
              <a:t>Analyze how heterogeneous graph structures and social context improve detection accuracy.</a:t>
            </a:r>
          </a:p>
        </p:txBody>
      </p:sp>
      <p:sp>
        <p:nvSpPr>
          <p:cNvPr id="14" name="Rounded Rectangle 13"/>
          <p:cNvSpPr/>
          <p:nvPr/>
        </p:nvSpPr>
        <p:spPr>
          <a:xfrm>
            <a:off x="548640" y="2867660"/>
            <a:ext cx="5120640" cy="163677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096260"/>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123692"/>
            <a:ext cx="384048" cy="347472"/>
          </a:xfrm>
          <a:prstGeom prst="rect">
            <a:avLst/>
          </a:prstGeom>
          <a:noFill/>
        </p:spPr>
        <p:txBody>
          <a:bodyPr wrap="none">
            <a:spAutoFit/>
          </a:bodyPr>
          <a:lstStyle/>
          <a:p>
            <a:pPr algn="ctr">
              <a:defRPr sz="1600" b="1">
                <a:solidFill>
                  <a:srgbClr val="FFFFFF"/>
                </a:solidFill>
                <a:latin typeface="Calibri"/>
              </a:defRPr>
            </a:pPr>
            <a:r>
              <a:t>3</a:t>
            </a:r>
          </a:p>
        </p:txBody>
      </p:sp>
      <p:sp>
        <p:nvSpPr>
          <p:cNvPr id="17" name="TextBox 16"/>
          <p:cNvSpPr txBox="1"/>
          <p:nvPr/>
        </p:nvSpPr>
        <p:spPr>
          <a:xfrm>
            <a:off x="1143000" y="3004820"/>
            <a:ext cx="4389120" cy="1362455"/>
          </a:xfrm>
          <a:prstGeom prst="rect">
            <a:avLst/>
          </a:prstGeom>
          <a:noFill/>
        </p:spPr>
        <p:txBody>
          <a:bodyPr wrap="square">
            <a:spAutoFit/>
          </a:bodyPr>
          <a:lstStyle/>
          <a:p>
            <a:pPr>
              <a:defRPr sz="1600">
                <a:solidFill>
                  <a:srgbClr val="1E293B"/>
                </a:solidFill>
                <a:latin typeface="Calibri"/>
              </a:defRPr>
            </a:pPr>
            <a:r>
              <a:t>Evaluate the generalization capabilities of Transformer-based models across different datasets.</a:t>
            </a:r>
          </a:p>
        </p:txBody>
      </p:sp>
      <p:sp>
        <p:nvSpPr>
          <p:cNvPr id="18" name="Rounded Rectangle 17"/>
          <p:cNvSpPr/>
          <p:nvPr/>
        </p:nvSpPr>
        <p:spPr>
          <a:xfrm>
            <a:off x="5989320" y="2867660"/>
            <a:ext cx="5120640" cy="163677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099048" y="3096260"/>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8" y="3123692"/>
            <a:ext cx="384048" cy="347472"/>
          </a:xfrm>
          <a:prstGeom prst="rect">
            <a:avLst/>
          </a:prstGeom>
          <a:noFill/>
        </p:spPr>
        <p:txBody>
          <a:bodyPr wrap="none">
            <a:spAutoFit/>
          </a:bodyPr>
          <a:lstStyle/>
          <a:p>
            <a:pPr algn="ctr">
              <a:defRPr sz="1600" b="1">
                <a:solidFill>
                  <a:srgbClr val="FFFFFF"/>
                </a:solidFill>
                <a:latin typeface="Calibri"/>
              </a:defRPr>
            </a:pPr>
            <a:r>
              <a:t>4</a:t>
            </a:r>
          </a:p>
        </p:txBody>
      </p:sp>
      <p:sp>
        <p:nvSpPr>
          <p:cNvPr id="21" name="TextBox 20"/>
          <p:cNvSpPr txBox="1"/>
          <p:nvPr/>
        </p:nvSpPr>
        <p:spPr>
          <a:xfrm>
            <a:off x="6583680" y="3004820"/>
            <a:ext cx="4389120" cy="1362455"/>
          </a:xfrm>
          <a:prstGeom prst="rect">
            <a:avLst/>
          </a:prstGeom>
          <a:noFill/>
        </p:spPr>
        <p:txBody>
          <a:bodyPr wrap="square">
            <a:spAutoFit/>
          </a:bodyPr>
          <a:lstStyle/>
          <a:p>
            <a:pPr>
              <a:defRPr sz="1600">
                <a:solidFill>
                  <a:srgbClr val="1E293B"/>
                </a:solidFill>
                <a:latin typeface="Calibri"/>
              </a:defRPr>
            </a:pPr>
            <a:r>
              <a:t>Critically assess the robustness of current models against modern misinformation threats.</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Module Context</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3545738" cy="334365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048004"/>
            <a:ext cx="3545738"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185164"/>
            <a:ext cx="3179978" cy="320040"/>
          </a:xfrm>
          <a:prstGeom prst="rect">
            <a:avLst/>
          </a:prstGeom>
          <a:noFill/>
        </p:spPr>
        <p:txBody>
          <a:bodyPr wrap="none">
            <a:spAutoFit/>
          </a:bodyPr>
          <a:lstStyle/>
          <a:p>
            <a:pPr>
              <a:defRPr sz="1100" b="1">
                <a:solidFill>
                  <a:srgbClr val="F59E0B"/>
                </a:solidFill>
                <a:latin typeface="Calibri"/>
              </a:defRPr>
            </a:pPr>
            <a:r>
              <a:t>PROBLEM</a:t>
            </a:r>
          </a:p>
        </p:txBody>
      </p:sp>
      <p:sp>
        <p:nvSpPr>
          <p:cNvPr id="9" name="TextBox 8"/>
          <p:cNvSpPr txBox="1"/>
          <p:nvPr/>
        </p:nvSpPr>
        <p:spPr>
          <a:xfrm>
            <a:off x="749808" y="1505204"/>
            <a:ext cx="3179978" cy="2703575"/>
          </a:xfrm>
          <a:prstGeom prst="rect">
            <a:avLst/>
          </a:prstGeom>
          <a:noFill/>
        </p:spPr>
        <p:txBody>
          <a:bodyPr wrap="square">
            <a:spAutoFit/>
          </a:bodyPr>
          <a:lstStyle/>
          <a:p>
            <a:pPr>
              <a:lnSpc>
                <a:spcPct val="130000"/>
              </a:lnSpc>
              <a:defRPr sz="1600">
                <a:solidFill>
                  <a:srgbClr val="1E293B"/>
                </a:solidFill>
                <a:latin typeface="Calibri"/>
              </a:defRPr>
            </a:pPr>
            <a:r>
              <a:t>The lack of fact-checking mechanisms on social media and the poor cross-domain generalization capabilities of existing detection models.</a:t>
            </a:r>
          </a:p>
        </p:txBody>
      </p:sp>
      <p:sp>
        <p:nvSpPr>
          <p:cNvPr id="10" name="Rounded Rectangle 9"/>
          <p:cNvSpPr/>
          <p:nvPr/>
        </p:nvSpPr>
        <p:spPr>
          <a:xfrm>
            <a:off x="4322978" y="1048004"/>
            <a:ext cx="3545738" cy="334365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2978" y="1048004"/>
            <a:ext cx="3545738"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4146" y="1185164"/>
            <a:ext cx="3179978" cy="320040"/>
          </a:xfrm>
          <a:prstGeom prst="rect">
            <a:avLst/>
          </a:prstGeom>
          <a:noFill/>
        </p:spPr>
        <p:txBody>
          <a:bodyPr wrap="none">
            <a:spAutoFit/>
          </a:bodyPr>
          <a:lstStyle/>
          <a:p>
            <a:pPr>
              <a:defRPr sz="1100" b="1">
                <a:solidFill>
                  <a:srgbClr val="10B981"/>
                </a:solidFill>
                <a:latin typeface="Calibri"/>
              </a:defRPr>
            </a:pPr>
            <a:r>
              <a:t>SOLUTION</a:t>
            </a:r>
          </a:p>
        </p:txBody>
      </p:sp>
      <p:sp>
        <p:nvSpPr>
          <p:cNvPr id="13" name="TextBox 12"/>
          <p:cNvSpPr txBox="1"/>
          <p:nvPr/>
        </p:nvSpPr>
        <p:spPr>
          <a:xfrm>
            <a:off x="4524146" y="1505204"/>
            <a:ext cx="3179978" cy="2703575"/>
          </a:xfrm>
          <a:prstGeom prst="rect">
            <a:avLst/>
          </a:prstGeom>
          <a:noFill/>
        </p:spPr>
        <p:txBody>
          <a:bodyPr wrap="square">
            <a:spAutoFit/>
          </a:bodyPr>
          <a:lstStyle/>
          <a:p>
            <a:pPr>
              <a:lnSpc>
                <a:spcPct val="130000"/>
              </a:lnSpc>
              <a:defRPr sz="1600">
                <a:solidFill>
                  <a:srgbClr val="1E293B"/>
                </a:solidFill>
                <a:latin typeface="Calibri"/>
              </a:defRPr>
            </a:pPr>
            <a:r>
              <a:t>Systematic empirical benchmarking of 12 representative methods (from traditional ML to LLMs) across 10 heterogeneous datasets.</a:t>
            </a:r>
          </a:p>
        </p:txBody>
      </p:sp>
      <p:sp>
        <p:nvSpPr>
          <p:cNvPr id="14" name="Rounded Rectangle 13"/>
          <p:cNvSpPr/>
          <p:nvPr/>
        </p:nvSpPr>
        <p:spPr>
          <a:xfrm>
            <a:off x="8097316" y="1048004"/>
            <a:ext cx="354573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048004"/>
            <a:ext cx="3545738"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8484" y="1185164"/>
            <a:ext cx="3179978" cy="320040"/>
          </a:xfrm>
          <a:prstGeom prst="rect">
            <a:avLst/>
          </a:prstGeom>
          <a:noFill/>
        </p:spPr>
        <p:txBody>
          <a:bodyPr wrap="none">
            <a:spAutoFit/>
          </a:bodyPr>
          <a:lstStyle/>
          <a:p>
            <a:pPr>
              <a:defRPr sz="1100" b="1">
                <a:solidFill>
                  <a:srgbClr val="3B82F6"/>
                </a:solidFill>
                <a:latin typeface="Calibri"/>
              </a:defRPr>
            </a:pPr>
            <a:r>
              <a:t>DIFFICULTY</a:t>
            </a:r>
          </a:p>
        </p:txBody>
      </p:sp>
      <p:sp>
        <p:nvSpPr>
          <p:cNvPr id="17" name="TextBox 16"/>
          <p:cNvSpPr txBox="1"/>
          <p:nvPr/>
        </p:nvSpPr>
        <p:spPr>
          <a:xfrm>
            <a:off x="8298484" y="1505204"/>
            <a:ext cx="3179978" cy="1371600"/>
          </a:xfrm>
          <a:prstGeom prst="rect">
            <a:avLst/>
          </a:prstGeom>
          <a:noFill/>
        </p:spPr>
        <p:txBody>
          <a:bodyPr wrap="square">
            <a:spAutoFit/>
          </a:bodyPr>
          <a:lstStyle/>
          <a:p>
            <a:pPr>
              <a:lnSpc>
                <a:spcPct val="130000"/>
              </a:lnSpc>
              <a:defRPr sz="1600">
                <a:solidFill>
                  <a:srgbClr val="1E293B"/>
                </a:solidFill>
                <a:latin typeface="Calibri"/>
              </a:defRPr>
            </a:pPr>
            <a:r>
              <a:t>beginner</a:t>
            </a:r>
          </a:p>
        </p:txBody>
      </p:sp>
      <p:sp>
        <p:nvSpPr>
          <p:cNvPr id="18" name="Rectangle 1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0" name="TextBox 1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1478280"/>
          </a:xfrm>
          <a:prstGeom prst="rect">
            <a:avLst/>
          </a:prstGeom>
          <a:noFill/>
        </p:spPr>
        <p:txBody>
          <a:bodyPr wrap="square">
            <a:spAutoFit/>
          </a:bodyPr>
          <a:lstStyle/>
          <a:p>
            <a:pPr>
              <a:defRPr sz="4400" b="1">
                <a:solidFill>
                  <a:srgbClr val="1E293B"/>
                </a:solidFill>
                <a:latin typeface="Calibri"/>
              </a:defRPr>
            </a:pPr>
            <a:r>
              <a:t>Taxonomy of fake news detection methods</a:t>
            </a:r>
          </a:p>
        </p:txBody>
      </p:sp>
      <p:sp>
        <p:nvSpPr>
          <p:cNvPr id="7" name="Rectangle 6"/>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9" name="TextBox 8"/>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Taxonomy of fake news detection methods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The landscape of fake news detection is categorized into three</a:t>
            </a:r>
          </a:p>
          <a:p>
            <a:pPr>
              <a:lnSpc>
                <a:spcPct val="135000"/>
              </a:lnSpc>
              <a:spcAft>
                <a:spcPts val="1000"/>
              </a:spcAft>
              <a:defRPr sz="1600">
                <a:solidFill>
                  <a:srgbClr val="1E293B"/>
                </a:solidFill>
                <a:latin typeface="Calibri"/>
              </a:defRPr>
            </a:pPr>
            <a:r>
              <a:rPr>
                <a:solidFill>
                  <a:srgbClr val="3B82F6"/>
                </a:solidFill>
              </a:rPr>
              <a:t>• primary tiers of complexity.</a:t>
            </a:r>
          </a:p>
          <a:p>
            <a:pPr>
              <a:lnSpc>
                <a:spcPct val="135000"/>
              </a:lnSpc>
              <a:spcAft>
                <a:spcPts val="1000"/>
              </a:spcAft>
              <a:defRPr sz="1600">
                <a:solidFill>
                  <a:srgbClr val="1E293B"/>
                </a:solidFill>
                <a:latin typeface="Calibri"/>
              </a:defRPr>
            </a:pPr>
            <a:r>
              <a:rPr>
                <a:solidFill>
                  <a:srgbClr val="3B82F6"/>
                </a:solidFill>
              </a:rPr>
              <a:t>• First, traditional machine learning methods, such as Logistic</a:t>
            </a:r>
          </a:p>
          <a:p>
            <a:pPr>
              <a:lnSpc>
                <a:spcPct val="135000"/>
              </a:lnSpc>
              <a:spcAft>
                <a:spcPts val="1000"/>
              </a:spcAft>
              <a:defRPr sz="1600">
                <a:solidFill>
                  <a:srgbClr val="1E293B"/>
                </a:solidFill>
                <a:latin typeface="Calibri"/>
              </a:defRPr>
            </a:pPr>
            <a:r>
              <a:rPr>
                <a:solidFill>
                  <a:srgbClr val="3B82F6"/>
                </a:solidFill>
              </a:rPr>
              <a:t>• Regression (LR), Support Vector Machines (SVM), and Naive Bayes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Taxonomy of fake news detection methods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(NB), rely on feature extraction techniques like TF-IDF to</a:t>
            </a:r>
          </a:p>
          <a:p>
            <a:pPr>
              <a:lnSpc>
                <a:spcPct val="135000"/>
              </a:lnSpc>
              <a:spcAft>
                <a:spcPts val="1000"/>
              </a:spcAft>
              <a:defRPr sz="1600">
                <a:solidFill>
                  <a:srgbClr val="1E293B"/>
                </a:solidFill>
                <a:latin typeface="Calibri"/>
              </a:defRPr>
            </a:pPr>
            <a:r>
              <a:rPr>
                <a:solidFill>
                  <a:srgbClr val="3B82F6"/>
                </a:solidFill>
              </a:rPr>
              <a:t>• represent text.</a:t>
            </a:r>
          </a:p>
          <a:p>
            <a:pPr>
              <a:lnSpc>
                <a:spcPct val="135000"/>
              </a:lnSpc>
              <a:spcAft>
                <a:spcPts val="1000"/>
              </a:spcAft>
              <a:defRPr sz="1600">
                <a:solidFill>
                  <a:srgbClr val="1E293B"/>
                </a:solidFill>
                <a:latin typeface="Calibri"/>
              </a:defRPr>
            </a:pPr>
            <a:r>
              <a:rPr>
                <a:solidFill>
                  <a:srgbClr val="3B82F6"/>
                </a:solidFill>
              </a:rPr>
              <a:t>• Second, deep learning architectures, including CNNs and BiLSTMs,</a:t>
            </a:r>
          </a:p>
          <a:p>
            <a:pPr>
              <a:lnSpc>
                <a:spcPct val="135000"/>
              </a:lnSpc>
              <a:spcAft>
                <a:spcPts val="1000"/>
              </a:spcAft>
              <a:defRPr sz="1600">
                <a:solidFill>
                  <a:srgbClr val="1E293B"/>
                </a:solidFill>
                <a:latin typeface="Calibri"/>
              </a:defRPr>
            </a:pPr>
            <a:r>
              <a:rPr>
                <a:solidFill>
                  <a:srgbClr val="3B82F6"/>
                </a:solidFill>
              </a:rPr>
              <a:t>• utilize Word2Vec embeddings to capture sequential patterns.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Taxonomy of fake news detection methods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Third, modern transformer-based models and Large Language Models</a:t>
            </a:r>
          </a:p>
          <a:p>
            <a:pPr>
              <a:lnSpc>
                <a:spcPct val="135000"/>
              </a:lnSpc>
              <a:spcAft>
                <a:spcPts val="1000"/>
              </a:spcAft>
              <a:defRPr sz="1600">
                <a:solidFill>
                  <a:srgbClr val="1E293B"/>
                </a:solidFill>
                <a:latin typeface="Calibri"/>
              </a:defRPr>
            </a:pPr>
            <a:r>
              <a:rPr>
                <a:solidFill>
                  <a:srgbClr val="3B82F6"/>
                </a:solidFill>
              </a:rPr>
              <a:t>• (LLMs) represent the state-of-the-art.</a:t>
            </a:r>
          </a:p>
          <a:p>
            <a:pPr>
              <a:lnSpc>
                <a:spcPct val="135000"/>
              </a:lnSpc>
              <a:spcAft>
                <a:spcPts val="1000"/>
              </a:spcAft>
              <a:defRPr sz="1600">
                <a:solidFill>
                  <a:srgbClr val="1E293B"/>
                </a:solidFill>
                <a:latin typeface="Calibri"/>
              </a:defRPr>
            </a:pPr>
            <a:r>
              <a:rPr>
                <a:solidFill>
                  <a:srgbClr val="3B82F6"/>
                </a:solidFill>
              </a:rPr>
              <a:t>• This includes BERT and DeBERTa, which leverage sophisticated</a:t>
            </a:r>
          </a:p>
          <a:p>
            <a:pPr>
              <a:lnSpc>
                <a:spcPct val="135000"/>
              </a:lnSpc>
              <a:spcAft>
                <a:spcPts val="1000"/>
              </a:spcAft>
              <a:defRPr sz="1600">
                <a:solidFill>
                  <a:srgbClr val="1E293B"/>
                </a:solidFill>
                <a:latin typeface="Calibri"/>
              </a:defRPr>
            </a:pPr>
            <a:r>
              <a:rPr>
                <a:solidFill>
                  <a:srgbClr val="3B82F6"/>
                </a:solidFill>
              </a:rPr>
              <a:t>• contextual embeddings, and generative models like Llama3-8B,</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Taxonomy of fake news detection methods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Qwen3-32B, and Zephyr-7B-beta.</a:t>
            </a:r>
          </a:p>
          <a:p>
            <a:pPr>
              <a:lnSpc>
                <a:spcPct val="135000"/>
              </a:lnSpc>
              <a:spcAft>
                <a:spcPts val="1000"/>
              </a:spcAft>
              <a:defRPr sz="1600">
                <a:solidFill>
                  <a:srgbClr val="1E293B"/>
                </a:solidFill>
                <a:latin typeface="Calibri"/>
              </a:defRPr>
            </a:pPr>
            <a:r>
              <a:rPr>
                <a:solidFill>
                  <a:srgbClr val="3B82F6"/>
                </a:solidFill>
              </a:rPr>
              <a:t>• These methods vary significantly in their architectural</a:t>
            </a:r>
          </a:p>
          <a:p>
            <a:pPr>
              <a:lnSpc>
                <a:spcPct val="135000"/>
              </a:lnSpc>
              <a:spcAft>
                <a:spcPts val="1000"/>
              </a:spcAft>
              <a:defRPr sz="1600">
                <a:solidFill>
                  <a:srgbClr val="1E293B"/>
                </a:solidFill>
                <a:latin typeface="Calibri"/>
              </a:defRPr>
            </a:pPr>
            <a:r>
              <a:rPr>
                <a:solidFill>
                  <a:srgbClr val="3B82F6"/>
                </a:solidFill>
              </a:rPr>
              <a:t>• requirements;</a:t>
            </a:r>
          </a:p>
          <a:p>
            <a:pPr>
              <a:lnSpc>
                <a:spcPct val="135000"/>
              </a:lnSpc>
              <a:spcAft>
                <a:spcPts val="1000"/>
              </a:spcAft>
              <a:defRPr sz="1600">
                <a:solidFill>
                  <a:srgbClr val="1E293B"/>
                </a:solidFill>
                <a:latin typeface="Calibri"/>
              </a:defRPr>
            </a:pPr>
            <a:r>
              <a:rPr>
                <a:solidFill>
                  <a:srgbClr val="3B82F6"/>
                </a:solidFill>
              </a:rPr>
              <a:t>• while traditional models are lightweight and rely on statistical</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Taxonomy of fake news detection methods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word frequency, transformer-based models require fine-tuning on</a:t>
            </a:r>
          </a:p>
          <a:p>
            <a:pPr>
              <a:lnSpc>
                <a:spcPct val="135000"/>
              </a:lnSpc>
              <a:spcAft>
                <a:spcPts val="1000"/>
              </a:spcAft>
              <a:defRPr sz="1600">
                <a:solidFill>
                  <a:srgbClr val="1E293B"/>
                </a:solidFill>
                <a:latin typeface="Calibri"/>
              </a:defRPr>
            </a:pPr>
            <a:r>
              <a:rPr>
                <a:solidFill>
                  <a:srgbClr val="3B82F6"/>
                </a:solidFill>
              </a:rPr>
              <a:t>• large pre-trained weights, and LLMs can be deployed in zero-shot</a:t>
            </a:r>
          </a:p>
          <a:p>
            <a:pPr>
              <a:lnSpc>
                <a:spcPct val="135000"/>
              </a:lnSpc>
              <a:spcAft>
                <a:spcPts val="1000"/>
              </a:spcAft>
              <a:defRPr sz="1600">
                <a:solidFill>
                  <a:srgbClr val="1E293B"/>
                </a:solidFill>
                <a:latin typeface="Calibri"/>
              </a:defRPr>
            </a:pPr>
            <a:r>
              <a:rPr>
                <a:solidFill>
                  <a:srgbClr val="3B82F6"/>
                </a:solidFill>
              </a:rPr>
              <a:t>• or few-shot settings without requiring weight updates.</a:t>
            </a:r>
          </a:p>
          <a:p>
            <a:pPr>
              <a:lnSpc>
                <a:spcPct val="135000"/>
              </a:lnSpc>
              <a:spcAft>
                <a:spcPts val="1000"/>
              </a:spcAft>
              <a:defRPr sz="1600">
                <a:solidFill>
                  <a:srgbClr val="1E293B"/>
                </a:solidFill>
                <a:latin typeface="Calibri"/>
              </a:defRPr>
            </a:pPr>
            <a:r>
              <a:rPr>
                <a:solidFill>
                  <a:srgbClr val="3B82F6"/>
                </a:solidFill>
              </a:rPr>
              <a:t>• Understanding this taxonomy is essential because the choice of</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Taxonomy of fake news detection methods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architecture dictates how the model interprets linguistic nuances</a:t>
            </a:r>
          </a:p>
          <a:p>
            <a:pPr>
              <a:lnSpc>
                <a:spcPct val="135000"/>
              </a:lnSpc>
              <a:spcAft>
                <a:spcPts val="1000"/>
              </a:spcAft>
              <a:defRPr sz="1600">
                <a:solidFill>
                  <a:srgbClr val="1E293B"/>
                </a:solidFill>
                <a:latin typeface="Calibri"/>
              </a:defRPr>
            </a:pPr>
            <a:r>
              <a:rPr>
                <a:solidFill>
                  <a:srgbClr val="3B82F6"/>
                </a:solidFill>
              </a:rPr>
              <a:t>• and handles the inherent noise found in social media data.</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Taxonomy of fake news detection methods</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21384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213842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study systematically benchmarks 12 representative methods, ranging from traditional algorithms like NB and SVM to advanced architectures like CNN-BERT, MERMAID, and LLMs such as Llama3-8B and Qwen3-32B, providing a comprehensive view of the detection ecosystem.</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768096"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768096" cy="292608"/>
          </a:xfrm>
          <a:prstGeom prst="rect">
            <a:avLst/>
          </a:prstGeom>
          <a:noFill/>
        </p:spPr>
        <p:txBody>
          <a:bodyPr wrap="none">
            <a:spAutoFit/>
          </a:bodyPr>
          <a:lstStyle/>
          <a:p>
            <a:pPr algn="ctr">
              <a:defRPr sz="1100" b="1">
                <a:solidFill>
                  <a:srgbClr val="FFFFFF"/>
                </a:solidFill>
                <a:latin typeface="Calibri"/>
              </a:defRPr>
            </a:pPr>
            <a:r>
              <a:t>TF-IDF</a:t>
            </a:r>
          </a:p>
        </p:txBody>
      </p:sp>
      <p:sp>
        <p:nvSpPr>
          <p:cNvPr id="9" name="TextBox 8"/>
          <p:cNvSpPr txBox="1"/>
          <p:nvPr/>
        </p:nvSpPr>
        <p:spPr>
          <a:xfrm>
            <a:off x="1453896" y="1157731"/>
            <a:ext cx="4032504" cy="1945640"/>
          </a:xfrm>
          <a:prstGeom prst="rect">
            <a:avLst/>
          </a:prstGeom>
          <a:noFill/>
        </p:spPr>
        <p:txBody>
          <a:bodyPr wrap="square">
            <a:spAutoFit/>
          </a:bodyPr>
          <a:lstStyle/>
          <a:p>
            <a:pPr>
              <a:lnSpc>
                <a:spcPct val="130000"/>
              </a:lnSpc>
              <a:defRPr sz="1400">
                <a:solidFill>
                  <a:srgbClr val="1E293B"/>
                </a:solidFill>
                <a:latin typeface="Calibri"/>
              </a:defRPr>
            </a:pPr>
            <a:r>
              <a:t>A statistical measure used to evaluate the importance of a word in a document relative to a collection of documents.</a:t>
            </a:r>
          </a:p>
        </p:txBody>
      </p:sp>
      <p:sp>
        <p:nvSpPr>
          <p:cNvPr id="10" name="Rounded Rectangle 9"/>
          <p:cNvSpPr/>
          <p:nvPr/>
        </p:nvSpPr>
        <p:spPr>
          <a:xfrm>
            <a:off x="5943600" y="1048004"/>
            <a:ext cx="5120640" cy="24051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932688"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932688" cy="292608"/>
          </a:xfrm>
          <a:prstGeom prst="rect">
            <a:avLst/>
          </a:prstGeom>
          <a:noFill/>
        </p:spPr>
        <p:txBody>
          <a:bodyPr wrap="none">
            <a:spAutoFit/>
          </a:bodyPr>
          <a:lstStyle/>
          <a:p>
            <a:pPr algn="ctr">
              <a:defRPr sz="1100" b="1">
                <a:solidFill>
                  <a:srgbClr val="FFFFFF"/>
                </a:solidFill>
                <a:latin typeface="Calibri"/>
              </a:defRPr>
            </a:pPr>
            <a:r>
              <a:t>Word2Vec</a:t>
            </a:r>
          </a:p>
        </p:txBody>
      </p:sp>
      <p:sp>
        <p:nvSpPr>
          <p:cNvPr id="13" name="TextBox 12"/>
          <p:cNvSpPr txBox="1"/>
          <p:nvPr/>
        </p:nvSpPr>
        <p:spPr>
          <a:xfrm>
            <a:off x="7013448" y="1157731"/>
            <a:ext cx="3867912" cy="2185669"/>
          </a:xfrm>
          <a:prstGeom prst="rect">
            <a:avLst/>
          </a:prstGeom>
          <a:noFill/>
        </p:spPr>
        <p:txBody>
          <a:bodyPr wrap="square">
            <a:spAutoFit/>
          </a:bodyPr>
          <a:lstStyle/>
          <a:p>
            <a:pPr>
              <a:lnSpc>
                <a:spcPct val="130000"/>
              </a:lnSpc>
              <a:defRPr sz="1400">
                <a:solidFill>
                  <a:srgbClr val="1E293B"/>
                </a:solidFill>
                <a:latin typeface="Calibri"/>
              </a:defRPr>
            </a:pPr>
            <a:r>
              <a:t>A neural network-based technique for generating word embeddings that capture semantic relationships.</a:t>
            </a:r>
          </a:p>
        </p:txBody>
      </p:sp>
      <p:sp>
        <p:nvSpPr>
          <p:cNvPr id="14" name="Rounded Rectangle 13"/>
          <p:cNvSpPr/>
          <p:nvPr/>
        </p:nvSpPr>
        <p:spPr>
          <a:xfrm>
            <a:off x="548640" y="3350260"/>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487420"/>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505708"/>
            <a:ext cx="1645920" cy="292608"/>
          </a:xfrm>
          <a:prstGeom prst="rect">
            <a:avLst/>
          </a:prstGeom>
          <a:noFill/>
        </p:spPr>
        <p:txBody>
          <a:bodyPr wrap="none">
            <a:spAutoFit/>
          </a:bodyPr>
          <a:lstStyle/>
          <a:p>
            <a:pPr algn="ctr">
              <a:defRPr sz="1100" b="1">
                <a:solidFill>
                  <a:srgbClr val="FFFFFF"/>
                </a:solidFill>
                <a:latin typeface="Calibri"/>
              </a:defRPr>
            </a:pPr>
            <a:r>
              <a:t>Transformer-based models</a:t>
            </a:r>
          </a:p>
        </p:txBody>
      </p:sp>
      <p:sp>
        <p:nvSpPr>
          <p:cNvPr id="17" name="TextBox 16"/>
          <p:cNvSpPr txBox="1"/>
          <p:nvPr/>
        </p:nvSpPr>
        <p:spPr>
          <a:xfrm>
            <a:off x="2331720" y="3459988"/>
            <a:ext cx="3154680" cy="1945640"/>
          </a:xfrm>
          <a:prstGeom prst="rect">
            <a:avLst/>
          </a:prstGeom>
          <a:noFill/>
        </p:spPr>
        <p:txBody>
          <a:bodyPr wrap="square">
            <a:spAutoFit/>
          </a:bodyPr>
          <a:lstStyle/>
          <a:p>
            <a:pPr>
              <a:lnSpc>
                <a:spcPct val="130000"/>
              </a:lnSpc>
              <a:defRPr sz="1400">
                <a:solidFill>
                  <a:srgbClr val="1E293B"/>
                </a:solidFill>
                <a:latin typeface="Calibri"/>
              </a:defRPr>
            </a:pPr>
            <a:r>
              <a:t>Deep learning architectures that use self-attention mechanisms to process sequential data, such as BERT and DeBERTa.</a:t>
            </a:r>
          </a:p>
        </p:txBody>
      </p:sp>
      <p:sp>
        <p:nvSpPr>
          <p:cNvPr id="18" name="Rounded Rectangle 17"/>
          <p:cNvSpPr/>
          <p:nvPr/>
        </p:nvSpPr>
        <p:spPr>
          <a:xfrm>
            <a:off x="594360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265677"/>
            <a:ext cx="1645920" cy="292608"/>
          </a:xfrm>
          <a:prstGeom prst="rect">
            <a:avLst/>
          </a:prstGeom>
          <a:noFill/>
        </p:spPr>
        <p:txBody>
          <a:bodyPr wrap="none">
            <a:spAutoFit/>
          </a:bodyPr>
          <a:lstStyle/>
          <a:p>
            <a:pPr algn="ctr">
              <a:defRPr sz="1100" b="1">
                <a:solidFill>
                  <a:srgbClr val="FFFFFF"/>
                </a:solidFill>
                <a:latin typeface="Calibri"/>
              </a:defRPr>
            </a:pPr>
            <a:r>
              <a:t>Zero-shot setting</a:t>
            </a:r>
          </a:p>
        </p:txBody>
      </p:sp>
      <p:sp>
        <p:nvSpPr>
          <p:cNvPr id="21" name="TextBox 20"/>
          <p:cNvSpPr txBox="1"/>
          <p:nvPr/>
        </p:nvSpPr>
        <p:spPr>
          <a:xfrm>
            <a:off x="772668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A scenario where a model makes predictions on classes or tasks it has never seen during training.</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645920" cy="292608"/>
          </a:xfrm>
          <a:prstGeom prst="rect">
            <a:avLst/>
          </a:prstGeom>
          <a:noFill/>
        </p:spPr>
        <p:txBody>
          <a:bodyPr wrap="none">
            <a:spAutoFit/>
          </a:bodyPr>
          <a:lstStyle/>
          <a:p>
            <a:pPr algn="ctr">
              <a:defRPr sz="1100" b="1">
                <a:solidFill>
                  <a:srgbClr val="FFFFFF"/>
                </a:solidFill>
                <a:latin typeface="Calibri"/>
              </a:defRPr>
            </a:pPr>
            <a:r>
              <a:t>Few-shot prompting</a:t>
            </a:r>
          </a:p>
        </p:txBody>
      </p:sp>
      <p:sp>
        <p:nvSpPr>
          <p:cNvPr id="9" name="TextBox 8"/>
          <p:cNvSpPr txBox="1"/>
          <p:nvPr/>
        </p:nvSpPr>
        <p:spPr>
          <a:xfrm>
            <a:off x="2331720" y="1157731"/>
            <a:ext cx="3154680" cy="1705610"/>
          </a:xfrm>
          <a:prstGeom prst="rect">
            <a:avLst/>
          </a:prstGeom>
          <a:noFill/>
        </p:spPr>
        <p:txBody>
          <a:bodyPr wrap="square">
            <a:spAutoFit/>
          </a:bodyPr>
          <a:lstStyle/>
          <a:p>
            <a:pPr>
              <a:lnSpc>
                <a:spcPct val="130000"/>
              </a:lnSpc>
              <a:defRPr sz="1400">
                <a:solidFill>
                  <a:srgbClr val="1E293B"/>
                </a:solidFill>
                <a:latin typeface="Calibri"/>
              </a:defRPr>
            </a:pPr>
            <a:r>
              <a:t>Providing a language model with a small number of examples to guide its predictions on new tasks.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1478280"/>
          </a:xfrm>
          <a:prstGeom prst="rect">
            <a:avLst/>
          </a:prstGeom>
          <a:noFill/>
        </p:spPr>
        <p:txBody>
          <a:bodyPr wrap="square">
            <a:spAutoFit/>
          </a:bodyPr>
          <a:lstStyle/>
          <a:p>
            <a:pPr>
              <a:defRPr sz="4400" b="1">
                <a:solidFill>
                  <a:srgbClr val="1E293B"/>
                </a:solidFill>
                <a:latin typeface="Calibri"/>
              </a:defRPr>
            </a:pPr>
            <a:r>
              <a:t>The domain shift problem in social media</a:t>
            </a:r>
          </a:p>
        </p:txBody>
      </p:sp>
      <p:sp>
        <p:nvSpPr>
          <p:cNvPr id="7" name="Rectangle 6"/>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9" name="TextBox 8"/>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The domain shift problem in social media</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The domain shift problem refers to the critical failure of</a:t>
            </a:r>
          </a:p>
          <a:p>
            <a:pPr>
              <a:lnSpc>
                <a:spcPct val="135000"/>
              </a:lnSpc>
              <a:spcAft>
                <a:spcPts val="1000"/>
              </a:spcAft>
              <a:defRPr sz="1600">
                <a:solidFill>
                  <a:srgbClr val="1E293B"/>
                </a:solidFill>
                <a:latin typeface="Calibri"/>
              </a:defRPr>
            </a:pPr>
            <a:r>
              <a:rPr>
                <a:solidFill>
                  <a:srgbClr val="3B82F6"/>
                </a:solidFill>
              </a:rPr>
              <a:t>• detection models to maintain performance when moving from one</a:t>
            </a:r>
          </a:p>
          <a:p>
            <a:pPr>
              <a:lnSpc>
                <a:spcPct val="135000"/>
              </a:lnSpc>
              <a:spcAft>
                <a:spcPts val="1000"/>
              </a:spcAft>
              <a:defRPr sz="1600">
                <a:solidFill>
                  <a:srgbClr val="1E293B"/>
                </a:solidFill>
                <a:latin typeface="Calibri"/>
              </a:defRPr>
            </a:pPr>
            <a:r>
              <a:rPr>
                <a:solidFill>
                  <a:srgbClr val="3B82F6"/>
                </a:solidFill>
              </a:rPr>
              <a:t>• dataset to another.</a:t>
            </a:r>
          </a:p>
          <a:p>
            <a:pPr>
              <a:lnSpc>
                <a:spcPct val="135000"/>
              </a:lnSpc>
              <a:spcAft>
                <a:spcPts val="1000"/>
              </a:spcAft>
              <a:defRPr sz="1600">
                <a:solidFill>
                  <a:srgbClr val="1E293B"/>
                </a:solidFill>
                <a:latin typeface="Calibri"/>
              </a:defRPr>
            </a:pPr>
            <a:r>
              <a:rPr>
                <a:solidFill>
                  <a:srgbClr val="3B82F6"/>
                </a:solidFill>
              </a:rPr>
              <a:t>• In social media, fact-checking and labeling policies are highly</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The domain shift problem in social media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heterogeneous;</a:t>
            </a:r>
          </a:p>
          <a:p>
            <a:pPr>
              <a:lnSpc>
                <a:spcPct val="135000"/>
              </a:lnSpc>
              <a:spcAft>
                <a:spcPts val="1000"/>
              </a:spcAft>
              <a:defRPr sz="1600">
                <a:solidFill>
                  <a:srgbClr val="1E293B"/>
                </a:solidFill>
                <a:latin typeface="Calibri"/>
              </a:defRPr>
            </a:pPr>
            <a:r>
              <a:rPr>
                <a:solidFill>
                  <a:srgbClr val="3B82F6"/>
                </a:solidFill>
              </a:rPr>
              <a:t>• a model trained on political news may fail when applied to</a:t>
            </a:r>
          </a:p>
          <a:p>
            <a:pPr>
              <a:lnSpc>
                <a:spcPct val="135000"/>
              </a:lnSpc>
              <a:spcAft>
                <a:spcPts val="1000"/>
              </a:spcAft>
              <a:defRPr sz="1600">
                <a:solidFill>
                  <a:srgbClr val="1E293B"/>
                </a:solidFill>
                <a:latin typeface="Calibri"/>
              </a:defRPr>
            </a:pPr>
            <a:r>
              <a:rPr>
                <a:solidFill>
                  <a:srgbClr val="3B82F6"/>
                </a:solidFill>
              </a:rPr>
              <a:t>• health-related misinformation due to differences in vocabulary,</a:t>
            </a:r>
          </a:p>
          <a:p>
            <a:pPr>
              <a:lnSpc>
                <a:spcPct val="135000"/>
              </a:lnSpc>
              <a:spcAft>
                <a:spcPts val="1000"/>
              </a:spcAft>
              <a:defRPr sz="1600">
                <a:solidFill>
                  <a:srgbClr val="1E293B"/>
                </a:solidFill>
                <a:latin typeface="Calibri"/>
              </a:defRPr>
            </a:pPr>
            <a:r>
              <a:rPr>
                <a:solidFill>
                  <a:srgbClr val="3B82F6"/>
                </a:solidFill>
              </a:rPr>
              <a:t>• tone, and the underlying criteria for what constitutes 'fake'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The domain shift problem in social media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news.</a:t>
            </a:r>
          </a:p>
          <a:p>
            <a:pPr>
              <a:lnSpc>
                <a:spcPct val="135000"/>
              </a:lnSpc>
              <a:spcAft>
                <a:spcPts val="1000"/>
              </a:spcAft>
              <a:defRPr sz="1600">
                <a:solidFill>
                  <a:srgbClr val="1E293B"/>
                </a:solidFill>
                <a:latin typeface="Calibri"/>
              </a:defRPr>
            </a:pPr>
            <a:r>
              <a:rPr>
                <a:solidFill>
                  <a:srgbClr val="3B82F6"/>
                </a:solidFill>
              </a:rPr>
              <a:t>• This lack of cross-domain generalization is a primary obstacle in</a:t>
            </a:r>
          </a:p>
          <a:p>
            <a:pPr>
              <a:lnSpc>
                <a:spcPct val="135000"/>
              </a:lnSpc>
              <a:spcAft>
                <a:spcPts val="1000"/>
              </a:spcAft>
              <a:defRPr sz="1600">
                <a:solidFill>
                  <a:srgbClr val="1E293B"/>
                </a:solidFill>
                <a:latin typeface="Calibri"/>
              </a:defRPr>
            </a:pPr>
            <a:r>
              <a:rPr>
                <a:solidFill>
                  <a:srgbClr val="3B82F6"/>
                </a:solidFill>
              </a:rPr>
              <a:t>• real-world deployment.</a:t>
            </a:r>
          </a:p>
          <a:p>
            <a:pPr>
              <a:lnSpc>
                <a:spcPct val="135000"/>
              </a:lnSpc>
              <a:spcAft>
                <a:spcPts val="1000"/>
              </a:spcAft>
              <a:defRPr sz="1600">
                <a:solidFill>
                  <a:srgbClr val="1E293B"/>
                </a:solidFill>
                <a:latin typeface="Calibri"/>
              </a:defRPr>
            </a:pPr>
            <a:r>
              <a:rPr>
                <a:solidFill>
                  <a:srgbClr val="3B82F6"/>
                </a:solidFill>
              </a:rPr>
              <a:t>• Because social media platforms lack centralized control and</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The domain shift problem in social media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consistent fact-checking mechanisms, models often overfit to the</a:t>
            </a:r>
          </a:p>
          <a:p>
            <a:pPr>
              <a:lnSpc>
                <a:spcPct val="135000"/>
              </a:lnSpc>
              <a:spcAft>
                <a:spcPts val="1000"/>
              </a:spcAft>
              <a:defRPr sz="1600">
                <a:solidFill>
                  <a:srgbClr val="1E293B"/>
                </a:solidFill>
                <a:latin typeface="Calibri"/>
              </a:defRPr>
            </a:pPr>
            <a:r>
              <a:rPr>
                <a:solidFill>
                  <a:srgbClr val="3B82F6"/>
                </a:solidFill>
              </a:rPr>
              <a:t>• specific biases or labeling styles of their training data.</a:t>
            </a:r>
          </a:p>
          <a:p>
            <a:pPr>
              <a:lnSpc>
                <a:spcPct val="135000"/>
              </a:lnSpc>
              <a:spcAft>
                <a:spcPts val="1000"/>
              </a:spcAft>
              <a:defRPr sz="1600">
                <a:solidFill>
                  <a:srgbClr val="1E293B"/>
                </a:solidFill>
                <a:latin typeface="Calibri"/>
              </a:defRPr>
            </a:pPr>
            <a:r>
              <a:rPr>
                <a:solidFill>
                  <a:srgbClr val="3B82F6"/>
                </a:solidFill>
              </a:rPr>
              <a:t>• When these models encounter new, unseen domains, their predictive</a:t>
            </a:r>
          </a:p>
          <a:p>
            <a:pPr>
              <a:lnSpc>
                <a:spcPct val="135000"/>
              </a:lnSpc>
              <a:spcAft>
                <a:spcPts val="1000"/>
              </a:spcAft>
              <a:defRPr sz="1600">
                <a:solidFill>
                  <a:srgbClr val="1E293B"/>
                </a:solidFill>
                <a:latin typeface="Calibri"/>
              </a:defRPr>
            </a:pPr>
            <a:r>
              <a:rPr>
                <a:solidFill>
                  <a:srgbClr val="3B82F6"/>
                </a:solidFill>
              </a:rPr>
              <a:t>• accuracy drops significantly.</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The domain shift problem in social media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The study addresses this by testing models across 10</a:t>
            </a:r>
          </a:p>
          <a:p>
            <a:pPr>
              <a:lnSpc>
                <a:spcPct val="135000"/>
              </a:lnSpc>
              <a:spcAft>
                <a:spcPts val="1000"/>
              </a:spcAft>
              <a:defRPr sz="1600">
                <a:solidFill>
                  <a:srgbClr val="1E293B"/>
                </a:solidFill>
                <a:latin typeface="Calibri"/>
              </a:defRPr>
            </a:pPr>
            <a:r>
              <a:rPr>
                <a:solidFill>
                  <a:srgbClr val="3B82F6"/>
                </a:solidFill>
              </a:rPr>
              <a:t>• heterogeneous datasets, simulating real-world scenarios where the</a:t>
            </a:r>
          </a:p>
          <a:p>
            <a:pPr>
              <a:lnSpc>
                <a:spcPct val="135000"/>
              </a:lnSpc>
              <a:spcAft>
                <a:spcPts val="1000"/>
              </a:spcAft>
              <a:defRPr sz="1600">
                <a:solidFill>
                  <a:srgbClr val="1E293B"/>
                </a:solidFill>
                <a:latin typeface="Calibri"/>
              </a:defRPr>
            </a:pPr>
            <a:r>
              <a:rPr>
                <a:solidFill>
                  <a:srgbClr val="3B82F6"/>
                </a:solidFill>
              </a:rPr>
              <a:t>• distribution of data is constantly changing, thereby highlighting</a:t>
            </a:r>
          </a:p>
          <a:p>
            <a:pPr>
              <a:lnSpc>
                <a:spcPct val="135000"/>
              </a:lnSpc>
              <a:spcAft>
                <a:spcPts val="1000"/>
              </a:spcAft>
              <a:defRPr sz="1600">
                <a:solidFill>
                  <a:srgbClr val="1E293B"/>
                </a:solidFill>
                <a:latin typeface="Calibri"/>
              </a:defRPr>
            </a:pPr>
            <a:r>
              <a:rPr>
                <a:solidFill>
                  <a:srgbClr val="3B82F6"/>
                </a:solidFill>
              </a:rPr>
              <a:t>• the fragility of standard approaches that lack robust</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The domain shift problem in social media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generalization capabilities.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The domain shift problem in social media</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21384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213842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research identifies a critical failure in generalization for most standard approaches, noting that while fine-tuned models perform well in-domain, they struggle significantly when evaluated in cross-domain settings, necessitating the exploration of more robust architectures.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261872"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261872" cy="292608"/>
          </a:xfrm>
          <a:prstGeom prst="rect">
            <a:avLst/>
          </a:prstGeom>
          <a:noFill/>
        </p:spPr>
        <p:txBody>
          <a:bodyPr wrap="none">
            <a:spAutoFit/>
          </a:bodyPr>
          <a:lstStyle/>
          <a:p>
            <a:pPr algn="ctr">
              <a:defRPr sz="1100" b="1">
                <a:solidFill>
                  <a:srgbClr val="FFFFFF"/>
                </a:solidFill>
                <a:latin typeface="Calibri"/>
              </a:defRPr>
            </a:pPr>
            <a:r>
              <a:t>Domain shift</a:t>
            </a:r>
          </a:p>
        </p:txBody>
      </p:sp>
      <p:sp>
        <p:nvSpPr>
          <p:cNvPr id="9" name="TextBox 8"/>
          <p:cNvSpPr txBox="1"/>
          <p:nvPr/>
        </p:nvSpPr>
        <p:spPr>
          <a:xfrm>
            <a:off x="1947672" y="1157731"/>
            <a:ext cx="3538728" cy="1945640"/>
          </a:xfrm>
          <a:prstGeom prst="rect">
            <a:avLst/>
          </a:prstGeom>
          <a:noFill/>
        </p:spPr>
        <p:txBody>
          <a:bodyPr wrap="square">
            <a:spAutoFit/>
          </a:bodyPr>
          <a:lstStyle/>
          <a:p>
            <a:pPr>
              <a:lnSpc>
                <a:spcPct val="130000"/>
              </a:lnSpc>
              <a:defRPr sz="1400">
                <a:solidFill>
                  <a:srgbClr val="1E293B"/>
                </a:solidFill>
                <a:latin typeface="Calibri"/>
              </a:defRPr>
            </a:pPr>
            <a:r>
              <a:t>The degradation in model performance when applied to data from a different distribution than the training data.</a:t>
            </a:r>
          </a:p>
        </p:txBody>
      </p:sp>
      <p:sp>
        <p:nvSpPr>
          <p:cNvPr id="10" name="Rounded Rectangle 9"/>
          <p:cNvSpPr/>
          <p:nvPr/>
        </p:nvSpPr>
        <p:spPr>
          <a:xfrm>
            <a:off x="594360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645920" cy="292608"/>
          </a:xfrm>
          <a:prstGeom prst="rect">
            <a:avLst/>
          </a:prstGeom>
          <a:noFill/>
        </p:spPr>
        <p:txBody>
          <a:bodyPr wrap="none">
            <a:spAutoFit/>
          </a:bodyPr>
          <a:lstStyle/>
          <a:p>
            <a:pPr algn="ctr">
              <a:defRPr sz="1100" b="1">
                <a:solidFill>
                  <a:srgbClr val="FFFFFF"/>
                </a:solidFill>
                <a:latin typeface="Calibri"/>
              </a:defRPr>
            </a:pPr>
            <a:r>
              <a:t>Cross-domain generalization</a:t>
            </a:r>
          </a:p>
        </p:txBody>
      </p:sp>
      <p:sp>
        <p:nvSpPr>
          <p:cNvPr id="13" name="TextBox 12"/>
          <p:cNvSpPr txBox="1"/>
          <p:nvPr/>
        </p:nvSpPr>
        <p:spPr>
          <a:xfrm>
            <a:off x="7726680" y="1157731"/>
            <a:ext cx="3154680" cy="1945640"/>
          </a:xfrm>
          <a:prstGeom prst="rect">
            <a:avLst/>
          </a:prstGeom>
          <a:noFill/>
        </p:spPr>
        <p:txBody>
          <a:bodyPr wrap="square">
            <a:spAutoFit/>
          </a:bodyPr>
          <a:lstStyle/>
          <a:p>
            <a:pPr>
              <a:lnSpc>
                <a:spcPct val="130000"/>
              </a:lnSpc>
              <a:defRPr sz="1400">
                <a:solidFill>
                  <a:srgbClr val="1E293B"/>
                </a:solidFill>
                <a:latin typeface="Calibri"/>
              </a:defRPr>
            </a:pPr>
            <a:r>
              <a:t>The ability of a model to perform well on datasets from different domains than those it was trained on.</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645920" cy="292608"/>
          </a:xfrm>
          <a:prstGeom prst="rect">
            <a:avLst/>
          </a:prstGeom>
          <a:noFill/>
        </p:spPr>
        <p:txBody>
          <a:bodyPr wrap="none">
            <a:spAutoFit/>
          </a:bodyPr>
          <a:lstStyle/>
          <a:p>
            <a:pPr algn="ctr">
              <a:defRPr sz="1100" b="1">
                <a:solidFill>
                  <a:srgbClr val="FFFFFF"/>
                </a:solidFill>
                <a:latin typeface="Calibri"/>
              </a:defRPr>
            </a:pPr>
            <a:r>
              <a:t>Heterogeneous datasets</a:t>
            </a:r>
          </a:p>
        </p:txBody>
      </p:sp>
      <p:sp>
        <p:nvSpPr>
          <p:cNvPr id="17" name="TextBox 16"/>
          <p:cNvSpPr txBox="1"/>
          <p:nvPr/>
        </p:nvSpPr>
        <p:spPr>
          <a:xfrm>
            <a:off x="233172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Collections of data that vary significantly in source, format, or labeling criteria.</a:t>
            </a:r>
          </a:p>
        </p:txBody>
      </p:sp>
      <p:sp>
        <p:nvSpPr>
          <p:cNvPr id="18" name="Rounded Rectangle 17"/>
          <p:cNvSpPr/>
          <p:nvPr/>
        </p:nvSpPr>
        <p:spPr>
          <a:xfrm>
            <a:off x="5943600" y="3350260"/>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487420"/>
            <a:ext cx="1179576"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505708"/>
            <a:ext cx="1179576" cy="292608"/>
          </a:xfrm>
          <a:prstGeom prst="rect">
            <a:avLst/>
          </a:prstGeom>
          <a:noFill/>
        </p:spPr>
        <p:txBody>
          <a:bodyPr wrap="none">
            <a:spAutoFit/>
          </a:bodyPr>
          <a:lstStyle/>
          <a:p>
            <a:pPr algn="ctr">
              <a:defRPr sz="1100" b="1">
                <a:solidFill>
                  <a:srgbClr val="FFFFFF"/>
                </a:solidFill>
                <a:latin typeface="Calibri"/>
              </a:defRPr>
            </a:pPr>
            <a:r>
              <a:t>Overfitting</a:t>
            </a:r>
          </a:p>
        </p:txBody>
      </p:sp>
      <p:sp>
        <p:nvSpPr>
          <p:cNvPr id="21" name="TextBox 20"/>
          <p:cNvSpPr txBox="1"/>
          <p:nvPr/>
        </p:nvSpPr>
        <p:spPr>
          <a:xfrm>
            <a:off x="7260336" y="3459988"/>
            <a:ext cx="3621024" cy="1945640"/>
          </a:xfrm>
          <a:prstGeom prst="rect">
            <a:avLst/>
          </a:prstGeom>
          <a:noFill/>
        </p:spPr>
        <p:txBody>
          <a:bodyPr wrap="square">
            <a:spAutoFit/>
          </a:bodyPr>
          <a:lstStyle/>
          <a:p>
            <a:pPr>
              <a:lnSpc>
                <a:spcPct val="130000"/>
              </a:lnSpc>
              <a:defRPr sz="1400">
                <a:solidFill>
                  <a:srgbClr val="1E293B"/>
                </a:solidFill>
                <a:latin typeface="Calibri"/>
              </a:defRPr>
            </a:pPr>
            <a:r>
              <a:t>When a model learns the training data too well, including its noise and biases, reducing performance on new data.</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645920" cy="292608"/>
          </a:xfrm>
          <a:prstGeom prst="rect">
            <a:avLst/>
          </a:prstGeom>
          <a:noFill/>
        </p:spPr>
        <p:txBody>
          <a:bodyPr wrap="none">
            <a:spAutoFit/>
          </a:bodyPr>
          <a:lstStyle/>
          <a:p>
            <a:pPr algn="ctr">
              <a:defRPr sz="1100" b="1">
                <a:solidFill>
                  <a:srgbClr val="FFFFFF"/>
                </a:solidFill>
                <a:latin typeface="Calibri"/>
              </a:defRPr>
            </a:pPr>
            <a:r>
              <a:t>Labeling policies</a:t>
            </a:r>
          </a:p>
        </p:txBody>
      </p:sp>
      <p:sp>
        <p:nvSpPr>
          <p:cNvPr id="9" name="TextBox 8"/>
          <p:cNvSpPr txBox="1"/>
          <p:nvPr/>
        </p:nvSpPr>
        <p:spPr>
          <a:xfrm>
            <a:off x="2331720" y="1157731"/>
            <a:ext cx="3154680" cy="1945640"/>
          </a:xfrm>
          <a:prstGeom prst="rect">
            <a:avLst/>
          </a:prstGeom>
          <a:noFill/>
        </p:spPr>
        <p:txBody>
          <a:bodyPr wrap="square">
            <a:spAutoFit/>
          </a:bodyPr>
          <a:lstStyle/>
          <a:p>
            <a:pPr>
              <a:lnSpc>
                <a:spcPct val="130000"/>
              </a:lnSpc>
              <a:defRPr sz="1400">
                <a:solidFill>
                  <a:srgbClr val="1E293B"/>
                </a:solidFill>
                <a:latin typeface="Calibri"/>
              </a:defRPr>
            </a:pPr>
            <a:r>
              <a:t>The rules and criteria used by different platforms or organizations to classify content as fake or real.</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2148840"/>
          </a:xfrm>
          <a:prstGeom prst="rect">
            <a:avLst/>
          </a:prstGeom>
          <a:noFill/>
        </p:spPr>
        <p:txBody>
          <a:bodyPr wrap="square">
            <a:spAutoFit/>
          </a:bodyPr>
          <a:lstStyle/>
          <a:p>
            <a:pPr>
              <a:defRPr sz="4400" b="1">
                <a:solidFill>
                  <a:srgbClr val="1E293B"/>
                </a:solidFill>
                <a:latin typeface="Calibri"/>
              </a:defRPr>
            </a:pPr>
            <a:r>
              <a:t>Benchmarking performance: F1-score, precision, and recall</a:t>
            </a:r>
          </a:p>
        </p:txBody>
      </p:sp>
      <p:sp>
        <p:nvSpPr>
          <p:cNvPr id="7" name="Rectangle 6"/>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9" name="TextBox 8"/>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Benchmarking performance: F1-score, precision, and recall</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To rigorously evaluate the 12 detection methods, the study</a:t>
            </a:r>
          </a:p>
          <a:p>
            <a:pPr>
              <a:lnSpc>
                <a:spcPct val="135000"/>
              </a:lnSpc>
              <a:spcAft>
                <a:spcPts val="1000"/>
              </a:spcAft>
              <a:defRPr sz="1600">
                <a:solidFill>
                  <a:srgbClr val="1E293B"/>
                </a:solidFill>
                <a:latin typeface="Calibri"/>
              </a:defRPr>
            </a:pPr>
            <a:r>
              <a:rPr>
                <a:solidFill>
                  <a:srgbClr val="3B82F6"/>
                </a:solidFill>
              </a:rPr>
              <a:t>• employs a suite of statistical metrics, primarily focusing on</a:t>
            </a:r>
          </a:p>
          <a:p>
            <a:pPr>
              <a:lnSpc>
                <a:spcPct val="135000"/>
              </a:lnSpc>
              <a:spcAft>
                <a:spcPts val="1000"/>
              </a:spcAft>
              <a:defRPr sz="1600">
                <a:solidFill>
                  <a:srgbClr val="1E293B"/>
                </a:solidFill>
                <a:latin typeface="Calibri"/>
              </a:defRPr>
            </a:pPr>
            <a:r>
              <a:rPr>
                <a:solidFill>
                  <a:srgbClr val="3B82F6"/>
                </a:solidFill>
              </a:rPr>
              <a:t>• F1-score, precision, and recall.</a:t>
            </a:r>
          </a:p>
          <a:p>
            <a:pPr>
              <a:lnSpc>
                <a:spcPct val="135000"/>
              </a:lnSpc>
              <a:spcAft>
                <a:spcPts val="1000"/>
              </a:spcAft>
              <a:defRPr sz="1600">
                <a:solidFill>
                  <a:srgbClr val="1E293B"/>
                </a:solidFill>
                <a:latin typeface="Calibri"/>
              </a:defRPr>
            </a:pPr>
            <a:r>
              <a:rPr>
                <a:solidFill>
                  <a:srgbClr val="3B82F6"/>
                </a:solidFill>
              </a:rPr>
              <a:t>• Precision measures the accuracy of positive predictions, ensuring</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Benchmarking performance: F1-score, precision, and recall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that the model does not flag legitimate news as fake, while</a:t>
            </a:r>
          </a:p>
          <a:p>
            <a:pPr>
              <a:lnSpc>
                <a:spcPct val="135000"/>
              </a:lnSpc>
              <a:spcAft>
                <a:spcPts val="1000"/>
              </a:spcAft>
              <a:defRPr sz="1600">
                <a:solidFill>
                  <a:srgbClr val="1E293B"/>
                </a:solidFill>
                <a:latin typeface="Calibri"/>
              </a:defRPr>
            </a:pPr>
            <a:r>
              <a:rPr>
                <a:solidFill>
                  <a:srgbClr val="3B82F6"/>
                </a:solidFill>
              </a:rPr>
              <a:t>• recall assesses the model's ability to identify all instances of</a:t>
            </a:r>
          </a:p>
          <a:p>
            <a:pPr>
              <a:lnSpc>
                <a:spcPct val="135000"/>
              </a:lnSpc>
              <a:spcAft>
                <a:spcPts val="1000"/>
              </a:spcAft>
              <a:defRPr sz="1600">
                <a:solidFill>
                  <a:srgbClr val="1E293B"/>
                </a:solidFill>
                <a:latin typeface="Calibri"/>
              </a:defRPr>
            </a:pPr>
            <a:r>
              <a:rPr>
                <a:solidFill>
                  <a:srgbClr val="3B82F6"/>
                </a:solidFill>
              </a:rPr>
              <a:t>• fake news within a dataset.</a:t>
            </a:r>
          </a:p>
          <a:p>
            <a:pPr>
              <a:lnSpc>
                <a:spcPct val="135000"/>
              </a:lnSpc>
              <a:spcAft>
                <a:spcPts val="1000"/>
              </a:spcAft>
              <a:defRPr sz="1600">
                <a:solidFill>
                  <a:srgbClr val="1E293B"/>
                </a:solidFill>
                <a:latin typeface="Calibri"/>
              </a:defRPr>
            </a:pPr>
            <a:r>
              <a:rPr>
                <a:solidFill>
                  <a:srgbClr val="3B82F6"/>
                </a:solidFill>
              </a:rPr>
              <a:t>• The F1-score provides a harmonic mean of these two, offering a</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Benchmarking performance: F1-score, precision, and recall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balanced view of performance, which is crucial given the</a:t>
            </a:r>
          </a:p>
          <a:p>
            <a:pPr>
              <a:lnSpc>
                <a:spcPct val="135000"/>
              </a:lnSpc>
              <a:spcAft>
                <a:spcPts val="1000"/>
              </a:spcAft>
              <a:defRPr sz="1600">
                <a:solidFill>
                  <a:srgbClr val="1E293B"/>
                </a:solidFill>
                <a:latin typeface="Calibri"/>
              </a:defRPr>
            </a:pPr>
            <a:r>
              <a:rPr>
                <a:solidFill>
                  <a:srgbClr val="3B82F6"/>
                </a:solidFill>
              </a:rPr>
              <a:t>• potential for class imbalance in social media datasets.</a:t>
            </a:r>
          </a:p>
          <a:p>
            <a:pPr>
              <a:lnSpc>
                <a:spcPct val="135000"/>
              </a:lnSpc>
              <a:spcAft>
                <a:spcPts val="1000"/>
              </a:spcAft>
              <a:defRPr sz="1600">
                <a:solidFill>
                  <a:srgbClr val="1E293B"/>
                </a:solidFill>
                <a:latin typeface="Calibri"/>
              </a:defRPr>
            </a:pPr>
            <a:r>
              <a:rPr>
                <a:solidFill>
                  <a:srgbClr val="3B82F6"/>
                </a:solidFill>
              </a:rPr>
              <a:t>• Beyond these core metrics, the study utilizes advanced</a:t>
            </a:r>
          </a:p>
          <a:p>
            <a:pPr>
              <a:lnSpc>
                <a:spcPct val="135000"/>
              </a:lnSpc>
              <a:spcAft>
                <a:spcPts val="1000"/>
              </a:spcAft>
              <a:defRPr sz="1600">
                <a:solidFill>
                  <a:srgbClr val="1E293B"/>
                </a:solidFill>
                <a:latin typeface="Calibri"/>
              </a:defRPr>
            </a:pPr>
            <a:r>
              <a:rPr>
                <a:solidFill>
                  <a:srgbClr val="3B82F6"/>
                </a:solidFill>
              </a:rPr>
              <a:t>• statistical validation, including the Friedman test and the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Benchmarking performance: F1-score, precision, and recall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post-hoc Nemenyi test, to confirm that observed performance</a:t>
            </a:r>
          </a:p>
          <a:p>
            <a:pPr>
              <a:lnSpc>
                <a:spcPct val="135000"/>
              </a:lnSpc>
              <a:spcAft>
                <a:spcPts val="1000"/>
              </a:spcAft>
              <a:defRPr sz="1600">
                <a:solidFill>
                  <a:srgbClr val="1E293B"/>
                </a:solidFill>
                <a:latin typeface="Calibri"/>
              </a:defRPr>
            </a:pPr>
            <a:r>
              <a:rPr>
                <a:solidFill>
                  <a:srgbClr val="3B82F6"/>
                </a:solidFill>
              </a:rPr>
              <a:t>• differences are statistically significant rather than due to</a:t>
            </a:r>
          </a:p>
          <a:p>
            <a:pPr>
              <a:lnSpc>
                <a:spcPct val="135000"/>
              </a:lnSpc>
              <a:spcAft>
                <a:spcPts val="1000"/>
              </a:spcAft>
              <a:defRPr sz="1600">
                <a:solidFill>
                  <a:srgbClr val="1E293B"/>
                </a:solidFill>
                <a:latin typeface="Calibri"/>
              </a:defRPr>
            </a:pPr>
            <a:r>
              <a:rPr>
                <a:solidFill>
                  <a:srgbClr val="3B82F6"/>
                </a:solidFill>
              </a:rPr>
              <a:t>• random chance.</a:t>
            </a:r>
          </a:p>
          <a:p>
            <a:pPr>
              <a:lnSpc>
                <a:spcPct val="135000"/>
              </a:lnSpc>
              <a:spcAft>
                <a:spcPts val="1000"/>
              </a:spcAft>
              <a:defRPr sz="1600">
                <a:solidFill>
                  <a:srgbClr val="1E293B"/>
                </a:solidFill>
                <a:latin typeface="Calibri"/>
              </a:defRPr>
            </a:pPr>
            <a:r>
              <a:rPr>
                <a:solidFill>
                  <a:srgbClr val="3B82F6"/>
                </a:solidFill>
              </a:rPr>
              <a:t>• This systematic benchmarking ensures that the evaluation is not</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Benchmarking performance: F1-score, precision, and recall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merely anecdotal but grounded in robust statistical evidence,</a:t>
            </a:r>
          </a:p>
          <a:p>
            <a:pPr>
              <a:lnSpc>
                <a:spcPct val="135000"/>
              </a:lnSpc>
              <a:spcAft>
                <a:spcPts val="1000"/>
              </a:spcAft>
              <a:defRPr sz="1600">
                <a:solidFill>
                  <a:srgbClr val="1E293B"/>
                </a:solidFill>
                <a:latin typeface="Calibri"/>
              </a:defRPr>
            </a:pPr>
            <a:r>
              <a:rPr>
                <a:solidFill>
                  <a:srgbClr val="3B82F6"/>
                </a:solidFill>
              </a:rPr>
              <a:t>• allowing for a fair comparison between vastly different model</a:t>
            </a:r>
          </a:p>
          <a:p>
            <a:pPr>
              <a:lnSpc>
                <a:spcPct val="135000"/>
              </a:lnSpc>
              <a:spcAft>
                <a:spcPts val="1000"/>
              </a:spcAft>
              <a:defRPr sz="1600">
                <a:solidFill>
                  <a:srgbClr val="1E293B"/>
                </a:solidFill>
                <a:latin typeface="Calibri"/>
              </a:defRPr>
            </a:pPr>
            <a:r>
              <a:rPr>
                <a:solidFill>
                  <a:srgbClr val="3B82F6"/>
                </a:solidFill>
              </a:rPr>
              <a:t>• architectures.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Benchmarking performance: F1-score, precision, and recall</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186410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186410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Statistical significance of model performance differences was confirmed via the Friedman Test (p &lt; 0.05), followed by the post-hoc Nemenyi test, ensuring that the reported improvements in F1-score, precision, and recall are scientifically valid.</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932688"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932688" cy="292608"/>
          </a:xfrm>
          <a:prstGeom prst="rect">
            <a:avLst/>
          </a:prstGeom>
          <a:noFill/>
        </p:spPr>
        <p:txBody>
          <a:bodyPr wrap="none">
            <a:spAutoFit/>
          </a:bodyPr>
          <a:lstStyle/>
          <a:p>
            <a:pPr algn="ctr">
              <a:defRPr sz="1100" b="1">
                <a:solidFill>
                  <a:srgbClr val="FFFFFF"/>
                </a:solidFill>
                <a:latin typeface="Calibri"/>
              </a:defRPr>
            </a:pPr>
            <a:r>
              <a:t>F1-score</a:t>
            </a:r>
          </a:p>
        </p:txBody>
      </p:sp>
      <p:sp>
        <p:nvSpPr>
          <p:cNvPr id="9" name="TextBox 8"/>
          <p:cNvSpPr txBox="1"/>
          <p:nvPr/>
        </p:nvSpPr>
        <p:spPr>
          <a:xfrm>
            <a:off x="1618488" y="1157731"/>
            <a:ext cx="3867912" cy="1705610"/>
          </a:xfrm>
          <a:prstGeom prst="rect">
            <a:avLst/>
          </a:prstGeom>
          <a:noFill/>
        </p:spPr>
        <p:txBody>
          <a:bodyPr wrap="square">
            <a:spAutoFit/>
          </a:bodyPr>
          <a:lstStyle/>
          <a:p>
            <a:pPr>
              <a:lnSpc>
                <a:spcPct val="130000"/>
              </a:lnSpc>
              <a:defRPr sz="1400">
                <a:solidFill>
                  <a:srgbClr val="1E293B"/>
                </a:solidFill>
                <a:latin typeface="Calibri"/>
              </a:defRPr>
            </a:pPr>
            <a:r>
              <a:t>The harmonic mean of precision and recall, providing a balanced measure of a model's accuracy.</a:t>
            </a:r>
          </a:p>
        </p:txBody>
      </p:sp>
      <p:sp>
        <p:nvSpPr>
          <p:cNvPr id="10" name="Rounded Rectangle 9"/>
          <p:cNvSpPr/>
          <p:nvPr/>
        </p:nvSpPr>
        <p:spPr>
          <a:xfrm>
            <a:off x="594360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014983"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014983" cy="292608"/>
          </a:xfrm>
          <a:prstGeom prst="rect">
            <a:avLst/>
          </a:prstGeom>
          <a:noFill/>
        </p:spPr>
        <p:txBody>
          <a:bodyPr wrap="none">
            <a:spAutoFit/>
          </a:bodyPr>
          <a:lstStyle/>
          <a:p>
            <a:pPr algn="ctr">
              <a:defRPr sz="1100" b="1">
                <a:solidFill>
                  <a:srgbClr val="FFFFFF"/>
                </a:solidFill>
                <a:latin typeface="Calibri"/>
              </a:defRPr>
            </a:pPr>
            <a:r>
              <a:t>Precision</a:t>
            </a:r>
          </a:p>
        </p:txBody>
      </p:sp>
      <p:sp>
        <p:nvSpPr>
          <p:cNvPr id="13" name="TextBox 12"/>
          <p:cNvSpPr txBox="1"/>
          <p:nvPr/>
        </p:nvSpPr>
        <p:spPr>
          <a:xfrm>
            <a:off x="7095743" y="1157731"/>
            <a:ext cx="3785617" cy="1705610"/>
          </a:xfrm>
          <a:prstGeom prst="rect">
            <a:avLst/>
          </a:prstGeom>
          <a:noFill/>
        </p:spPr>
        <p:txBody>
          <a:bodyPr wrap="square">
            <a:spAutoFit/>
          </a:bodyPr>
          <a:lstStyle/>
          <a:p>
            <a:pPr>
              <a:lnSpc>
                <a:spcPct val="130000"/>
              </a:lnSpc>
              <a:defRPr sz="1400">
                <a:solidFill>
                  <a:srgbClr val="1E293B"/>
                </a:solidFill>
                <a:latin typeface="Calibri"/>
              </a:defRPr>
            </a:pPr>
            <a:r>
              <a:t>The ratio of true positive predictions to the total number of positive predictions made.</a:t>
            </a:r>
          </a:p>
        </p:txBody>
      </p:sp>
      <p:sp>
        <p:nvSpPr>
          <p:cNvPr id="14" name="Rounded Rectangle 13"/>
          <p:cNvSpPr/>
          <p:nvPr/>
        </p:nvSpPr>
        <p:spPr>
          <a:xfrm>
            <a:off x="548640" y="2870200"/>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007360"/>
            <a:ext cx="768096"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025648"/>
            <a:ext cx="768096" cy="292608"/>
          </a:xfrm>
          <a:prstGeom prst="rect">
            <a:avLst/>
          </a:prstGeom>
          <a:noFill/>
        </p:spPr>
        <p:txBody>
          <a:bodyPr wrap="none">
            <a:spAutoFit/>
          </a:bodyPr>
          <a:lstStyle/>
          <a:p>
            <a:pPr algn="ctr">
              <a:defRPr sz="1100" b="1">
                <a:solidFill>
                  <a:srgbClr val="FFFFFF"/>
                </a:solidFill>
                <a:latin typeface="Calibri"/>
              </a:defRPr>
            </a:pPr>
            <a:r>
              <a:t>Recall</a:t>
            </a:r>
          </a:p>
        </p:txBody>
      </p:sp>
      <p:sp>
        <p:nvSpPr>
          <p:cNvPr id="17" name="TextBox 16"/>
          <p:cNvSpPr txBox="1"/>
          <p:nvPr/>
        </p:nvSpPr>
        <p:spPr>
          <a:xfrm>
            <a:off x="1453896" y="2979928"/>
            <a:ext cx="4032504" cy="1465580"/>
          </a:xfrm>
          <a:prstGeom prst="rect">
            <a:avLst/>
          </a:prstGeom>
          <a:noFill/>
        </p:spPr>
        <p:txBody>
          <a:bodyPr wrap="square">
            <a:spAutoFit/>
          </a:bodyPr>
          <a:lstStyle/>
          <a:p>
            <a:pPr>
              <a:lnSpc>
                <a:spcPct val="130000"/>
              </a:lnSpc>
              <a:defRPr sz="1400">
                <a:solidFill>
                  <a:srgbClr val="1E293B"/>
                </a:solidFill>
                <a:latin typeface="Calibri"/>
              </a:defRPr>
            </a:pPr>
            <a:r>
              <a:t>The ratio of true positive predictions to the total number of actual positive cases.</a:t>
            </a:r>
          </a:p>
        </p:txBody>
      </p:sp>
      <p:sp>
        <p:nvSpPr>
          <p:cNvPr id="18" name="Rounded Rectangle 17"/>
          <p:cNvSpPr/>
          <p:nvPr/>
        </p:nvSpPr>
        <p:spPr>
          <a:xfrm>
            <a:off x="594360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247389"/>
            <a:ext cx="1344168"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265677"/>
            <a:ext cx="1344168" cy="292608"/>
          </a:xfrm>
          <a:prstGeom prst="rect">
            <a:avLst/>
          </a:prstGeom>
          <a:noFill/>
        </p:spPr>
        <p:txBody>
          <a:bodyPr wrap="none">
            <a:spAutoFit/>
          </a:bodyPr>
          <a:lstStyle/>
          <a:p>
            <a:pPr algn="ctr">
              <a:defRPr sz="1100" b="1">
                <a:solidFill>
                  <a:srgbClr val="FFFFFF"/>
                </a:solidFill>
                <a:latin typeface="Calibri"/>
              </a:defRPr>
            </a:pPr>
            <a:r>
              <a:t>Friedman Test</a:t>
            </a:r>
          </a:p>
        </p:txBody>
      </p:sp>
      <p:sp>
        <p:nvSpPr>
          <p:cNvPr id="21" name="TextBox 20"/>
          <p:cNvSpPr txBox="1"/>
          <p:nvPr/>
        </p:nvSpPr>
        <p:spPr>
          <a:xfrm>
            <a:off x="7424928" y="3219958"/>
            <a:ext cx="3456432" cy="1705610"/>
          </a:xfrm>
          <a:prstGeom prst="rect">
            <a:avLst/>
          </a:prstGeom>
          <a:noFill/>
        </p:spPr>
        <p:txBody>
          <a:bodyPr wrap="square">
            <a:spAutoFit/>
          </a:bodyPr>
          <a:lstStyle/>
          <a:p>
            <a:pPr>
              <a:lnSpc>
                <a:spcPct val="130000"/>
              </a:lnSpc>
              <a:defRPr sz="1400">
                <a:solidFill>
                  <a:srgbClr val="1E293B"/>
                </a:solidFill>
                <a:latin typeface="Calibri"/>
              </a:defRPr>
            </a:pPr>
            <a:r>
              <a:t>A non-parametric statistical test used to compare multiple models across multiple datasets.</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261872"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261872" cy="292608"/>
          </a:xfrm>
          <a:prstGeom prst="rect">
            <a:avLst/>
          </a:prstGeom>
          <a:noFill/>
        </p:spPr>
        <p:txBody>
          <a:bodyPr wrap="none">
            <a:spAutoFit/>
          </a:bodyPr>
          <a:lstStyle/>
          <a:p>
            <a:pPr algn="ctr">
              <a:defRPr sz="1100" b="1">
                <a:solidFill>
                  <a:srgbClr val="FFFFFF"/>
                </a:solidFill>
                <a:latin typeface="Calibri"/>
              </a:defRPr>
            </a:pPr>
            <a:r>
              <a:t>Nemenyi test</a:t>
            </a:r>
          </a:p>
        </p:txBody>
      </p:sp>
      <p:sp>
        <p:nvSpPr>
          <p:cNvPr id="9" name="TextBox 8"/>
          <p:cNvSpPr txBox="1"/>
          <p:nvPr/>
        </p:nvSpPr>
        <p:spPr>
          <a:xfrm>
            <a:off x="1947672" y="1157731"/>
            <a:ext cx="3538728" cy="1945640"/>
          </a:xfrm>
          <a:prstGeom prst="rect">
            <a:avLst/>
          </a:prstGeom>
          <a:noFill/>
        </p:spPr>
        <p:txBody>
          <a:bodyPr wrap="square">
            <a:spAutoFit/>
          </a:bodyPr>
          <a:lstStyle/>
          <a:p>
            <a:pPr>
              <a:lnSpc>
                <a:spcPct val="130000"/>
              </a:lnSpc>
              <a:defRPr sz="1400">
                <a:solidFill>
                  <a:srgbClr val="1E293B"/>
                </a:solidFill>
                <a:latin typeface="Calibri"/>
              </a:defRPr>
            </a:pPr>
            <a:r>
              <a:t>A post-hoc test used after the Friedman test to identify which specific models differ significantly from each other.</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2148840"/>
          </a:xfrm>
          <a:prstGeom prst="rect">
            <a:avLst/>
          </a:prstGeom>
          <a:noFill/>
        </p:spPr>
        <p:txBody>
          <a:bodyPr wrap="square">
            <a:spAutoFit/>
          </a:bodyPr>
          <a:lstStyle/>
          <a:p>
            <a:pPr>
              <a:defRPr sz="4400" b="1">
                <a:solidFill>
                  <a:srgbClr val="1E293B"/>
                </a:solidFill>
                <a:latin typeface="Calibri"/>
              </a:defRPr>
            </a:pPr>
            <a:r>
              <a:t>Evaluating LLMs vs. traditional ML and BERT-based models</a:t>
            </a:r>
          </a:p>
        </p:txBody>
      </p:sp>
      <p:sp>
        <p:nvSpPr>
          <p:cNvPr id="7" name="Rectangle 6"/>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9" name="TextBox 8"/>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Evaluating LLMs vs. traditional ML and BERT-based models</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The comparative evaluation reveals distinct performance tiers</a:t>
            </a:r>
          </a:p>
          <a:p>
            <a:pPr>
              <a:lnSpc>
                <a:spcPct val="135000"/>
              </a:lnSpc>
              <a:spcAft>
                <a:spcPts val="1000"/>
              </a:spcAft>
              <a:defRPr sz="1600">
                <a:solidFill>
                  <a:srgbClr val="1E293B"/>
                </a:solidFill>
                <a:latin typeface="Calibri"/>
              </a:defRPr>
            </a:pPr>
            <a:r>
              <a:rPr>
                <a:solidFill>
                  <a:srgbClr val="3B82F6"/>
                </a:solidFill>
              </a:rPr>
              <a:t>• among the 12 methods.</a:t>
            </a:r>
          </a:p>
          <a:p>
            <a:pPr>
              <a:lnSpc>
                <a:spcPct val="135000"/>
              </a:lnSpc>
              <a:spcAft>
                <a:spcPts val="1000"/>
              </a:spcAft>
              <a:defRPr sz="1600">
                <a:solidFill>
                  <a:srgbClr val="1E293B"/>
                </a:solidFill>
                <a:latin typeface="Calibri"/>
              </a:defRPr>
            </a:pPr>
            <a:r>
              <a:rPr>
                <a:solidFill>
                  <a:srgbClr val="3B82F6"/>
                </a:solidFill>
              </a:rPr>
              <a:t>• Traditional ML models (LR, SVM, NB) and early deep learning</a:t>
            </a:r>
          </a:p>
          <a:p>
            <a:pPr>
              <a:lnSpc>
                <a:spcPct val="135000"/>
              </a:lnSpc>
              <a:spcAft>
                <a:spcPts val="1000"/>
              </a:spcAft>
              <a:defRPr sz="1600">
                <a:solidFill>
                  <a:srgbClr val="1E293B"/>
                </a:solidFill>
                <a:latin typeface="Calibri"/>
              </a:defRPr>
            </a:pPr>
            <a:r>
              <a:rPr>
                <a:solidFill>
                  <a:srgbClr val="3B82F6"/>
                </a:solidFill>
              </a:rPr>
              <a:t>• models (CNN, BiLSTM) often serve as baselines but lack the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Evaluating LLMs vs. traditional ML and BERT-based models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contextual depth of transformer-based models.</a:t>
            </a:r>
          </a:p>
          <a:p>
            <a:pPr>
              <a:lnSpc>
                <a:spcPct val="135000"/>
              </a:lnSpc>
              <a:spcAft>
                <a:spcPts val="1000"/>
              </a:spcAft>
              <a:defRPr sz="1600">
                <a:solidFill>
                  <a:srgbClr val="1E293B"/>
                </a:solidFill>
                <a:latin typeface="Calibri"/>
              </a:defRPr>
            </a:pPr>
            <a:r>
              <a:rPr>
                <a:solidFill>
                  <a:srgbClr val="3B82F6"/>
                </a:solidFill>
              </a:rPr>
              <a:t>• BERT and DeBERTa demonstrate statistically significant</a:t>
            </a:r>
          </a:p>
          <a:p>
            <a:pPr>
              <a:lnSpc>
                <a:spcPct val="135000"/>
              </a:lnSpc>
              <a:spcAft>
                <a:spcPts val="1000"/>
              </a:spcAft>
              <a:defRPr sz="1600">
                <a:solidFill>
                  <a:srgbClr val="1E293B"/>
                </a:solidFill>
                <a:latin typeface="Calibri"/>
              </a:defRPr>
            </a:pPr>
            <a:r>
              <a:rPr>
                <a:solidFill>
                  <a:srgbClr val="3B82F6"/>
                </a:solidFill>
              </a:rPr>
              <a:t>• improvements over these baselines, particularly when fine-tuned</a:t>
            </a:r>
          </a:p>
          <a:p>
            <a:pPr>
              <a:lnSpc>
                <a:spcPct val="135000"/>
              </a:lnSpc>
              <a:spcAft>
                <a:spcPts val="1000"/>
              </a:spcAft>
              <a:defRPr sz="1600">
                <a:solidFill>
                  <a:srgbClr val="1E293B"/>
                </a:solidFill>
                <a:latin typeface="Calibri"/>
              </a:defRPr>
            </a:pPr>
            <a:r>
              <a:rPr>
                <a:solidFill>
                  <a:srgbClr val="3B82F6"/>
                </a:solidFill>
              </a:rPr>
              <a:t>• on specific datasets.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Evaluating LLMs vs. traditional ML and BERT-based models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However, the study also highlights the emergence of LLMs</a:t>
            </a:r>
          </a:p>
          <a:p>
            <a:pPr>
              <a:lnSpc>
                <a:spcPct val="135000"/>
              </a:lnSpc>
              <a:spcAft>
                <a:spcPts val="1000"/>
              </a:spcAft>
              <a:defRPr sz="1600">
                <a:solidFill>
                  <a:srgbClr val="1E293B"/>
                </a:solidFill>
                <a:latin typeface="Calibri"/>
              </a:defRPr>
            </a:pPr>
            <a:r>
              <a:rPr>
                <a:solidFill>
                  <a:srgbClr val="3B82F6"/>
                </a:solidFill>
              </a:rPr>
              <a:t>• (Llama3-8B, Qwen3-32B, Zephyr-7B-beta) as a promising</a:t>
            </a:r>
          </a:p>
          <a:p>
            <a:pPr>
              <a:lnSpc>
                <a:spcPct val="135000"/>
              </a:lnSpc>
              <a:spcAft>
                <a:spcPts val="1000"/>
              </a:spcAft>
              <a:defRPr sz="1600">
                <a:solidFill>
                  <a:srgbClr val="1E293B"/>
                </a:solidFill>
                <a:latin typeface="Calibri"/>
              </a:defRPr>
            </a:pPr>
            <a:r>
              <a:rPr>
                <a:solidFill>
                  <a:srgbClr val="3B82F6"/>
                </a:solidFill>
              </a:rPr>
              <a:t>• alternative.</a:t>
            </a:r>
          </a:p>
          <a:p>
            <a:pPr>
              <a:lnSpc>
                <a:spcPct val="135000"/>
              </a:lnSpc>
              <a:spcAft>
                <a:spcPts val="1000"/>
              </a:spcAft>
              <a:defRPr sz="1600">
                <a:solidFill>
                  <a:srgbClr val="1E293B"/>
                </a:solidFill>
                <a:latin typeface="Calibri"/>
              </a:defRPr>
            </a:pPr>
            <a:r>
              <a:rPr>
                <a:solidFill>
                  <a:srgbClr val="3B82F6"/>
                </a:solidFill>
              </a:rPr>
              <a:t>• Unlike BERT-based models that require extensive fine-tuning, LLMs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Evaluating LLMs vs. traditional ML and BERT-based models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can be utilized in zero-shot or few-shot scenarios, offering</a:t>
            </a:r>
          </a:p>
          <a:p>
            <a:pPr>
              <a:lnSpc>
                <a:spcPct val="135000"/>
              </a:lnSpc>
              <a:spcAft>
                <a:spcPts val="1000"/>
              </a:spcAft>
              <a:defRPr sz="1600">
                <a:solidFill>
                  <a:srgbClr val="1E293B"/>
                </a:solidFill>
                <a:latin typeface="Calibri"/>
              </a:defRPr>
            </a:pPr>
            <a:r>
              <a:rPr>
                <a:solidFill>
                  <a:srgbClr val="3B82F6"/>
                </a:solidFill>
              </a:rPr>
              <a:t>• flexibility in cross-domain tasks.</a:t>
            </a:r>
          </a:p>
          <a:p>
            <a:pPr>
              <a:lnSpc>
                <a:spcPct val="135000"/>
              </a:lnSpc>
              <a:spcAft>
                <a:spcPts val="1000"/>
              </a:spcAft>
              <a:defRPr sz="1600">
                <a:solidFill>
                  <a:srgbClr val="1E293B"/>
                </a:solidFill>
                <a:latin typeface="Calibri"/>
              </a:defRPr>
            </a:pPr>
            <a:r>
              <a:rPr>
                <a:solidFill>
                  <a:srgbClr val="3B82F6"/>
                </a:solidFill>
              </a:rPr>
              <a:t>• The study notes that while fine-tuned models excel in-domain,</a:t>
            </a:r>
          </a:p>
          <a:p>
            <a:pPr>
              <a:lnSpc>
                <a:spcPct val="135000"/>
              </a:lnSpc>
              <a:spcAft>
                <a:spcPts val="1000"/>
              </a:spcAft>
              <a:defRPr sz="1600">
                <a:solidFill>
                  <a:srgbClr val="1E293B"/>
                </a:solidFill>
                <a:latin typeface="Calibri"/>
              </a:defRPr>
            </a:pPr>
            <a:r>
              <a:rPr>
                <a:solidFill>
                  <a:srgbClr val="3B82F6"/>
                </a:solidFill>
              </a:rPr>
              <a:t>• cross-domain architectures like MERMAID and LLMs show superior</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Evaluating LLMs vs. traditional ML and BERT-based models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potential for generalization.</a:t>
            </a:r>
          </a:p>
          <a:p>
            <a:pPr>
              <a:lnSpc>
                <a:spcPct val="135000"/>
              </a:lnSpc>
              <a:spcAft>
                <a:spcPts val="1000"/>
              </a:spcAft>
              <a:defRPr sz="1600">
                <a:solidFill>
                  <a:srgbClr val="1E293B"/>
                </a:solidFill>
                <a:latin typeface="Calibri"/>
              </a:defRPr>
            </a:pPr>
            <a:r>
              <a:rPr>
                <a:solidFill>
                  <a:srgbClr val="3B82F6"/>
                </a:solidFill>
              </a:rPr>
              <a:t>• By comparing these methods, the research demonstrates that while</a:t>
            </a:r>
          </a:p>
          <a:p>
            <a:pPr>
              <a:lnSpc>
                <a:spcPct val="135000"/>
              </a:lnSpc>
              <a:spcAft>
                <a:spcPts val="1000"/>
              </a:spcAft>
              <a:defRPr sz="1600">
                <a:solidFill>
                  <a:srgbClr val="1E293B"/>
                </a:solidFill>
                <a:latin typeface="Calibri"/>
              </a:defRPr>
            </a:pPr>
            <a:r>
              <a:rPr>
                <a:solidFill>
                  <a:srgbClr val="3B82F6"/>
                </a:solidFill>
              </a:rPr>
              <a:t>• traditional and BERT-based models are effective for static,</a:t>
            </a:r>
          </a:p>
          <a:p>
            <a:pPr>
              <a:lnSpc>
                <a:spcPct val="135000"/>
              </a:lnSpc>
              <a:spcAft>
                <a:spcPts val="1000"/>
              </a:spcAft>
              <a:defRPr sz="1600">
                <a:solidFill>
                  <a:srgbClr val="1E293B"/>
                </a:solidFill>
                <a:latin typeface="Calibri"/>
              </a:defRPr>
            </a:pPr>
            <a:r>
              <a:rPr>
                <a:solidFill>
                  <a:srgbClr val="3B82F6"/>
                </a:solidFill>
              </a:rPr>
              <a:t>• in-domain tasks, LLMs provide a new paradigm for handling the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Evaluating LLMs vs. traditional ML and BERT-based models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dynamic and diverse nature of misinformation across different</a:t>
            </a:r>
          </a:p>
          <a:p>
            <a:pPr>
              <a:lnSpc>
                <a:spcPct val="135000"/>
              </a:lnSpc>
              <a:spcAft>
                <a:spcPts val="1000"/>
              </a:spcAft>
              <a:defRPr sz="1600">
                <a:solidFill>
                  <a:srgbClr val="1E293B"/>
                </a:solidFill>
                <a:latin typeface="Calibri"/>
              </a:defRPr>
            </a:pPr>
            <a:r>
              <a:rPr>
                <a:solidFill>
                  <a:srgbClr val="3B82F6"/>
                </a:solidFill>
              </a:rPr>
              <a:t>• domains.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Evaluating LLMs vs. traditional ML and BERT-based models</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21384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213842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Results show that BERT exhibits statistically significant differences compared to CNN and BiLSTM, while DeBERTa outperforms NB, CNN, BiLSTM, CNN-BERT, and Zephyr-7B-beta, illustrating the performance gap between traditional architectures and advanced transformer-based models.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179576"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179576" cy="292608"/>
          </a:xfrm>
          <a:prstGeom prst="rect">
            <a:avLst/>
          </a:prstGeom>
          <a:noFill/>
        </p:spPr>
        <p:txBody>
          <a:bodyPr wrap="none">
            <a:spAutoFit/>
          </a:bodyPr>
          <a:lstStyle/>
          <a:p>
            <a:pPr algn="ctr">
              <a:defRPr sz="1100" b="1">
                <a:solidFill>
                  <a:srgbClr val="FFFFFF"/>
                </a:solidFill>
                <a:latin typeface="Calibri"/>
              </a:defRPr>
            </a:pPr>
            <a:r>
              <a:t>Fine-tuning</a:t>
            </a:r>
          </a:p>
        </p:txBody>
      </p:sp>
      <p:sp>
        <p:nvSpPr>
          <p:cNvPr id="9" name="TextBox 8"/>
          <p:cNvSpPr txBox="1"/>
          <p:nvPr/>
        </p:nvSpPr>
        <p:spPr>
          <a:xfrm>
            <a:off x="1865376" y="1157731"/>
            <a:ext cx="3621024" cy="1705610"/>
          </a:xfrm>
          <a:prstGeom prst="rect">
            <a:avLst/>
          </a:prstGeom>
          <a:noFill/>
        </p:spPr>
        <p:txBody>
          <a:bodyPr wrap="square">
            <a:spAutoFit/>
          </a:bodyPr>
          <a:lstStyle/>
          <a:p>
            <a:pPr>
              <a:lnSpc>
                <a:spcPct val="130000"/>
              </a:lnSpc>
              <a:defRPr sz="1400">
                <a:solidFill>
                  <a:srgbClr val="1E293B"/>
                </a:solidFill>
                <a:latin typeface="Calibri"/>
              </a:defRPr>
            </a:pPr>
            <a:r>
              <a:t>The process of adapting a pre-trained model to a specific task or dataset by updating its weights.</a:t>
            </a:r>
          </a:p>
        </p:txBody>
      </p:sp>
      <p:sp>
        <p:nvSpPr>
          <p:cNvPr id="10" name="Rounded Rectangle 9"/>
          <p:cNvSpPr/>
          <p:nvPr/>
        </p:nvSpPr>
        <p:spPr>
          <a:xfrm>
            <a:off x="5943600" y="1048004"/>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645920" cy="292608"/>
          </a:xfrm>
          <a:prstGeom prst="rect">
            <a:avLst/>
          </a:prstGeom>
          <a:noFill/>
        </p:spPr>
        <p:txBody>
          <a:bodyPr wrap="none">
            <a:spAutoFit/>
          </a:bodyPr>
          <a:lstStyle/>
          <a:p>
            <a:pPr algn="ctr">
              <a:defRPr sz="1100" b="1">
                <a:solidFill>
                  <a:srgbClr val="FFFFFF"/>
                </a:solidFill>
                <a:latin typeface="Calibri"/>
              </a:defRPr>
            </a:pPr>
            <a:r>
              <a:t>In-domain performance</a:t>
            </a:r>
          </a:p>
        </p:txBody>
      </p:sp>
      <p:sp>
        <p:nvSpPr>
          <p:cNvPr id="13" name="TextBox 12"/>
          <p:cNvSpPr txBox="1"/>
          <p:nvPr/>
        </p:nvSpPr>
        <p:spPr>
          <a:xfrm>
            <a:off x="7726680" y="1157731"/>
            <a:ext cx="3154680" cy="1465580"/>
          </a:xfrm>
          <a:prstGeom prst="rect">
            <a:avLst/>
          </a:prstGeom>
          <a:noFill/>
        </p:spPr>
        <p:txBody>
          <a:bodyPr wrap="square">
            <a:spAutoFit/>
          </a:bodyPr>
          <a:lstStyle/>
          <a:p>
            <a:pPr>
              <a:lnSpc>
                <a:spcPct val="130000"/>
              </a:lnSpc>
              <a:defRPr sz="1400">
                <a:solidFill>
                  <a:srgbClr val="1E293B"/>
                </a:solidFill>
                <a:latin typeface="Calibri"/>
              </a:defRPr>
            </a:pPr>
            <a:r>
              <a:t>Model accuracy when tested on data from the same distribution as the training set.</a:t>
            </a:r>
          </a:p>
        </p:txBody>
      </p:sp>
      <p:sp>
        <p:nvSpPr>
          <p:cNvPr id="14" name="Rounded Rectangle 13"/>
          <p:cNvSpPr/>
          <p:nvPr/>
        </p:nvSpPr>
        <p:spPr>
          <a:xfrm>
            <a:off x="548640" y="3350260"/>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487420"/>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505708"/>
            <a:ext cx="1645920" cy="292608"/>
          </a:xfrm>
          <a:prstGeom prst="rect">
            <a:avLst/>
          </a:prstGeom>
          <a:noFill/>
        </p:spPr>
        <p:txBody>
          <a:bodyPr wrap="none">
            <a:spAutoFit/>
          </a:bodyPr>
          <a:lstStyle/>
          <a:p>
            <a:pPr algn="ctr">
              <a:defRPr sz="1100" b="1">
                <a:solidFill>
                  <a:srgbClr val="FFFFFF"/>
                </a:solidFill>
                <a:latin typeface="Calibri"/>
              </a:defRPr>
            </a:pPr>
            <a:r>
              <a:t>Cross-domain architectures</a:t>
            </a:r>
          </a:p>
        </p:txBody>
      </p:sp>
      <p:sp>
        <p:nvSpPr>
          <p:cNvPr id="17" name="TextBox 16"/>
          <p:cNvSpPr txBox="1"/>
          <p:nvPr/>
        </p:nvSpPr>
        <p:spPr>
          <a:xfrm>
            <a:off x="2331720" y="3459988"/>
            <a:ext cx="3154680" cy="1945640"/>
          </a:xfrm>
          <a:prstGeom prst="rect">
            <a:avLst/>
          </a:prstGeom>
          <a:noFill/>
        </p:spPr>
        <p:txBody>
          <a:bodyPr wrap="square">
            <a:spAutoFit/>
          </a:bodyPr>
          <a:lstStyle/>
          <a:p>
            <a:pPr>
              <a:lnSpc>
                <a:spcPct val="130000"/>
              </a:lnSpc>
              <a:defRPr sz="1400">
                <a:solidFill>
                  <a:srgbClr val="1E293B"/>
                </a:solidFill>
                <a:latin typeface="Calibri"/>
              </a:defRPr>
            </a:pPr>
            <a:r>
              <a:t>Model designs specifically optimized to generalize across different data distributions or domains.</a:t>
            </a:r>
          </a:p>
        </p:txBody>
      </p:sp>
      <p:sp>
        <p:nvSpPr>
          <p:cNvPr id="18" name="Rounded Rectangle 17"/>
          <p:cNvSpPr/>
          <p:nvPr/>
        </p:nvSpPr>
        <p:spPr>
          <a:xfrm>
            <a:off x="594360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247389"/>
            <a:ext cx="850392"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265677"/>
            <a:ext cx="850392" cy="292608"/>
          </a:xfrm>
          <a:prstGeom prst="rect">
            <a:avLst/>
          </a:prstGeom>
          <a:noFill/>
        </p:spPr>
        <p:txBody>
          <a:bodyPr wrap="none">
            <a:spAutoFit/>
          </a:bodyPr>
          <a:lstStyle/>
          <a:p>
            <a:pPr algn="ctr">
              <a:defRPr sz="1100" b="1">
                <a:solidFill>
                  <a:srgbClr val="FFFFFF"/>
                </a:solidFill>
                <a:latin typeface="Calibri"/>
              </a:defRPr>
            </a:pPr>
            <a:r>
              <a:t>MERMAID</a:t>
            </a:r>
          </a:p>
        </p:txBody>
      </p:sp>
      <p:sp>
        <p:nvSpPr>
          <p:cNvPr id="21" name="TextBox 20"/>
          <p:cNvSpPr txBox="1"/>
          <p:nvPr/>
        </p:nvSpPr>
        <p:spPr>
          <a:xfrm>
            <a:off x="6931152" y="3219958"/>
            <a:ext cx="3950208" cy="1705610"/>
          </a:xfrm>
          <a:prstGeom prst="rect">
            <a:avLst/>
          </a:prstGeom>
          <a:noFill/>
        </p:spPr>
        <p:txBody>
          <a:bodyPr wrap="square">
            <a:spAutoFit/>
          </a:bodyPr>
          <a:lstStyle/>
          <a:p>
            <a:pPr>
              <a:lnSpc>
                <a:spcPct val="130000"/>
              </a:lnSpc>
              <a:defRPr sz="1400">
                <a:solidFill>
                  <a:srgbClr val="1E293B"/>
                </a:solidFill>
                <a:latin typeface="Calibri"/>
              </a:defRPr>
            </a:pPr>
            <a:r>
              <a:t>A cross-domain fake news detection architecture designed for improved generalization.</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645920" cy="292608"/>
          </a:xfrm>
          <a:prstGeom prst="rect">
            <a:avLst/>
          </a:prstGeom>
          <a:noFill/>
        </p:spPr>
        <p:txBody>
          <a:bodyPr wrap="none">
            <a:spAutoFit/>
          </a:bodyPr>
          <a:lstStyle/>
          <a:p>
            <a:pPr algn="ctr">
              <a:defRPr sz="1100" b="1">
                <a:solidFill>
                  <a:srgbClr val="FFFFFF"/>
                </a:solidFill>
                <a:latin typeface="Calibri"/>
              </a:defRPr>
            </a:pPr>
            <a:r>
              <a:t>Statistical significance</a:t>
            </a:r>
          </a:p>
        </p:txBody>
      </p:sp>
      <p:sp>
        <p:nvSpPr>
          <p:cNvPr id="9" name="TextBox 8"/>
          <p:cNvSpPr txBox="1"/>
          <p:nvPr/>
        </p:nvSpPr>
        <p:spPr>
          <a:xfrm>
            <a:off x="2331720" y="1157731"/>
            <a:ext cx="3154680" cy="1705610"/>
          </a:xfrm>
          <a:prstGeom prst="rect">
            <a:avLst/>
          </a:prstGeom>
          <a:noFill/>
        </p:spPr>
        <p:txBody>
          <a:bodyPr wrap="square">
            <a:spAutoFit/>
          </a:bodyPr>
          <a:lstStyle/>
          <a:p>
            <a:pPr>
              <a:lnSpc>
                <a:spcPct val="130000"/>
              </a:lnSpc>
              <a:defRPr sz="1400">
                <a:solidFill>
                  <a:srgbClr val="1E293B"/>
                </a:solidFill>
                <a:latin typeface="Calibri"/>
              </a:defRPr>
            </a:pPr>
            <a:r>
              <a:t>A measure indicating that observed results are unlikely to have occurred by random chance.</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Lesson Summary</a:t>
            </a:r>
          </a:p>
        </p:txBody>
      </p:sp>
      <p:sp>
        <p:nvSpPr>
          <p:cNvPr id="5" name="Rectangle 4"/>
          <p:cNvSpPr/>
          <p:nvPr/>
        </p:nvSpPr>
        <p:spPr>
          <a:xfrm>
            <a:off x="548640" y="901700"/>
            <a:ext cx="10972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343814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249172"/>
            <a:ext cx="438912" cy="43891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276604"/>
            <a:ext cx="438912" cy="384048"/>
          </a:xfrm>
          <a:prstGeom prst="rect">
            <a:avLst/>
          </a:prstGeom>
          <a:noFill/>
        </p:spPr>
        <p:txBody>
          <a:bodyPr wrap="none">
            <a:spAutoFit/>
          </a:bodyPr>
          <a:lstStyle/>
          <a:p>
            <a:pPr algn="ctr">
              <a:defRPr sz="2200">
                <a:solidFill>
                  <a:srgbClr val="FFFFFF"/>
                </a:solidFill>
              </a:defRPr>
            </a:pPr>
            <a:r>
              <a:t>✓</a:t>
            </a:r>
          </a:p>
        </p:txBody>
      </p:sp>
      <p:sp>
        <p:nvSpPr>
          <p:cNvPr id="9" name="TextBox 8"/>
          <p:cNvSpPr txBox="1"/>
          <p:nvPr/>
        </p:nvSpPr>
        <p:spPr>
          <a:xfrm>
            <a:off x="1325880" y="1185164"/>
            <a:ext cx="10134295"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t>This lesson explored the foundations of fake news detection by benchmarking 12 diverse methods across 10 heterogeneous datasets. We examined the taxonomy of detection methods, the challenges posed by domain shift in social media, the importance of robust statistical metrics like F1-score, and the comparative performance of traditional ML, BERT-based models, and LLMs.</a:t>
            </a:r>
          </a:p>
          <a:p>
            <a:pPr>
              <a:lnSpc>
                <a:spcPct val="135000"/>
              </a:lnSpc>
              <a:spcAft>
                <a:spcPts val="1000"/>
              </a:spcAft>
              <a:defRPr sz="1600">
                <a:solidFill>
                  <a:srgbClr val="1E293B"/>
                </a:solidFill>
                <a:latin typeface="Calibri"/>
              </a:defRPr>
            </a:pPr>
            <a:r>
              <a:t>The study concludes that while fine-tuned models are effective in-domain, they often fail to generalize, pointing toward cross-domain architectures and LLMs as the future of resilient fake news detection.</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Check Your Understanding</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602991"/>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b="1">
                <a:solidFill>
                  <a:srgbClr val="3B82F6"/>
                </a:solidFill>
              </a:rPr>
              <a:t>1. How do the architectural requirements of traditional ML models differ from those of LLMs in the context of fake news detection?</a:t>
            </a:r>
          </a:p>
          <a:p>
            <a:pPr>
              <a:lnSpc>
                <a:spcPct val="135000"/>
              </a:lnSpc>
              <a:spcAft>
                <a:spcPts val="1000"/>
              </a:spcAft>
              <a:defRPr sz="1600">
                <a:solidFill>
                  <a:srgbClr val="1E293B"/>
                </a:solidFill>
                <a:latin typeface="Calibri"/>
              </a:defRPr>
            </a:pPr>
            <a:r>
              <a:rPr b="1">
                <a:solidFill>
                  <a:srgbClr val="3B82F6"/>
                </a:solidFill>
              </a:rPr>
              <a:t>2. Why does the 'domain shift' problem pose a significant challenge for models trained on social media data?</a:t>
            </a:r>
          </a:p>
          <a:p>
            <a:pPr>
              <a:lnSpc>
                <a:spcPct val="135000"/>
              </a:lnSpc>
              <a:spcAft>
                <a:spcPts val="1000"/>
              </a:spcAft>
              <a:defRPr sz="1600">
                <a:solidFill>
                  <a:srgbClr val="1E293B"/>
                </a:solidFill>
                <a:latin typeface="Calibri"/>
              </a:defRPr>
            </a:pPr>
            <a:r>
              <a:rPr b="1">
                <a:solidFill>
                  <a:srgbClr val="3B82F6"/>
                </a:solidFill>
              </a:rPr>
              <a:t>3. Why is it necessary to use the Friedman test alongside metrics like F1-score when benchmarking multiple models?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Check Your Understanding</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b="1">
                <a:solidFill>
                  <a:srgbClr val="3B82F6"/>
                </a:solidFill>
              </a:rPr>
              <a:t>1. What is the primary advantage of using LLMs over BERT-based models when dealing with cross-domain generalization?</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References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159410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320040" cy="3200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320040" cy="283464"/>
          </a:xfrm>
          <a:prstGeom prst="rect">
            <a:avLst/>
          </a:prstGeom>
          <a:noFill/>
        </p:spPr>
        <p:txBody>
          <a:bodyPr wrap="none">
            <a:spAutoFit/>
          </a:bodyPr>
          <a:lstStyle/>
          <a:p>
            <a:pPr algn="ctr">
              <a:defRPr sz="1200" b="1">
                <a:solidFill>
                  <a:srgbClr val="FFFFFF"/>
                </a:solidFill>
                <a:latin typeface="Calibri"/>
              </a:defRPr>
            </a:pPr>
            <a:r>
              <a:t>1</a:t>
            </a:r>
          </a:p>
        </p:txBody>
      </p:sp>
      <p:sp>
        <p:nvSpPr>
          <p:cNvPr id="9" name="TextBox 8"/>
          <p:cNvSpPr txBox="1"/>
          <p:nvPr/>
        </p:nvSpPr>
        <p:spPr>
          <a:xfrm>
            <a:off x="1051560" y="1139444"/>
            <a:ext cx="10454335" cy="2743200"/>
          </a:xfrm>
          <a:prstGeom prst="rect">
            <a:avLst/>
          </a:prstGeom>
          <a:noFill/>
        </p:spPr>
        <p:txBody>
          <a:bodyPr wrap="square">
            <a:spAutoFit/>
          </a:bodyPr>
          <a:lstStyle/>
          <a:p>
            <a:pPr>
              <a:lnSpc>
                <a:spcPct val="125000"/>
              </a:lnSpc>
              <a:defRPr sz="1600" b="1">
                <a:solidFill>
                  <a:srgbClr val="1E293B"/>
                </a:solidFill>
                <a:latin typeface="Calibri"/>
              </a:defRPr>
            </a:pPr>
            <a:r>
              <a:t>An Experimental Comparison of the Most Popular Approaches to Fake News Detection</a:t>
            </a:r>
          </a:p>
          <a:p>
            <a:pPr>
              <a:lnSpc>
                <a:spcPct val="125000"/>
              </a:lnSpc>
              <a:defRPr sz="1400">
                <a:solidFill>
                  <a:srgbClr val="64748B"/>
                </a:solidFill>
                <a:latin typeface="Calibri"/>
              </a:defRPr>
            </a:pPr>
            <a:r>
              <a:t>Various</a:t>
            </a:r>
          </a:p>
          <a:p>
            <a:pPr>
              <a:lnSpc>
                <a:spcPct val="125000"/>
              </a:lnSpc>
              <a:defRPr sz="1400">
                <a:solidFill>
                  <a:srgbClr val="64748B"/>
                </a:solidFill>
                <a:latin typeface="Calibri"/>
              </a:defRPr>
            </a:pPr>
            <a:r>
              <a:t>(2024)</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