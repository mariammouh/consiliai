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772400" y="2286000"/>
            <a:ext cx="3657600" cy="3657600"/>
          </a:xfrm>
          <a:prstGeom prst="roundRect">
            <a:avLst/>
          </a:prstGeom>
          <a:solidFill>
            <a:srgbClr val="DBEA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0058400" y="1097280"/>
            <a:ext cx="731520" cy="731520"/>
          </a:xfrm>
          <a:prstGeom prst="round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1920240"/>
            <a:ext cx="7315200" cy="365760"/>
          </a:xfrm>
          <a:prstGeom prst="rect">
            <a:avLst/>
          </a:prstGeom>
          <a:noFill/>
        </p:spPr>
        <p:txBody>
          <a:bodyPr wrap="none">
            <a:spAutoFit/>
          </a:bodyPr>
          <a:lstStyle/>
          <a:p>
            <a:pPr>
              <a:defRPr sz="1400" b="1">
                <a:solidFill>
                  <a:srgbClr val="3B82F6"/>
                </a:solidFill>
                <a:latin typeface="Calibri"/>
              </a:defRPr>
            </a:pPr>
            <a:r>
              <a:t>ADVANCED FAKE NEWS DETECTION: FROM TRANSFORMER ARCHITECTURES TO SOCIAL NETWORK DYNAMICS</a:t>
            </a:r>
          </a:p>
        </p:txBody>
      </p:sp>
      <p:sp>
        <p:nvSpPr>
          <p:cNvPr id="7" name="TextBox 6"/>
          <p:cNvSpPr txBox="1"/>
          <p:nvPr/>
        </p:nvSpPr>
        <p:spPr>
          <a:xfrm>
            <a:off x="548640" y="2377440"/>
            <a:ext cx="8229600" cy="3230880"/>
          </a:xfrm>
          <a:prstGeom prst="rect">
            <a:avLst/>
          </a:prstGeom>
          <a:noFill/>
        </p:spPr>
        <p:txBody>
          <a:bodyPr wrap="square">
            <a:spAutoFit/>
          </a:bodyPr>
          <a:lstStyle/>
          <a:p>
            <a:pPr>
              <a:defRPr sz="5000" b="1">
                <a:solidFill>
                  <a:srgbClr val="1E293B"/>
                </a:solidFill>
                <a:latin typeface="Calibri"/>
              </a:defRPr>
            </a:pPr>
            <a:r>
              <a:t>Advanced Fake News Detection: From Transformer Architectures to Social Network Dynamics</a:t>
            </a:r>
          </a:p>
        </p:txBody>
      </p:sp>
      <p:sp>
        <p:nvSpPr>
          <p:cNvPr id="8" name="Rectangle 7"/>
          <p:cNvSpPr/>
          <p:nvPr/>
        </p:nvSpPr>
        <p:spPr>
          <a:xfrm>
            <a:off x="548640" y="5562600"/>
            <a:ext cx="128016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1" name="TextBox 10"/>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Learning Objectives</a:t>
            </a:r>
          </a:p>
        </p:txBody>
      </p:sp>
      <p:sp>
        <p:nvSpPr>
          <p:cNvPr id="5" name="Rectangle 4"/>
          <p:cNvSpPr/>
          <p:nvPr/>
        </p:nvSpPr>
        <p:spPr>
          <a:xfrm>
            <a:off x="548640" y="901700"/>
            <a:ext cx="109728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136245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58368" y="1276604"/>
            <a:ext cx="384048" cy="38404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304036"/>
            <a:ext cx="384048" cy="347472"/>
          </a:xfrm>
          <a:prstGeom prst="rect">
            <a:avLst/>
          </a:prstGeom>
          <a:noFill/>
        </p:spPr>
        <p:txBody>
          <a:bodyPr wrap="none">
            <a:spAutoFit/>
          </a:bodyPr>
          <a:lstStyle/>
          <a:p>
            <a:pPr algn="ctr">
              <a:defRPr sz="1600" b="1">
                <a:solidFill>
                  <a:srgbClr val="FFFFFF"/>
                </a:solidFill>
                <a:latin typeface="Calibri"/>
              </a:defRPr>
            </a:pPr>
            <a:r>
              <a:t>1</a:t>
            </a:r>
          </a:p>
        </p:txBody>
      </p:sp>
      <p:sp>
        <p:nvSpPr>
          <p:cNvPr id="9" name="TextBox 8"/>
          <p:cNvSpPr txBox="1"/>
          <p:nvPr/>
        </p:nvSpPr>
        <p:spPr>
          <a:xfrm>
            <a:off x="1143000" y="1185164"/>
            <a:ext cx="4389120" cy="1088135"/>
          </a:xfrm>
          <a:prstGeom prst="rect">
            <a:avLst/>
          </a:prstGeom>
          <a:noFill/>
        </p:spPr>
        <p:txBody>
          <a:bodyPr wrap="square">
            <a:spAutoFit/>
          </a:bodyPr>
          <a:lstStyle/>
          <a:p>
            <a:pPr>
              <a:defRPr sz="1600">
                <a:solidFill>
                  <a:srgbClr val="1E293B"/>
                </a:solidFill>
                <a:latin typeface="Calibri"/>
              </a:defRPr>
            </a:pPr>
            <a:r>
              <a:t>Understand the limitations of text-only fake news detection models.</a:t>
            </a:r>
          </a:p>
        </p:txBody>
      </p:sp>
      <p:sp>
        <p:nvSpPr>
          <p:cNvPr id="10" name="Rounded Rectangle 9"/>
          <p:cNvSpPr/>
          <p:nvPr/>
        </p:nvSpPr>
        <p:spPr>
          <a:xfrm>
            <a:off x="5989320" y="1048004"/>
            <a:ext cx="5120640" cy="163677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099048" y="1276604"/>
            <a:ext cx="384048" cy="38404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99048" y="1304036"/>
            <a:ext cx="384048" cy="347472"/>
          </a:xfrm>
          <a:prstGeom prst="rect">
            <a:avLst/>
          </a:prstGeom>
          <a:noFill/>
        </p:spPr>
        <p:txBody>
          <a:bodyPr wrap="none">
            <a:spAutoFit/>
          </a:bodyPr>
          <a:lstStyle/>
          <a:p>
            <a:pPr algn="ctr">
              <a:defRPr sz="1600" b="1">
                <a:solidFill>
                  <a:srgbClr val="FFFFFF"/>
                </a:solidFill>
                <a:latin typeface="Calibri"/>
              </a:defRPr>
            </a:pPr>
            <a:r>
              <a:t>2</a:t>
            </a:r>
          </a:p>
        </p:txBody>
      </p:sp>
      <p:sp>
        <p:nvSpPr>
          <p:cNvPr id="13" name="TextBox 12"/>
          <p:cNvSpPr txBox="1"/>
          <p:nvPr/>
        </p:nvSpPr>
        <p:spPr>
          <a:xfrm>
            <a:off x="6583680" y="1185164"/>
            <a:ext cx="4389120" cy="1362455"/>
          </a:xfrm>
          <a:prstGeom prst="rect">
            <a:avLst/>
          </a:prstGeom>
          <a:noFill/>
        </p:spPr>
        <p:txBody>
          <a:bodyPr wrap="square">
            <a:spAutoFit/>
          </a:bodyPr>
          <a:lstStyle/>
          <a:p>
            <a:pPr>
              <a:defRPr sz="1600">
                <a:solidFill>
                  <a:srgbClr val="1E293B"/>
                </a:solidFill>
                <a:latin typeface="Calibri"/>
              </a:defRPr>
            </a:pPr>
            <a:r>
              <a:t>Analyze how heterogeneous graph structures and social context improve detection accuracy.</a:t>
            </a:r>
          </a:p>
        </p:txBody>
      </p:sp>
      <p:sp>
        <p:nvSpPr>
          <p:cNvPr id="14" name="Rounded Rectangle 13"/>
          <p:cNvSpPr/>
          <p:nvPr/>
        </p:nvSpPr>
        <p:spPr>
          <a:xfrm>
            <a:off x="548640" y="2867660"/>
            <a:ext cx="5120640" cy="163677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58368" y="3096260"/>
            <a:ext cx="384048" cy="38404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368" y="3123692"/>
            <a:ext cx="384048" cy="347472"/>
          </a:xfrm>
          <a:prstGeom prst="rect">
            <a:avLst/>
          </a:prstGeom>
          <a:noFill/>
        </p:spPr>
        <p:txBody>
          <a:bodyPr wrap="none">
            <a:spAutoFit/>
          </a:bodyPr>
          <a:lstStyle/>
          <a:p>
            <a:pPr algn="ctr">
              <a:defRPr sz="1600" b="1">
                <a:solidFill>
                  <a:srgbClr val="FFFFFF"/>
                </a:solidFill>
                <a:latin typeface="Calibri"/>
              </a:defRPr>
            </a:pPr>
            <a:r>
              <a:t>3</a:t>
            </a:r>
          </a:p>
        </p:txBody>
      </p:sp>
      <p:sp>
        <p:nvSpPr>
          <p:cNvPr id="17" name="TextBox 16"/>
          <p:cNvSpPr txBox="1"/>
          <p:nvPr/>
        </p:nvSpPr>
        <p:spPr>
          <a:xfrm>
            <a:off x="1143000" y="3004820"/>
            <a:ext cx="4389120" cy="1362455"/>
          </a:xfrm>
          <a:prstGeom prst="rect">
            <a:avLst/>
          </a:prstGeom>
          <a:noFill/>
        </p:spPr>
        <p:txBody>
          <a:bodyPr wrap="square">
            <a:spAutoFit/>
          </a:bodyPr>
          <a:lstStyle/>
          <a:p>
            <a:pPr>
              <a:defRPr sz="1600">
                <a:solidFill>
                  <a:srgbClr val="1E293B"/>
                </a:solidFill>
                <a:latin typeface="Calibri"/>
              </a:defRPr>
            </a:pPr>
            <a:r>
              <a:t>Evaluate the generalization capabilities of Transformer-based models across different datasets.</a:t>
            </a:r>
          </a:p>
        </p:txBody>
      </p:sp>
      <p:sp>
        <p:nvSpPr>
          <p:cNvPr id="18" name="Rounded Rectangle 17"/>
          <p:cNvSpPr/>
          <p:nvPr/>
        </p:nvSpPr>
        <p:spPr>
          <a:xfrm>
            <a:off x="5989320" y="2867660"/>
            <a:ext cx="5120640" cy="163677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099048" y="3096260"/>
            <a:ext cx="384048" cy="384048"/>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99048" y="3123692"/>
            <a:ext cx="384048" cy="347472"/>
          </a:xfrm>
          <a:prstGeom prst="rect">
            <a:avLst/>
          </a:prstGeom>
          <a:noFill/>
        </p:spPr>
        <p:txBody>
          <a:bodyPr wrap="none">
            <a:spAutoFit/>
          </a:bodyPr>
          <a:lstStyle/>
          <a:p>
            <a:pPr algn="ctr">
              <a:defRPr sz="1600" b="1">
                <a:solidFill>
                  <a:srgbClr val="FFFFFF"/>
                </a:solidFill>
                <a:latin typeface="Calibri"/>
              </a:defRPr>
            </a:pPr>
            <a:r>
              <a:t>4</a:t>
            </a:r>
          </a:p>
        </p:txBody>
      </p:sp>
      <p:sp>
        <p:nvSpPr>
          <p:cNvPr id="21" name="TextBox 20"/>
          <p:cNvSpPr txBox="1"/>
          <p:nvPr/>
        </p:nvSpPr>
        <p:spPr>
          <a:xfrm>
            <a:off x="6583680" y="3004820"/>
            <a:ext cx="4389120" cy="1362455"/>
          </a:xfrm>
          <a:prstGeom prst="rect">
            <a:avLst/>
          </a:prstGeom>
          <a:noFill/>
        </p:spPr>
        <p:txBody>
          <a:bodyPr wrap="square">
            <a:spAutoFit/>
          </a:bodyPr>
          <a:lstStyle/>
          <a:p>
            <a:pPr>
              <a:defRPr sz="1600">
                <a:solidFill>
                  <a:srgbClr val="1E293B"/>
                </a:solidFill>
                <a:latin typeface="Calibri"/>
              </a:defRPr>
            </a:pPr>
            <a:r>
              <a:t>Critically assess the robustness of current models against modern misinformation threats.</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Module Context</a:t>
            </a:r>
          </a:p>
        </p:txBody>
      </p:sp>
      <p:sp>
        <p:nvSpPr>
          <p:cNvPr id="5" name="Rectangle 4"/>
          <p:cNvSpPr/>
          <p:nvPr/>
        </p:nvSpPr>
        <p:spPr>
          <a:xfrm>
            <a:off x="548640" y="901700"/>
            <a:ext cx="109728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3545738" cy="334365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048004"/>
            <a:ext cx="3545738"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185164"/>
            <a:ext cx="3179978" cy="320040"/>
          </a:xfrm>
          <a:prstGeom prst="rect">
            <a:avLst/>
          </a:prstGeom>
          <a:noFill/>
        </p:spPr>
        <p:txBody>
          <a:bodyPr wrap="none">
            <a:spAutoFit/>
          </a:bodyPr>
          <a:lstStyle/>
          <a:p>
            <a:pPr>
              <a:defRPr sz="1100" b="1">
                <a:solidFill>
                  <a:srgbClr val="F59E0B"/>
                </a:solidFill>
                <a:latin typeface="Calibri"/>
              </a:defRPr>
            </a:pPr>
            <a:r>
              <a:t>PROBLEM</a:t>
            </a:r>
          </a:p>
        </p:txBody>
      </p:sp>
      <p:sp>
        <p:nvSpPr>
          <p:cNvPr id="9" name="TextBox 8"/>
          <p:cNvSpPr txBox="1"/>
          <p:nvPr/>
        </p:nvSpPr>
        <p:spPr>
          <a:xfrm>
            <a:off x="749808" y="1505204"/>
            <a:ext cx="3179978" cy="2703575"/>
          </a:xfrm>
          <a:prstGeom prst="rect">
            <a:avLst/>
          </a:prstGeom>
          <a:noFill/>
        </p:spPr>
        <p:txBody>
          <a:bodyPr wrap="square">
            <a:spAutoFit/>
          </a:bodyPr>
          <a:lstStyle/>
          <a:p>
            <a:pPr>
              <a:lnSpc>
                <a:spcPct val="130000"/>
              </a:lnSpc>
              <a:defRPr sz="1600">
                <a:solidFill>
                  <a:srgbClr val="1E293B"/>
                </a:solidFill>
                <a:latin typeface="Calibri"/>
              </a:defRPr>
            </a:pPr>
            <a:r>
              <a:t>The lack of fact-checking mechanisms on social media and the poor cross-domain generalization capabilities of existing detection models.</a:t>
            </a:r>
          </a:p>
        </p:txBody>
      </p:sp>
      <p:sp>
        <p:nvSpPr>
          <p:cNvPr id="10" name="Rounded Rectangle 9"/>
          <p:cNvSpPr/>
          <p:nvPr/>
        </p:nvSpPr>
        <p:spPr>
          <a:xfrm>
            <a:off x="4322978" y="1048004"/>
            <a:ext cx="3545738" cy="334365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22978" y="1048004"/>
            <a:ext cx="3545738"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4146" y="1185164"/>
            <a:ext cx="3179978" cy="320040"/>
          </a:xfrm>
          <a:prstGeom prst="rect">
            <a:avLst/>
          </a:prstGeom>
          <a:noFill/>
        </p:spPr>
        <p:txBody>
          <a:bodyPr wrap="none">
            <a:spAutoFit/>
          </a:bodyPr>
          <a:lstStyle/>
          <a:p>
            <a:pPr>
              <a:defRPr sz="1100" b="1">
                <a:solidFill>
                  <a:srgbClr val="10B981"/>
                </a:solidFill>
                <a:latin typeface="Calibri"/>
              </a:defRPr>
            </a:pPr>
            <a:r>
              <a:t>SOLUTION</a:t>
            </a:r>
          </a:p>
        </p:txBody>
      </p:sp>
      <p:sp>
        <p:nvSpPr>
          <p:cNvPr id="13" name="TextBox 12"/>
          <p:cNvSpPr txBox="1"/>
          <p:nvPr/>
        </p:nvSpPr>
        <p:spPr>
          <a:xfrm>
            <a:off x="4524146" y="1505204"/>
            <a:ext cx="3179978" cy="2703575"/>
          </a:xfrm>
          <a:prstGeom prst="rect">
            <a:avLst/>
          </a:prstGeom>
          <a:noFill/>
        </p:spPr>
        <p:txBody>
          <a:bodyPr wrap="square">
            <a:spAutoFit/>
          </a:bodyPr>
          <a:lstStyle/>
          <a:p>
            <a:pPr>
              <a:lnSpc>
                <a:spcPct val="130000"/>
              </a:lnSpc>
              <a:defRPr sz="1600">
                <a:solidFill>
                  <a:srgbClr val="1E293B"/>
                </a:solidFill>
                <a:latin typeface="Calibri"/>
              </a:defRPr>
            </a:pPr>
            <a:r>
              <a:t>Systematic empirical benchmarking of 12 representative methods (from traditional ML to LLMs) across 10 heterogeneous datasets.</a:t>
            </a:r>
          </a:p>
        </p:txBody>
      </p:sp>
      <p:sp>
        <p:nvSpPr>
          <p:cNvPr id="14" name="Rounded Rectangle 13"/>
          <p:cNvSpPr/>
          <p:nvPr/>
        </p:nvSpPr>
        <p:spPr>
          <a:xfrm>
            <a:off x="8097316" y="1048004"/>
            <a:ext cx="3545738"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7316" y="1048004"/>
            <a:ext cx="3545738"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8484" y="1185164"/>
            <a:ext cx="3179978" cy="320040"/>
          </a:xfrm>
          <a:prstGeom prst="rect">
            <a:avLst/>
          </a:prstGeom>
          <a:noFill/>
        </p:spPr>
        <p:txBody>
          <a:bodyPr wrap="none">
            <a:spAutoFit/>
          </a:bodyPr>
          <a:lstStyle/>
          <a:p>
            <a:pPr>
              <a:defRPr sz="1100" b="1">
                <a:solidFill>
                  <a:srgbClr val="3B82F6"/>
                </a:solidFill>
                <a:latin typeface="Calibri"/>
              </a:defRPr>
            </a:pPr>
            <a:r>
              <a:t>DIFFICULTY</a:t>
            </a:r>
          </a:p>
        </p:txBody>
      </p:sp>
      <p:sp>
        <p:nvSpPr>
          <p:cNvPr id="17" name="TextBox 16"/>
          <p:cNvSpPr txBox="1"/>
          <p:nvPr/>
        </p:nvSpPr>
        <p:spPr>
          <a:xfrm>
            <a:off x="8298484" y="1505204"/>
            <a:ext cx="3179978" cy="1371600"/>
          </a:xfrm>
          <a:prstGeom prst="rect">
            <a:avLst/>
          </a:prstGeom>
          <a:noFill/>
        </p:spPr>
        <p:txBody>
          <a:bodyPr wrap="square">
            <a:spAutoFit/>
          </a:bodyPr>
          <a:lstStyle/>
          <a:p>
            <a:pPr>
              <a:lnSpc>
                <a:spcPct val="130000"/>
              </a:lnSpc>
              <a:defRPr sz="1600">
                <a:solidFill>
                  <a:srgbClr val="1E293B"/>
                </a:solidFill>
                <a:latin typeface="Calibri"/>
              </a:defRPr>
            </a:pPr>
            <a:r>
              <a:t>beginner</a:t>
            </a:r>
          </a:p>
        </p:txBody>
      </p:sp>
      <p:sp>
        <p:nvSpPr>
          <p:cNvPr id="18" name="Rectangle 1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0" name="TextBox 1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835121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34440" y="2651760"/>
            <a:ext cx="1280160" cy="1280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926080"/>
            <a:ext cx="914400" cy="731520"/>
          </a:xfrm>
          <a:prstGeom prst="rect">
            <a:avLst/>
          </a:prstGeom>
          <a:noFill/>
        </p:spPr>
        <p:txBody>
          <a:bodyPr wrap="none">
            <a:spAutoFit/>
          </a:bodyPr>
          <a:lstStyle/>
          <a:p>
            <a:pPr algn="ctr">
              <a:defRPr sz="4400">
                <a:solidFill>
                  <a:srgbClr val="FFFFFF"/>
                </a:solidFill>
                <a:latin typeface="Calibri"/>
              </a:defRPr>
            </a:pPr>
            <a:r>
              <a:t>§</a:t>
            </a:r>
          </a:p>
        </p:txBody>
      </p:sp>
      <p:sp>
        <p:nvSpPr>
          <p:cNvPr id="6" name="TextBox 5"/>
          <p:cNvSpPr txBox="1"/>
          <p:nvPr/>
        </p:nvSpPr>
        <p:spPr>
          <a:xfrm>
            <a:off x="4389120" y="2468880"/>
            <a:ext cx="7772400" cy="1478280"/>
          </a:xfrm>
          <a:prstGeom prst="rect">
            <a:avLst/>
          </a:prstGeom>
          <a:noFill/>
        </p:spPr>
        <p:txBody>
          <a:bodyPr wrap="square">
            <a:spAutoFit/>
          </a:bodyPr>
          <a:lstStyle/>
          <a:p>
            <a:pPr>
              <a:defRPr sz="4400" b="1">
                <a:solidFill>
                  <a:srgbClr val="1E293B"/>
                </a:solidFill>
                <a:latin typeface="Calibri"/>
              </a:defRPr>
            </a:pPr>
            <a:r>
              <a:t>Taxonomy of fake news detection methods</a:t>
            </a:r>
          </a:p>
        </p:txBody>
      </p:sp>
      <p:sp>
        <p:nvSpPr>
          <p:cNvPr id="7" name="Rectangle 6"/>
          <p:cNvSpPr/>
          <p:nvPr/>
        </p:nvSpPr>
        <p:spPr>
          <a:xfrm>
            <a:off x="4389120" y="3992880"/>
            <a:ext cx="128016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4102608"/>
            <a:ext cx="7772400" cy="457200"/>
          </a:xfrm>
          <a:prstGeom prst="rect">
            <a:avLst/>
          </a:prstGeom>
          <a:noFill/>
        </p:spPr>
        <p:txBody>
          <a:bodyPr wrap="none">
            <a:spAutoFit/>
          </a:bodyPr>
          <a:lstStyle/>
          <a:p>
            <a:pPr>
              <a:defRPr sz="2400">
                <a:solidFill>
                  <a:srgbClr val="64748B"/>
                </a:solidFill>
                <a:latin typeface="Calibri"/>
              </a:defRPr>
            </a:pPr>
            <a:r>
              <a:t>Foundations of Fake News Detection and Generalization Challenges</a:t>
            </a:r>
          </a:p>
        </p:txBody>
      </p:sp>
      <p:sp>
        <p:nvSpPr>
          <p:cNvPr id="9" name="Rectangle 8"/>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1" name="TextBox 10"/>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Taxonomy of fake news detection methods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2491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The landscape of fake news detection is categorized into three</a:t>
            </a:r>
          </a:p>
          <a:p>
            <a:pPr>
              <a:lnSpc>
                <a:spcPct val="135000"/>
              </a:lnSpc>
              <a:spcAft>
                <a:spcPts val="1000"/>
              </a:spcAft>
              <a:defRPr sz="1600">
                <a:solidFill>
                  <a:srgbClr val="1E293B"/>
                </a:solidFill>
                <a:latin typeface="Calibri"/>
              </a:defRPr>
            </a:pPr>
            <a:r>
              <a:rPr>
                <a:solidFill>
                  <a:srgbClr val="3B82F6"/>
                </a:solidFill>
              </a:rPr>
              <a:t>• primary tiers of complexity.</a:t>
            </a:r>
          </a:p>
          <a:p>
            <a:pPr>
              <a:lnSpc>
                <a:spcPct val="135000"/>
              </a:lnSpc>
              <a:spcAft>
                <a:spcPts val="1000"/>
              </a:spcAft>
              <a:defRPr sz="1600">
                <a:solidFill>
                  <a:srgbClr val="1E293B"/>
                </a:solidFill>
                <a:latin typeface="Calibri"/>
              </a:defRPr>
            </a:pPr>
            <a:r>
              <a:rPr>
                <a:solidFill>
                  <a:srgbClr val="3B82F6"/>
                </a:solidFill>
              </a:rPr>
              <a:t>• First, traditional machine learning methods, such as Logistic</a:t>
            </a:r>
          </a:p>
          <a:p>
            <a:pPr>
              <a:lnSpc>
                <a:spcPct val="135000"/>
              </a:lnSpc>
              <a:spcAft>
                <a:spcPts val="1000"/>
              </a:spcAft>
              <a:defRPr sz="1600">
                <a:solidFill>
                  <a:srgbClr val="1E293B"/>
                </a:solidFill>
                <a:latin typeface="Calibri"/>
              </a:defRPr>
            </a:pPr>
            <a:r>
              <a:rPr>
                <a:solidFill>
                  <a:srgbClr val="3B82F6"/>
                </a:solidFill>
              </a:rPr>
              <a:t>• Regression (LR), Support Vector Machines (SVM), and Naive Bayes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Taxonomy of fake news detection methods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(NB), rely on feature extraction techniques like TF-IDF to</a:t>
            </a:r>
          </a:p>
          <a:p>
            <a:pPr>
              <a:lnSpc>
                <a:spcPct val="135000"/>
              </a:lnSpc>
              <a:spcAft>
                <a:spcPts val="1000"/>
              </a:spcAft>
              <a:defRPr sz="1600">
                <a:solidFill>
                  <a:srgbClr val="1E293B"/>
                </a:solidFill>
                <a:latin typeface="Calibri"/>
              </a:defRPr>
            </a:pPr>
            <a:r>
              <a:rPr>
                <a:solidFill>
                  <a:srgbClr val="3B82F6"/>
                </a:solidFill>
              </a:rPr>
              <a:t>• represent text.</a:t>
            </a:r>
          </a:p>
          <a:p>
            <a:pPr>
              <a:lnSpc>
                <a:spcPct val="135000"/>
              </a:lnSpc>
              <a:spcAft>
                <a:spcPts val="1000"/>
              </a:spcAft>
              <a:defRPr sz="1600">
                <a:solidFill>
                  <a:srgbClr val="1E293B"/>
                </a:solidFill>
                <a:latin typeface="Calibri"/>
              </a:defRPr>
            </a:pPr>
            <a:r>
              <a:rPr>
                <a:solidFill>
                  <a:srgbClr val="3B82F6"/>
                </a:solidFill>
              </a:rPr>
              <a:t>• Second, deep learning architectures, including CNNs and BiLSTMs,</a:t>
            </a:r>
          </a:p>
          <a:p>
            <a:pPr>
              <a:lnSpc>
                <a:spcPct val="135000"/>
              </a:lnSpc>
              <a:spcAft>
                <a:spcPts val="1000"/>
              </a:spcAft>
              <a:defRPr sz="1600">
                <a:solidFill>
                  <a:srgbClr val="1E293B"/>
                </a:solidFill>
                <a:latin typeface="Calibri"/>
              </a:defRPr>
            </a:pPr>
            <a:r>
              <a:rPr>
                <a:solidFill>
                  <a:srgbClr val="3B82F6"/>
                </a:solidFill>
              </a:rPr>
              <a:t>• utilize Word2Vec embeddings to capture sequential patterns.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Taxonomy of fake news detection methods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Third, modern transformer-based models and Large Language Models</a:t>
            </a:r>
          </a:p>
          <a:p>
            <a:pPr>
              <a:lnSpc>
                <a:spcPct val="135000"/>
              </a:lnSpc>
              <a:spcAft>
                <a:spcPts val="1000"/>
              </a:spcAft>
              <a:defRPr sz="1600">
                <a:solidFill>
                  <a:srgbClr val="1E293B"/>
                </a:solidFill>
                <a:latin typeface="Calibri"/>
              </a:defRPr>
            </a:pPr>
            <a:r>
              <a:rPr>
                <a:solidFill>
                  <a:srgbClr val="3B82F6"/>
                </a:solidFill>
              </a:rPr>
              <a:t>• (LLMs) represent the state-of-the-art.</a:t>
            </a:r>
          </a:p>
          <a:p>
            <a:pPr>
              <a:lnSpc>
                <a:spcPct val="135000"/>
              </a:lnSpc>
              <a:spcAft>
                <a:spcPts val="1000"/>
              </a:spcAft>
              <a:defRPr sz="1600">
                <a:solidFill>
                  <a:srgbClr val="1E293B"/>
                </a:solidFill>
                <a:latin typeface="Calibri"/>
              </a:defRPr>
            </a:pPr>
            <a:r>
              <a:rPr>
                <a:solidFill>
                  <a:srgbClr val="3B82F6"/>
                </a:solidFill>
              </a:rPr>
              <a:t>• This includes BERT and DeBERTa, which leverage sophisticated</a:t>
            </a:r>
          </a:p>
          <a:p>
            <a:pPr>
              <a:lnSpc>
                <a:spcPct val="135000"/>
              </a:lnSpc>
              <a:spcAft>
                <a:spcPts val="1000"/>
              </a:spcAft>
              <a:defRPr sz="1600">
                <a:solidFill>
                  <a:srgbClr val="1E293B"/>
                </a:solidFill>
                <a:latin typeface="Calibri"/>
              </a:defRPr>
            </a:pPr>
            <a:r>
              <a:rPr>
                <a:solidFill>
                  <a:srgbClr val="3B82F6"/>
                </a:solidFill>
              </a:rPr>
              <a:t>• contextual embeddings, and generative models like Llama3-8B,</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Taxonomy of fake news detection methods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Qwen3-32B, and Zephyr-7B-beta.</a:t>
            </a:r>
          </a:p>
          <a:p>
            <a:pPr>
              <a:lnSpc>
                <a:spcPct val="135000"/>
              </a:lnSpc>
              <a:spcAft>
                <a:spcPts val="1000"/>
              </a:spcAft>
              <a:defRPr sz="1600">
                <a:solidFill>
                  <a:srgbClr val="1E293B"/>
                </a:solidFill>
                <a:latin typeface="Calibri"/>
              </a:defRPr>
            </a:pPr>
            <a:r>
              <a:rPr>
                <a:solidFill>
                  <a:srgbClr val="3B82F6"/>
                </a:solidFill>
              </a:rPr>
              <a:t>• These methods vary significantly in their architectural</a:t>
            </a:r>
          </a:p>
          <a:p>
            <a:pPr>
              <a:lnSpc>
                <a:spcPct val="135000"/>
              </a:lnSpc>
              <a:spcAft>
                <a:spcPts val="1000"/>
              </a:spcAft>
              <a:defRPr sz="1600">
                <a:solidFill>
                  <a:srgbClr val="1E293B"/>
                </a:solidFill>
                <a:latin typeface="Calibri"/>
              </a:defRPr>
            </a:pPr>
            <a:r>
              <a:rPr>
                <a:solidFill>
                  <a:srgbClr val="3B82F6"/>
                </a:solidFill>
              </a:rPr>
              <a:t>• requirements;</a:t>
            </a:r>
          </a:p>
          <a:p>
            <a:pPr>
              <a:lnSpc>
                <a:spcPct val="135000"/>
              </a:lnSpc>
              <a:spcAft>
                <a:spcPts val="1000"/>
              </a:spcAft>
              <a:defRPr sz="1600">
                <a:solidFill>
                  <a:srgbClr val="1E293B"/>
                </a:solidFill>
                <a:latin typeface="Calibri"/>
              </a:defRPr>
            </a:pPr>
            <a:r>
              <a:rPr>
                <a:solidFill>
                  <a:srgbClr val="3B82F6"/>
                </a:solidFill>
              </a:rPr>
              <a:t>• while traditional models are lightweight and rely on statistical</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Taxonomy of fake news detection methods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word frequency, transformer-based models require fine-tuning on</a:t>
            </a:r>
          </a:p>
          <a:p>
            <a:pPr>
              <a:lnSpc>
                <a:spcPct val="135000"/>
              </a:lnSpc>
              <a:spcAft>
                <a:spcPts val="1000"/>
              </a:spcAft>
              <a:defRPr sz="1600">
                <a:solidFill>
                  <a:srgbClr val="1E293B"/>
                </a:solidFill>
                <a:latin typeface="Calibri"/>
              </a:defRPr>
            </a:pPr>
            <a:r>
              <a:rPr>
                <a:solidFill>
                  <a:srgbClr val="3B82F6"/>
                </a:solidFill>
              </a:rPr>
              <a:t>• large pre-trained weights, and LLMs can be deployed in zero-shot</a:t>
            </a:r>
          </a:p>
          <a:p>
            <a:pPr>
              <a:lnSpc>
                <a:spcPct val="135000"/>
              </a:lnSpc>
              <a:spcAft>
                <a:spcPts val="1000"/>
              </a:spcAft>
              <a:defRPr sz="1600">
                <a:solidFill>
                  <a:srgbClr val="1E293B"/>
                </a:solidFill>
                <a:latin typeface="Calibri"/>
              </a:defRPr>
            </a:pPr>
            <a:r>
              <a:rPr>
                <a:solidFill>
                  <a:srgbClr val="3B82F6"/>
                </a:solidFill>
              </a:rPr>
              <a:t>• or few-shot settings without requiring weight updates.</a:t>
            </a:r>
          </a:p>
          <a:p>
            <a:pPr>
              <a:lnSpc>
                <a:spcPct val="135000"/>
              </a:lnSpc>
              <a:spcAft>
                <a:spcPts val="1000"/>
              </a:spcAft>
              <a:defRPr sz="1600">
                <a:solidFill>
                  <a:srgbClr val="1E293B"/>
                </a:solidFill>
                <a:latin typeface="Calibri"/>
              </a:defRPr>
            </a:pPr>
            <a:r>
              <a:rPr>
                <a:solidFill>
                  <a:srgbClr val="3B82F6"/>
                </a:solidFill>
              </a:rPr>
              <a:t>• Understanding this taxonomy is essential because the choice of</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Taxonomy of fake news detection methods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architecture dictates how the model interprets linguistic nuances</a:t>
            </a:r>
          </a:p>
          <a:p>
            <a:pPr>
              <a:lnSpc>
                <a:spcPct val="135000"/>
              </a:lnSpc>
              <a:spcAft>
                <a:spcPts val="1000"/>
              </a:spcAft>
              <a:defRPr sz="1600">
                <a:solidFill>
                  <a:srgbClr val="1E293B"/>
                </a:solidFill>
                <a:latin typeface="Calibri"/>
              </a:defRPr>
            </a:pPr>
            <a:r>
              <a:rPr>
                <a:solidFill>
                  <a:srgbClr val="3B82F6"/>
                </a:solidFill>
              </a:rPr>
              <a:t>• and handles the inherent noise found in social media data.</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Example: Taxonomy of fake news detection methods</a:t>
            </a:r>
          </a:p>
        </p:txBody>
      </p:sp>
      <p:sp>
        <p:nvSpPr>
          <p:cNvPr id="5" name="Rectangle 4"/>
          <p:cNvSpPr/>
          <p:nvPr/>
        </p:nvSpPr>
        <p:spPr>
          <a:xfrm>
            <a:off x="548640" y="1346200"/>
            <a:ext cx="9144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492504"/>
            <a:ext cx="10874959" cy="213842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92504"/>
            <a:ext cx="64008" cy="213842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2232"/>
            <a:ext cx="1828800" cy="228600"/>
          </a:xfrm>
          <a:prstGeom prst="rect">
            <a:avLst/>
          </a:prstGeom>
          <a:noFill/>
        </p:spPr>
        <p:txBody>
          <a:bodyPr wrap="none">
            <a:spAutoFit/>
          </a:bodyPr>
          <a:lstStyle/>
          <a:p>
            <a:pPr>
              <a:defRPr sz="1100" b="1">
                <a:solidFill>
                  <a:srgbClr val="F59E0B"/>
                </a:solidFill>
                <a:latin typeface="Calibri"/>
              </a:defRPr>
            </a:pPr>
            <a:r>
              <a:t>EXAMPLE</a:t>
            </a:r>
          </a:p>
        </p:txBody>
      </p:sp>
      <p:sp>
        <p:nvSpPr>
          <p:cNvPr id="9" name="TextBox 8"/>
          <p:cNvSpPr txBox="1"/>
          <p:nvPr/>
        </p:nvSpPr>
        <p:spPr>
          <a:xfrm>
            <a:off x="868680" y="1839976"/>
            <a:ext cx="10545775" cy="4572000"/>
          </a:xfrm>
          <a:prstGeom prst="rect">
            <a:avLst/>
          </a:prstGeom>
          <a:noFill/>
        </p:spPr>
        <p:txBody>
          <a:bodyPr wrap="square">
            <a:spAutoFit/>
          </a:bodyPr>
          <a:lstStyle/>
          <a:p>
            <a:pPr>
              <a:lnSpc>
                <a:spcPct val="135000"/>
              </a:lnSpc>
              <a:spcAft>
                <a:spcPts val="1000"/>
              </a:spcAft>
              <a:defRPr sz="1600" i="1">
                <a:solidFill>
                  <a:srgbClr val="1E293B"/>
                </a:solidFill>
                <a:latin typeface="Calibri"/>
              </a:defRPr>
            </a:pPr>
            <a:r>
              <a:t>The study systematically benchmarks 12 representative methods, ranging from traditional algorithms like NB and SVM to advanced architectures like CNN-BERT, MERMAID, and LLMs such as Llama3-8B and Qwen3-32B, providing a comprehensive view of the detection ecosystem.</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768096"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768096" cy="292608"/>
          </a:xfrm>
          <a:prstGeom prst="rect">
            <a:avLst/>
          </a:prstGeom>
          <a:noFill/>
        </p:spPr>
        <p:txBody>
          <a:bodyPr wrap="none">
            <a:spAutoFit/>
          </a:bodyPr>
          <a:lstStyle/>
          <a:p>
            <a:pPr algn="ctr">
              <a:defRPr sz="1100" b="1">
                <a:solidFill>
                  <a:srgbClr val="FFFFFF"/>
                </a:solidFill>
                <a:latin typeface="Calibri"/>
              </a:defRPr>
            </a:pPr>
            <a:r>
              <a:t>TF-IDF</a:t>
            </a:r>
          </a:p>
        </p:txBody>
      </p:sp>
      <p:sp>
        <p:nvSpPr>
          <p:cNvPr id="9" name="TextBox 8"/>
          <p:cNvSpPr txBox="1"/>
          <p:nvPr/>
        </p:nvSpPr>
        <p:spPr>
          <a:xfrm>
            <a:off x="1453896" y="1157731"/>
            <a:ext cx="4032504" cy="1945640"/>
          </a:xfrm>
          <a:prstGeom prst="rect">
            <a:avLst/>
          </a:prstGeom>
          <a:noFill/>
        </p:spPr>
        <p:txBody>
          <a:bodyPr wrap="square">
            <a:spAutoFit/>
          </a:bodyPr>
          <a:lstStyle/>
          <a:p>
            <a:pPr>
              <a:lnSpc>
                <a:spcPct val="130000"/>
              </a:lnSpc>
              <a:defRPr sz="1400">
                <a:solidFill>
                  <a:srgbClr val="1E293B"/>
                </a:solidFill>
                <a:latin typeface="Calibri"/>
              </a:defRPr>
            </a:pPr>
            <a:r>
              <a:t>A statistical measure used to evaluate the importance of a word in a document relative to a collection of documents.</a:t>
            </a:r>
          </a:p>
        </p:txBody>
      </p:sp>
      <p:sp>
        <p:nvSpPr>
          <p:cNvPr id="10" name="Rounded Rectangle 9"/>
          <p:cNvSpPr/>
          <p:nvPr/>
        </p:nvSpPr>
        <p:spPr>
          <a:xfrm>
            <a:off x="5943600" y="1048004"/>
            <a:ext cx="5120640" cy="240512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185164"/>
            <a:ext cx="932688"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203452"/>
            <a:ext cx="932688" cy="292608"/>
          </a:xfrm>
          <a:prstGeom prst="rect">
            <a:avLst/>
          </a:prstGeom>
          <a:noFill/>
        </p:spPr>
        <p:txBody>
          <a:bodyPr wrap="none">
            <a:spAutoFit/>
          </a:bodyPr>
          <a:lstStyle/>
          <a:p>
            <a:pPr algn="ctr">
              <a:defRPr sz="1100" b="1">
                <a:solidFill>
                  <a:srgbClr val="FFFFFF"/>
                </a:solidFill>
                <a:latin typeface="Calibri"/>
              </a:defRPr>
            </a:pPr>
            <a:r>
              <a:t>Word2Vec</a:t>
            </a:r>
          </a:p>
        </p:txBody>
      </p:sp>
      <p:sp>
        <p:nvSpPr>
          <p:cNvPr id="13" name="TextBox 12"/>
          <p:cNvSpPr txBox="1"/>
          <p:nvPr/>
        </p:nvSpPr>
        <p:spPr>
          <a:xfrm>
            <a:off x="7013448" y="1157731"/>
            <a:ext cx="3867912" cy="2185669"/>
          </a:xfrm>
          <a:prstGeom prst="rect">
            <a:avLst/>
          </a:prstGeom>
          <a:noFill/>
        </p:spPr>
        <p:txBody>
          <a:bodyPr wrap="square">
            <a:spAutoFit/>
          </a:bodyPr>
          <a:lstStyle/>
          <a:p>
            <a:pPr>
              <a:lnSpc>
                <a:spcPct val="130000"/>
              </a:lnSpc>
              <a:defRPr sz="1400">
                <a:solidFill>
                  <a:srgbClr val="1E293B"/>
                </a:solidFill>
                <a:latin typeface="Calibri"/>
              </a:defRPr>
            </a:pPr>
            <a:r>
              <a:t>A neural network-based technique for generating word embeddings that capture semantic relationships.</a:t>
            </a:r>
          </a:p>
        </p:txBody>
      </p:sp>
      <p:sp>
        <p:nvSpPr>
          <p:cNvPr id="14" name="Rounded Rectangle 13"/>
          <p:cNvSpPr/>
          <p:nvPr/>
        </p:nvSpPr>
        <p:spPr>
          <a:xfrm>
            <a:off x="548640" y="3350260"/>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3487420"/>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505708"/>
            <a:ext cx="1645920" cy="292608"/>
          </a:xfrm>
          <a:prstGeom prst="rect">
            <a:avLst/>
          </a:prstGeom>
          <a:noFill/>
        </p:spPr>
        <p:txBody>
          <a:bodyPr wrap="none">
            <a:spAutoFit/>
          </a:bodyPr>
          <a:lstStyle/>
          <a:p>
            <a:pPr algn="ctr">
              <a:defRPr sz="1100" b="1">
                <a:solidFill>
                  <a:srgbClr val="FFFFFF"/>
                </a:solidFill>
                <a:latin typeface="Calibri"/>
              </a:defRPr>
            </a:pPr>
            <a:r>
              <a:t>Transformer-based models</a:t>
            </a:r>
          </a:p>
        </p:txBody>
      </p:sp>
      <p:sp>
        <p:nvSpPr>
          <p:cNvPr id="17" name="TextBox 16"/>
          <p:cNvSpPr txBox="1"/>
          <p:nvPr/>
        </p:nvSpPr>
        <p:spPr>
          <a:xfrm>
            <a:off x="2331720" y="3459988"/>
            <a:ext cx="3154680" cy="1945640"/>
          </a:xfrm>
          <a:prstGeom prst="rect">
            <a:avLst/>
          </a:prstGeom>
          <a:noFill/>
        </p:spPr>
        <p:txBody>
          <a:bodyPr wrap="square">
            <a:spAutoFit/>
          </a:bodyPr>
          <a:lstStyle/>
          <a:p>
            <a:pPr>
              <a:lnSpc>
                <a:spcPct val="130000"/>
              </a:lnSpc>
              <a:defRPr sz="1400">
                <a:solidFill>
                  <a:srgbClr val="1E293B"/>
                </a:solidFill>
                <a:latin typeface="Calibri"/>
              </a:defRPr>
            </a:pPr>
            <a:r>
              <a:t>Deep learning architectures that use self-attention mechanisms to process sequential data, such as BERT and DeBERTa.</a:t>
            </a:r>
          </a:p>
        </p:txBody>
      </p:sp>
      <p:sp>
        <p:nvSpPr>
          <p:cNvPr id="18" name="Rounded Rectangle 17"/>
          <p:cNvSpPr/>
          <p:nvPr/>
        </p:nvSpPr>
        <p:spPr>
          <a:xfrm>
            <a:off x="594360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3247389"/>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265677"/>
            <a:ext cx="1645920" cy="292608"/>
          </a:xfrm>
          <a:prstGeom prst="rect">
            <a:avLst/>
          </a:prstGeom>
          <a:noFill/>
        </p:spPr>
        <p:txBody>
          <a:bodyPr wrap="none">
            <a:spAutoFit/>
          </a:bodyPr>
          <a:lstStyle/>
          <a:p>
            <a:pPr algn="ctr">
              <a:defRPr sz="1100" b="1">
                <a:solidFill>
                  <a:srgbClr val="FFFFFF"/>
                </a:solidFill>
                <a:latin typeface="Calibri"/>
              </a:defRPr>
            </a:pPr>
            <a:r>
              <a:t>Zero-shot setting</a:t>
            </a:r>
          </a:p>
        </p:txBody>
      </p:sp>
      <p:sp>
        <p:nvSpPr>
          <p:cNvPr id="21" name="TextBox 20"/>
          <p:cNvSpPr txBox="1"/>
          <p:nvPr/>
        </p:nvSpPr>
        <p:spPr>
          <a:xfrm>
            <a:off x="7726680" y="3219958"/>
            <a:ext cx="3154680" cy="1705610"/>
          </a:xfrm>
          <a:prstGeom prst="rect">
            <a:avLst/>
          </a:prstGeom>
          <a:noFill/>
        </p:spPr>
        <p:txBody>
          <a:bodyPr wrap="square">
            <a:spAutoFit/>
          </a:bodyPr>
          <a:lstStyle/>
          <a:p>
            <a:pPr>
              <a:lnSpc>
                <a:spcPct val="130000"/>
              </a:lnSpc>
              <a:defRPr sz="1400">
                <a:solidFill>
                  <a:srgbClr val="1E293B"/>
                </a:solidFill>
                <a:latin typeface="Calibri"/>
              </a:defRPr>
            </a:pPr>
            <a:r>
              <a:t>A scenario where a model makes predictions on classes or tasks it has never seen during training.</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645920" cy="292608"/>
          </a:xfrm>
          <a:prstGeom prst="rect">
            <a:avLst/>
          </a:prstGeom>
          <a:noFill/>
        </p:spPr>
        <p:txBody>
          <a:bodyPr wrap="none">
            <a:spAutoFit/>
          </a:bodyPr>
          <a:lstStyle/>
          <a:p>
            <a:pPr algn="ctr">
              <a:defRPr sz="1100" b="1">
                <a:solidFill>
                  <a:srgbClr val="FFFFFF"/>
                </a:solidFill>
                <a:latin typeface="Calibri"/>
              </a:defRPr>
            </a:pPr>
            <a:r>
              <a:t>Few-shot prompting</a:t>
            </a:r>
          </a:p>
        </p:txBody>
      </p:sp>
      <p:sp>
        <p:nvSpPr>
          <p:cNvPr id="9" name="TextBox 8"/>
          <p:cNvSpPr txBox="1"/>
          <p:nvPr/>
        </p:nvSpPr>
        <p:spPr>
          <a:xfrm>
            <a:off x="2331720" y="1157731"/>
            <a:ext cx="3154680" cy="1705610"/>
          </a:xfrm>
          <a:prstGeom prst="rect">
            <a:avLst/>
          </a:prstGeom>
          <a:noFill/>
        </p:spPr>
        <p:txBody>
          <a:bodyPr wrap="square">
            <a:spAutoFit/>
          </a:bodyPr>
          <a:lstStyle/>
          <a:p>
            <a:pPr>
              <a:lnSpc>
                <a:spcPct val="130000"/>
              </a:lnSpc>
              <a:defRPr sz="1400">
                <a:solidFill>
                  <a:srgbClr val="1E293B"/>
                </a:solidFill>
                <a:latin typeface="Calibri"/>
              </a:defRPr>
            </a:pPr>
            <a:r>
              <a:t>Providing a language model with a small number of examples to guide its predictions on new tasks.</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835121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34440" y="2651760"/>
            <a:ext cx="1280160" cy="1280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926080"/>
            <a:ext cx="914400" cy="731520"/>
          </a:xfrm>
          <a:prstGeom prst="rect">
            <a:avLst/>
          </a:prstGeom>
          <a:noFill/>
        </p:spPr>
        <p:txBody>
          <a:bodyPr wrap="none">
            <a:spAutoFit/>
          </a:bodyPr>
          <a:lstStyle/>
          <a:p>
            <a:pPr algn="ctr">
              <a:defRPr sz="4400">
                <a:solidFill>
                  <a:srgbClr val="FFFFFF"/>
                </a:solidFill>
                <a:latin typeface="Calibri"/>
              </a:defRPr>
            </a:pPr>
            <a:r>
              <a:t>§</a:t>
            </a:r>
          </a:p>
        </p:txBody>
      </p:sp>
      <p:sp>
        <p:nvSpPr>
          <p:cNvPr id="6" name="TextBox 5"/>
          <p:cNvSpPr txBox="1"/>
          <p:nvPr/>
        </p:nvSpPr>
        <p:spPr>
          <a:xfrm>
            <a:off x="4389120" y="2468880"/>
            <a:ext cx="7772400" cy="1478280"/>
          </a:xfrm>
          <a:prstGeom prst="rect">
            <a:avLst/>
          </a:prstGeom>
          <a:noFill/>
        </p:spPr>
        <p:txBody>
          <a:bodyPr wrap="square">
            <a:spAutoFit/>
          </a:bodyPr>
          <a:lstStyle/>
          <a:p>
            <a:pPr>
              <a:defRPr sz="4400" b="1">
                <a:solidFill>
                  <a:srgbClr val="1E293B"/>
                </a:solidFill>
                <a:latin typeface="Calibri"/>
              </a:defRPr>
            </a:pPr>
            <a:r>
              <a:t>The domain shift problem in social media</a:t>
            </a:r>
          </a:p>
        </p:txBody>
      </p:sp>
      <p:sp>
        <p:nvSpPr>
          <p:cNvPr id="7" name="Rectangle 6"/>
          <p:cNvSpPr/>
          <p:nvPr/>
        </p:nvSpPr>
        <p:spPr>
          <a:xfrm>
            <a:off x="4389120" y="3992880"/>
            <a:ext cx="128016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4102608"/>
            <a:ext cx="7772400" cy="457200"/>
          </a:xfrm>
          <a:prstGeom prst="rect">
            <a:avLst/>
          </a:prstGeom>
          <a:noFill/>
        </p:spPr>
        <p:txBody>
          <a:bodyPr wrap="none">
            <a:spAutoFit/>
          </a:bodyPr>
          <a:lstStyle/>
          <a:p>
            <a:pPr>
              <a:defRPr sz="2400">
                <a:solidFill>
                  <a:srgbClr val="64748B"/>
                </a:solidFill>
                <a:latin typeface="Calibri"/>
              </a:defRPr>
            </a:pPr>
            <a:r>
              <a:t>Foundations of Fake News Detection and Generalization Challenges</a:t>
            </a:r>
          </a:p>
        </p:txBody>
      </p:sp>
      <p:sp>
        <p:nvSpPr>
          <p:cNvPr id="9" name="Rectangle 8"/>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1" name="TextBox 10"/>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The domain shift problem in social media</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2491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The domain shift problem refers to the critical failure of</a:t>
            </a:r>
          </a:p>
          <a:p>
            <a:pPr>
              <a:lnSpc>
                <a:spcPct val="135000"/>
              </a:lnSpc>
              <a:spcAft>
                <a:spcPts val="1000"/>
              </a:spcAft>
              <a:defRPr sz="1600">
                <a:solidFill>
                  <a:srgbClr val="1E293B"/>
                </a:solidFill>
                <a:latin typeface="Calibri"/>
              </a:defRPr>
            </a:pPr>
            <a:r>
              <a:rPr>
                <a:solidFill>
                  <a:srgbClr val="3B82F6"/>
                </a:solidFill>
              </a:rPr>
              <a:t>• detection models to maintain performance when moving from one</a:t>
            </a:r>
          </a:p>
          <a:p>
            <a:pPr>
              <a:lnSpc>
                <a:spcPct val="135000"/>
              </a:lnSpc>
              <a:spcAft>
                <a:spcPts val="1000"/>
              </a:spcAft>
              <a:defRPr sz="1600">
                <a:solidFill>
                  <a:srgbClr val="1E293B"/>
                </a:solidFill>
                <a:latin typeface="Calibri"/>
              </a:defRPr>
            </a:pPr>
            <a:r>
              <a:rPr>
                <a:solidFill>
                  <a:srgbClr val="3B82F6"/>
                </a:solidFill>
              </a:rPr>
              <a:t>• dataset to another.</a:t>
            </a:r>
          </a:p>
          <a:p>
            <a:pPr>
              <a:lnSpc>
                <a:spcPct val="135000"/>
              </a:lnSpc>
              <a:spcAft>
                <a:spcPts val="1000"/>
              </a:spcAft>
              <a:defRPr sz="1600">
                <a:solidFill>
                  <a:srgbClr val="1E293B"/>
                </a:solidFill>
                <a:latin typeface="Calibri"/>
              </a:defRPr>
            </a:pPr>
            <a:r>
              <a:rPr>
                <a:solidFill>
                  <a:srgbClr val="3B82F6"/>
                </a:solidFill>
              </a:rPr>
              <a:t>• In social media, fact-checking and labeling policies are highly</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The domain shift problem in social media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heterogeneous;</a:t>
            </a:r>
          </a:p>
          <a:p>
            <a:pPr>
              <a:lnSpc>
                <a:spcPct val="135000"/>
              </a:lnSpc>
              <a:spcAft>
                <a:spcPts val="1000"/>
              </a:spcAft>
              <a:defRPr sz="1600">
                <a:solidFill>
                  <a:srgbClr val="1E293B"/>
                </a:solidFill>
                <a:latin typeface="Calibri"/>
              </a:defRPr>
            </a:pPr>
            <a:r>
              <a:rPr>
                <a:solidFill>
                  <a:srgbClr val="3B82F6"/>
                </a:solidFill>
              </a:rPr>
              <a:t>• a model trained on political news may fail when applied to</a:t>
            </a:r>
          </a:p>
          <a:p>
            <a:pPr>
              <a:lnSpc>
                <a:spcPct val="135000"/>
              </a:lnSpc>
              <a:spcAft>
                <a:spcPts val="1000"/>
              </a:spcAft>
              <a:defRPr sz="1600">
                <a:solidFill>
                  <a:srgbClr val="1E293B"/>
                </a:solidFill>
                <a:latin typeface="Calibri"/>
              </a:defRPr>
            </a:pPr>
            <a:r>
              <a:rPr>
                <a:solidFill>
                  <a:srgbClr val="3B82F6"/>
                </a:solidFill>
              </a:rPr>
              <a:t>• health-related misinformation due to differences in vocabulary,</a:t>
            </a:r>
          </a:p>
          <a:p>
            <a:pPr>
              <a:lnSpc>
                <a:spcPct val="135000"/>
              </a:lnSpc>
              <a:spcAft>
                <a:spcPts val="1000"/>
              </a:spcAft>
              <a:defRPr sz="1600">
                <a:solidFill>
                  <a:srgbClr val="1E293B"/>
                </a:solidFill>
                <a:latin typeface="Calibri"/>
              </a:defRPr>
            </a:pPr>
            <a:r>
              <a:rPr>
                <a:solidFill>
                  <a:srgbClr val="3B82F6"/>
                </a:solidFill>
              </a:rPr>
              <a:t>• tone, and the underlying criteria for what constitutes 'fake'</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The domain shift problem in social media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news.</a:t>
            </a:r>
          </a:p>
          <a:p>
            <a:pPr>
              <a:lnSpc>
                <a:spcPct val="135000"/>
              </a:lnSpc>
              <a:spcAft>
                <a:spcPts val="1000"/>
              </a:spcAft>
              <a:defRPr sz="1600">
                <a:solidFill>
                  <a:srgbClr val="1E293B"/>
                </a:solidFill>
                <a:latin typeface="Calibri"/>
              </a:defRPr>
            </a:pPr>
            <a:r>
              <a:rPr>
                <a:solidFill>
                  <a:srgbClr val="3B82F6"/>
                </a:solidFill>
              </a:rPr>
              <a:t>• This lack of cross-domain generalization is a primary obstacle in</a:t>
            </a:r>
          </a:p>
          <a:p>
            <a:pPr>
              <a:lnSpc>
                <a:spcPct val="135000"/>
              </a:lnSpc>
              <a:spcAft>
                <a:spcPts val="1000"/>
              </a:spcAft>
              <a:defRPr sz="1600">
                <a:solidFill>
                  <a:srgbClr val="1E293B"/>
                </a:solidFill>
                <a:latin typeface="Calibri"/>
              </a:defRPr>
            </a:pPr>
            <a:r>
              <a:rPr>
                <a:solidFill>
                  <a:srgbClr val="3B82F6"/>
                </a:solidFill>
              </a:rPr>
              <a:t>• real-world deployment.</a:t>
            </a:r>
          </a:p>
          <a:p>
            <a:pPr>
              <a:lnSpc>
                <a:spcPct val="135000"/>
              </a:lnSpc>
              <a:spcAft>
                <a:spcPts val="1000"/>
              </a:spcAft>
              <a:defRPr sz="1600">
                <a:solidFill>
                  <a:srgbClr val="1E293B"/>
                </a:solidFill>
                <a:latin typeface="Calibri"/>
              </a:defRPr>
            </a:pPr>
            <a:r>
              <a:rPr>
                <a:solidFill>
                  <a:srgbClr val="3B82F6"/>
                </a:solidFill>
              </a:rPr>
              <a:t>• Because social media platforms lack centralized control and</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The domain shift problem in social media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consistent fact-checking mechanisms, models often overfit to the</a:t>
            </a:r>
          </a:p>
          <a:p>
            <a:pPr>
              <a:lnSpc>
                <a:spcPct val="135000"/>
              </a:lnSpc>
              <a:spcAft>
                <a:spcPts val="1000"/>
              </a:spcAft>
              <a:defRPr sz="1600">
                <a:solidFill>
                  <a:srgbClr val="1E293B"/>
                </a:solidFill>
                <a:latin typeface="Calibri"/>
              </a:defRPr>
            </a:pPr>
            <a:r>
              <a:rPr>
                <a:solidFill>
                  <a:srgbClr val="3B82F6"/>
                </a:solidFill>
              </a:rPr>
              <a:t>• specific biases or labeling styles of their training data.</a:t>
            </a:r>
          </a:p>
          <a:p>
            <a:pPr>
              <a:lnSpc>
                <a:spcPct val="135000"/>
              </a:lnSpc>
              <a:spcAft>
                <a:spcPts val="1000"/>
              </a:spcAft>
              <a:defRPr sz="1600">
                <a:solidFill>
                  <a:srgbClr val="1E293B"/>
                </a:solidFill>
                <a:latin typeface="Calibri"/>
              </a:defRPr>
            </a:pPr>
            <a:r>
              <a:rPr>
                <a:solidFill>
                  <a:srgbClr val="3B82F6"/>
                </a:solidFill>
              </a:rPr>
              <a:t>• When these models encounter new, unseen domains, their predictive</a:t>
            </a:r>
          </a:p>
          <a:p>
            <a:pPr>
              <a:lnSpc>
                <a:spcPct val="135000"/>
              </a:lnSpc>
              <a:spcAft>
                <a:spcPts val="1000"/>
              </a:spcAft>
              <a:defRPr sz="1600">
                <a:solidFill>
                  <a:srgbClr val="1E293B"/>
                </a:solidFill>
                <a:latin typeface="Calibri"/>
              </a:defRPr>
            </a:pPr>
            <a:r>
              <a:rPr>
                <a:solidFill>
                  <a:srgbClr val="3B82F6"/>
                </a:solidFill>
              </a:rPr>
              <a:t>• accuracy drops significantly.</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The domain shift problem in social media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The study addresses this by testing models across 10</a:t>
            </a:r>
          </a:p>
          <a:p>
            <a:pPr>
              <a:lnSpc>
                <a:spcPct val="135000"/>
              </a:lnSpc>
              <a:spcAft>
                <a:spcPts val="1000"/>
              </a:spcAft>
              <a:defRPr sz="1600">
                <a:solidFill>
                  <a:srgbClr val="1E293B"/>
                </a:solidFill>
                <a:latin typeface="Calibri"/>
              </a:defRPr>
            </a:pPr>
            <a:r>
              <a:rPr>
                <a:solidFill>
                  <a:srgbClr val="3B82F6"/>
                </a:solidFill>
              </a:rPr>
              <a:t>• heterogeneous datasets, simulating real-world scenarios where the</a:t>
            </a:r>
          </a:p>
          <a:p>
            <a:pPr>
              <a:lnSpc>
                <a:spcPct val="135000"/>
              </a:lnSpc>
              <a:spcAft>
                <a:spcPts val="1000"/>
              </a:spcAft>
              <a:defRPr sz="1600">
                <a:solidFill>
                  <a:srgbClr val="1E293B"/>
                </a:solidFill>
                <a:latin typeface="Calibri"/>
              </a:defRPr>
            </a:pPr>
            <a:r>
              <a:rPr>
                <a:solidFill>
                  <a:srgbClr val="3B82F6"/>
                </a:solidFill>
              </a:rPr>
              <a:t>• distribution of data is constantly changing, thereby highlighting</a:t>
            </a:r>
          </a:p>
          <a:p>
            <a:pPr>
              <a:lnSpc>
                <a:spcPct val="135000"/>
              </a:lnSpc>
              <a:spcAft>
                <a:spcPts val="1000"/>
              </a:spcAft>
              <a:defRPr sz="1600">
                <a:solidFill>
                  <a:srgbClr val="1E293B"/>
                </a:solidFill>
                <a:latin typeface="Calibri"/>
              </a:defRPr>
            </a:pPr>
            <a:r>
              <a:rPr>
                <a:solidFill>
                  <a:srgbClr val="3B82F6"/>
                </a:solidFill>
              </a:rPr>
              <a:t>• the fragility of standard approaches that lack robust</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The domain shift problem in social media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generalization capabilities.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Example: The domain shift problem in social media</a:t>
            </a:r>
          </a:p>
        </p:txBody>
      </p:sp>
      <p:sp>
        <p:nvSpPr>
          <p:cNvPr id="5" name="Rectangle 4"/>
          <p:cNvSpPr/>
          <p:nvPr/>
        </p:nvSpPr>
        <p:spPr>
          <a:xfrm>
            <a:off x="548640" y="1346200"/>
            <a:ext cx="9144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492504"/>
            <a:ext cx="10874959" cy="213842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92504"/>
            <a:ext cx="64008" cy="213842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2232"/>
            <a:ext cx="1828800" cy="228600"/>
          </a:xfrm>
          <a:prstGeom prst="rect">
            <a:avLst/>
          </a:prstGeom>
          <a:noFill/>
        </p:spPr>
        <p:txBody>
          <a:bodyPr wrap="none">
            <a:spAutoFit/>
          </a:bodyPr>
          <a:lstStyle/>
          <a:p>
            <a:pPr>
              <a:defRPr sz="1100" b="1">
                <a:solidFill>
                  <a:srgbClr val="F59E0B"/>
                </a:solidFill>
                <a:latin typeface="Calibri"/>
              </a:defRPr>
            </a:pPr>
            <a:r>
              <a:t>EXAMPLE</a:t>
            </a:r>
          </a:p>
        </p:txBody>
      </p:sp>
      <p:sp>
        <p:nvSpPr>
          <p:cNvPr id="9" name="TextBox 8"/>
          <p:cNvSpPr txBox="1"/>
          <p:nvPr/>
        </p:nvSpPr>
        <p:spPr>
          <a:xfrm>
            <a:off x="868680" y="1839976"/>
            <a:ext cx="10545775" cy="4572000"/>
          </a:xfrm>
          <a:prstGeom prst="rect">
            <a:avLst/>
          </a:prstGeom>
          <a:noFill/>
        </p:spPr>
        <p:txBody>
          <a:bodyPr wrap="square">
            <a:spAutoFit/>
          </a:bodyPr>
          <a:lstStyle/>
          <a:p>
            <a:pPr>
              <a:lnSpc>
                <a:spcPct val="135000"/>
              </a:lnSpc>
              <a:spcAft>
                <a:spcPts val="1000"/>
              </a:spcAft>
              <a:defRPr sz="1600" i="1">
                <a:solidFill>
                  <a:srgbClr val="1E293B"/>
                </a:solidFill>
                <a:latin typeface="Calibri"/>
              </a:defRPr>
            </a:pPr>
            <a:r>
              <a:t>The research identifies a critical failure in generalization for most standard approaches, noting that while fine-tuned models perform well in-domain, they struggle significantly when evaluated in cross-domain settings, necessitating the exploration of more robust architectures.</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261872"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261872" cy="292608"/>
          </a:xfrm>
          <a:prstGeom prst="rect">
            <a:avLst/>
          </a:prstGeom>
          <a:noFill/>
        </p:spPr>
        <p:txBody>
          <a:bodyPr wrap="none">
            <a:spAutoFit/>
          </a:bodyPr>
          <a:lstStyle/>
          <a:p>
            <a:pPr algn="ctr">
              <a:defRPr sz="1100" b="1">
                <a:solidFill>
                  <a:srgbClr val="FFFFFF"/>
                </a:solidFill>
                <a:latin typeface="Calibri"/>
              </a:defRPr>
            </a:pPr>
            <a:r>
              <a:t>Domain shift</a:t>
            </a:r>
          </a:p>
        </p:txBody>
      </p:sp>
      <p:sp>
        <p:nvSpPr>
          <p:cNvPr id="9" name="TextBox 8"/>
          <p:cNvSpPr txBox="1"/>
          <p:nvPr/>
        </p:nvSpPr>
        <p:spPr>
          <a:xfrm>
            <a:off x="1947672" y="1157731"/>
            <a:ext cx="3538728" cy="1945640"/>
          </a:xfrm>
          <a:prstGeom prst="rect">
            <a:avLst/>
          </a:prstGeom>
          <a:noFill/>
        </p:spPr>
        <p:txBody>
          <a:bodyPr wrap="square">
            <a:spAutoFit/>
          </a:bodyPr>
          <a:lstStyle/>
          <a:p>
            <a:pPr>
              <a:lnSpc>
                <a:spcPct val="130000"/>
              </a:lnSpc>
              <a:defRPr sz="1400">
                <a:solidFill>
                  <a:srgbClr val="1E293B"/>
                </a:solidFill>
                <a:latin typeface="Calibri"/>
              </a:defRPr>
            </a:pPr>
            <a:r>
              <a:t>The degradation in model performance when applied to data from a different distribution than the training data.</a:t>
            </a:r>
          </a:p>
        </p:txBody>
      </p:sp>
      <p:sp>
        <p:nvSpPr>
          <p:cNvPr id="10" name="Rounded Rectangle 9"/>
          <p:cNvSpPr/>
          <p:nvPr/>
        </p:nvSpPr>
        <p:spPr>
          <a:xfrm>
            <a:off x="5943600" y="1048004"/>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203452"/>
            <a:ext cx="1645920" cy="292608"/>
          </a:xfrm>
          <a:prstGeom prst="rect">
            <a:avLst/>
          </a:prstGeom>
          <a:noFill/>
        </p:spPr>
        <p:txBody>
          <a:bodyPr wrap="none">
            <a:spAutoFit/>
          </a:bodyPr>
          <a:lstStyle/>
          <a:p>
            <a:pPr algn="ctr">
              <a:defRPr sz="1100" b="1">
                <a:solidFill>
                  <a:srgbClr val="FFFFFF"/>
                </a:solidFill>
                <a:latin typeface="Calibri"/>
              </a:defRPr>
            </a:pPr>
            <a:r>
              <a:t>Cross-domain generalization</a:t>
            </a:r>
          </a:p>
        </p:txBody>
      </p:sp>
      <p:sp>
        <p:nvSpPr>
          <p:cNvPr id="13" name="TextBox 12"/>
          <p:cNvSpPr txBox="1"/>
          <p:nvPr/>
        </p:nvSpPr>
        <p:spPr>
          <a:xfrm>
            <a:off x="7726680" y="1157731"/>
            <a:ext cx="3154680" cy="1945640"/>
          </a:xfrm>
          <a:prstGeom prst="rect">
            <a:avLst/>
          </a:prstGeom>
          <a:noFill/>
        </p:spPr>
        <p:txBody>
          <a:bodyPr wrap="square">
            <a:spAutoFit/>
          </a:bodyPr>
          <a:lstStyle/>
          <a:p>
            <a:pPr>
              <a:lnSpc>
                <a:spcPct val="130000"/>
              </a:lnSpc>
              <a:defRPr sz="1400">
                <a:solidFill>
                  <a:srgbClr val="1E293B"/>
                </a:solidFill>
                <a:latin typeface="Calibri"/>
              </a:defRPr>
            </a:pPr>
            <a:r>
              <a:t>The ability of a model to perform well on datasets from different domains than those it was trained on.</a:t>
            </a:r>
          </a:p>
        </p:txBody>
      </p:sp>
      <p:sp>
        <p:nvSpPr>
          <p:cNvPr id="14" name="Rounded Rectangle 13"/>
          <p:cNvSpPr/>
          <p:nvPr/>
        </p:nvSpPr>
        <p:spPr>
          <a:xfrm>
            <a:off x="54864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3247389"/>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265677"/>
            <a:ext cx="1645920" cy="292608"/>
          </a:xfrm>
          <a:prstGeom prst="rect">
            <a:avLst/>
          </a:prstGeom>
          <a:noFill/>
        </p:spPr>
        <p:txBody>
          <a:bodyPr wrap="none">
            <a:spAutoFit/>
          </a:bodyPr>
          <a:lstStyle/>
          <a:p>
            <a:pPr algn="ctr">
              <a:defRPr sz="1100" b="1">
                <a:solidFill>
                  <a:srgbClr val="FFFFFF"/>
                </a:solidFill>
                <a:latin typeface="Calibri"/>
              </a:defRPr>
            </a:pPr>
            <a:r>
              <a:t>Heterogeneous datasets</a:t>
            </a:r>
          </a:p>
        </p:txBody>
      </p:sp>
      <p:sp>
        <p:nvSpPr>
          <p:cNvPr id="17" name="TextBox 16"/>
          <p:cNvSpPr txBox="1"/>
          <p:nvPr/>
        </p:nvSpPr>
        <p:spPr>
          <a:xfrm>
            <a:off x="2331720" y="3219958"/>
            <a:ext cx="3154680" cy="1705610"/>
          </a:xfrm>
          <a:prstGeom prst="rect">
            <a:avLst/>
          </a:prstGeom>
          <a:noFill/>
        </p:spPr>
        <p:txBody>
          <a:bodyPr wrap="square">
            <a:spAutoFit/>
          </a:bodyPr>
          <a:lstStyle/>
          <a:p>
            <a:pPr>
              <a:lnSpc>
                <a:spcPct val="130000"/>
              </a:lnSpc>
              <a:defRPr sz="1400">
                <a:solidFill>
                  <a:srgbClr val="1E293B"/>
                </a:solidFill>
                <a:latin typeface="Calibri"/>
              </a:defRPr>
            </a:pPr>
            <a:r>
              <a:t>Collections of data that vary significantly in source, format, or labeling criteria.</a:t>
            </a:r>
          </a:p>
        </p:txBody>
      </p:sp>
      <p:sp>
        <p:nvSpPr>
          <p:cNvPr id="18" name="Rounded Rectangle 17"/>
          <p:cNvSpPr/>
          <p:nvPr/>
        </p:nvSpPr>
        <p:spPr>
          <a:xfrm>
            <a:off x="5943600" y="3350260"/>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3487420"/>
            <a:ext cx="1179576"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505708"/>
            <a:ext cx="1179576" cy="292608"/>
          </a:xfrm>
          <a:prstGeom prst="rect">
            <a:avLst/>
          </a:prstGeom>
          <a:noFill/>
        </p:spPr>
        <p:txBody>
          <a:bodyPr wrap="none">
            <a:spAutoFit/>
          </a:bodyPr>
          <a:lstStyle/>
          <a:p>
            <a:pPr algn="ctr">
              <a:defRPr sz="1100" b="1">
                <a:solidFill>
                  <a:srgbClr val="FFFFFF"/>
                </a:solidFill>
                <a:latin typeface="Calibri"/>
              </a:defRPr>
            </a:pPr>
            <a:r>
              <a:t>Overfitting</a:t>
            </a:r>
          </a:p>
        </p:txBody>
      </p:sp>
      <p:sp>
        <p:nvSpPr>
          <p:cNvPr id="21" name="TextBox 20"/>
          <p:cNvSpPr txBox="1"/>
          <p:nvPr/>
        </p:nvSpPr>
        <p:spPr>
          <a:xfrm>
            <a:off x="7260336" y="3459988"/>
            <a:ext cx="3621024" cy="1945640"/>
          </a:xfrm>
          <a:prstGeom prst="rect">
            <a:avLst/>
          </a:prstGeom>
          <a:noFill/>
        </p:spPr>
        <p:txBody>
          <a:bodyPr wrap="square">
            <a:spAutoFit/>
          </a:bodyPr>
          <a:lstStyle/>
          <a:p>
            <a:pPr>
              <a:lnSpc>
                <a:spcPct val="130000"/>
              </a:lnSpc>
              <a:defRPr sz="1400">
                <a:solidFill>
                  <a:srgbClr val="1E293B"/>
                </a:solidFill>
                <a:latin typeface="Calibri"/>
              </a:defRPr>
            </a:pPr>
            <a:r>
              <a:t>When a model learns the training data too well, including its noise and biases, reducing performance on new data.</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645920" cy="292608"/>
          </a:xfrm>
          <a:prstGeom prst="rect">
            <a:avLst/>
          </a:prstGeom>
          <a:noFill/>
        </p:spPr>
        <p:txBody>
          <a:bodyPr wrap="none">
            <a:spAutoFit/>
          </a:bodyPr>
          <a:lstStyle/>
          <a:p>
            <a:pPr algn="ctr">
              <a:defRPr sz="1100" b="1">
                <a:solidFill>
                  <a:srgbClr val="FFFFFF"/>
                </a:solidFill>
                <a:latin typeface="Calibri"/>
              </a:defRPr>
            </a:pPr>
            <a:r>
              <a:t>Labeling policies</a:t>
            </a:r>
          </a:p>
        </p:txBody>
      </p:sp>
      <p:sp>
        <p:nvSpPr>
          <p:cNvPr id="9" name="TextBox 8"/>
          <p:cNvSpPr txBox="1"/>
          <p:nvPr/>
        </p:nvSpPr>
        <p:spPr>
          <a:xfrm>
            <a:off x="2331720" y="1157731"/>
            <a:ext cx="3154680" cy="1945640"/>
          </a:xfrm>
          <a:prstGeom prst="rect">
            <a:avLst/>
          </a:prstGeom>
          <a:noFill/>
        </p:spPr>
        <p:txBody>
          <a:bodyPr wrap="square">
            <a:spAutoFit/>
          </a:bodyPr>
          <a:lstStyle/>
          <a:p>
            <a:pPr>
              <a:lnSpc>
                <a:spcPct val="130000"/>
              </a:lnSpc>
              <a:defRPr sz="1400">
                <a:solidFill>
                  <a:srgbClr val="1E293B"/>
                </a:solidFill>
                <a:latin typeface="Calibri"/>
              </a:defRPr>
            </a:pPr>
            <a:r>
              <a:t>The rules and criteria used by different platforms or organizations to classify content as fake or real.</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835121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34440" y="2651760"/>
            <a:ext cx="1280160" cy="1280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926080"/>
            <a:ext cx="914400" cy="731520"/>
          </a:xfrm>
          <a:prstGeom prst="rect">
            <a:avLst/>
          </a:prstGeom>
          <a:noFill/>
        </p:spPr>
        <p:txBody>
          <a:bodyPr wrap="none">
            <a:spAutoFit/>
          </a:bodyPr>
          <a:lstStyle/>
          <a:p>
            <a:pPr algn="ctr">
              <a:defRPr sz="4400">
                <a:solidFill>
                  <a:srgbClr val="FFFFFF"/>
                </a:solidFill>
                <a:latin typeface="Calibri"/>
              </a:defRPr>
            </a:pPr>
            <a:r>
              <a:t>§</a:t>
            </a:r>
          </a:p>
        </p:txBody>
      </p:sp>
      <p:sp>
        <p:nvSpPr>
          <p:cNvPr id="6" name="TextBox 5"/>
          <p:cNvSpPr txBox="1"/>
          <p:nvPr/>
        </p:nvSpPr>
        <p:spPr>
          <a:xfrm>
            <a:off x="4389120" y="2468880"/>
            <a:ext cx="7772400" cy="2148840"/>
          </a:xfrm>
          <a:prstGeom prst="rect">
            <a:avLst/>
          </a:prstGeom>
          <a:noFill/>
        </p:spPr>
        <p:txBody>
          <a:bodyPr wrap="square">
            <a:spAutoFit/>
          </a:bodyPr>
          <a:lstStyle/>
          <a:p>
            <a:pPr>
              <a:defRPr sz="4400" b="1">
                <a:solidFill>
                  <a:srgbClr val="1E293B"/>
                </a:solidFill>
                <a:latin typeface="Calibri"/>
              </a:defRPr>
            </a:pPr>
            <a:r>
              <a:t>Benchmarking performance: F1-score, precision, and recall</a:t>
            </a:r>
          </a:p>
        </p:txBody>
      </p:sp>
      <p:sp>
        <p:nvSpPr>
          <p:cNvPr id="7" name="Rectangle 6"/>
          <p:cNvSpPr/>
          <p:nvPr/>
        </p:nvSpPr>
        <p:spPr>
          <a:xfrm>
            <a:off x="4389120" y="4663440"/>
            <a:ext cx="128016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4773168"/>
            <a:ext cx="7772400" cy="457200"/>
          </a:xfrm>
          <a:prstGeom prst="rect">
            <a:avLst/>
          </a:prstGeom>
          <a:noFill/>
        </p:spPr>
        <p:txBody>
          <a:bodyPr wrap="none">
            <a:spAutoFit/>
          </a:bodyPr>
          <a:lstStyle/>
          <a:p>
            <a:pPr>
              <a:defRPr sz="2400">
                <a:solidFill>
                  <a:srgbClr val="64748B"/>
                </a:solidFill>
                <a:latin typeface="Calibri"/>
              </a:defRPr>
            </a:pPr>
            <a:r>
              <a:t>Foundations of Fake News Detection and Generalization Challenges</a:t>
            </a:r>
          </a:p>
        </p:txBody>
      </p:sp>
      <p:sp>
        <p:nvSpPr>
          <p:cNvPr id="9" name="Rectangle 8"/>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1" name="TextBox 10"/>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Benchmarking performance: F1-score, precision, and recall</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To rigorously evaluate the 12 detection methods, the study</a:t>
            </a:r>
          </a:p>
          <a:p>
            <a:pPr>
              <a:lnSpc>
                <a:spcPct val="135000"/>
              </a:lnSpc>
              <a:spcAft>
                <a:spcPts val="1000"/>
              </a:spcAft>
              <a:defRPr sz="1600">
                <a:solidFill>
                  <a:srgbClr val="1E293B"/>
                </a:solidFill>
                <a:latin typeface="Calibri"/>
              </a:defRPr>
            </a:pPr>
            <a:r>
              <a:rPr>
                <a:solidFill>
                  <a:srgbClr val="3B82F6"/>
                </a:solidFill>
              </a:rPr>
              <a:t>• employs a suite of statistical metrics, primarily focusing on</a:t>
            </a:r>
          </a:p>
          <a:p>
            <a:pPr>
              <a:lnSpc>
                <a:spcPct val="135000"/>
              </a:lnSpc>
              <a:spcAft>
                <a:spcPts val="1000"/>
              </a:spcAft>
              <a:defRPr sz="1600">
                <a:solidFill>
                  <a:srgbClr val="1E293B"/>
                </a:solidFill>
                <a:latin typeface="Calibri"/>
              </a:defRPr>
            </a:pPr>
            <a:r>
              <a:rPr>
                <a:solidFill>
                  <a:srgbClr val="3B82F6"/>
                </a:solidFill>
              </a:rPr>
              <a:t>• F1-score, precision, and recall.</a:t>
            </a:r>
          </a:p>
          <a:p>
            <a:pPr>
              <a:lnSpc>
                <a:spcPct val="135000"/>
              </a:lnSpc>
              <a:spcAft>
                <a:spcPts val="1000"/>
              </a:spcAft>
              <a:defRPr sz="1600">
                <a:solidFill>
                  <a:srgbClr val="1E293B"/>
                </a:solidFill>
                <a:latin typeface="Calibri"/>
              </a:defRPr>
            </a:pPr>
            <a:r>
              <a:rPr>
                <a:solidFill>
                  <a:srgbClr val="3B82F6"/>
                </a:solidFill>
              </a:rPr>
              <a:t>• Precision measures the accuracy of positive predictions, ensuring</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Benchmarking performance: F1-score, precision, and recall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that the model does not flag legitimate news as fake, while</a:t>
            </a:r>
          </a:p>
          <a:p>
            <a:pPr>
              <a:lnSpc>
                <a:spcPct val="135000"/>
              </a:lnSpc>
              <a:spcAft>
                <a:spcPts val="1000"/>
              </a:spcAft>
              <a:defRPr sz="1600">
                <a:solidFill>
                  <a:srgbClr val="1E293B"/>
                </a:solidFill>
                <a:latin typeface="Calibri"/>
              </a:defRPr>
            </a:pPr>
            <a:r>
              <a:rPr>
                <a:solidFill>
                  <a:srgbClr val="3B82F6"/>
                </a:solidFill>
              </a:rPr>
              <a:t>• recall assesses the model's ability to identify all instances of</a:t>
            </a:r>
          </a:p>
          <a:p>
            <a:pPr>
              <a:lnSpc>
                <a:spcPct val="135000"/>
              </a:lnSpc>
              <a:spcAft>
                <a:spcPts val="1000"/>
              </a:spcAft>
              <a:defRPr sz="1600">
                <a:solidFill>
                  <a:srgbClr val="1E293B"/>
                </a:solidFill>
                <a:latin typeface="Calibri"/>
              </a:defRPr>
            </a:pPr>
            <a:r>
              <a:rPr>
                <a:solidFill>
                  <a:srgbClr val="3B82F6"/>
                </a:solidFill>
              </a:rPr>
              <a:t>• fake news within a dataset.</a:t>
            </a:r>
          </a:p>
          <a:p>
            <a:pPr>
              <a:lnSpc>
                <a:spcPct val="135000"/>
              </a:lnSpc>
              <a:spcAft>
                <a:spcPts val="1000"/>
              </a:spcAft>
              <a:defRPr sz="1600">
                <a:solidFill>
                  <a:srgbClr val="1E293B"/>
                </a:solidFill>
                <a:latin typeface="Calibri"/>
              </a:defRPr>
            </a:pPr>
            <a:r>
              <a:rPr>
                <a:solidFill>
                  <a:srgbClr val="3B82F6"/>
                </a:solidFill>
              </a:rPr>
              <a:t>• The F1-score provides a harmonic mean of these two, offering a</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Benchmarking performance: F1-score, precision, and recall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balanced view of performance, which is crucial given the</a:t>
            </a:r>
          </a:p>
          <a:p>
            <a:pPr>
              <a:lnSpc>
                <a:spcPct val="135000"/>
              </a:lnSpc>
              <a:spcAft>
                <a:spcPts val="1000"/>
              </a:spcAft>
              <a:defRPr sz="1600">
                <a:solidFill>
                  <a:srgbClr val="1E293B"/>
                </a:solidFill>
                <a:latin typeface="Calibri"/>
              </a:defRPr>
            </a:pPr>
            <a:r>
              <a:rPr>
                <a:solidFill>
                  <a:srgbClr val="3B82F6"/>
                </a:solidFill>
              </a:rPr>
              <a:t>• potential for class imbalance in social media datasets.</a:t>
            </a:r>
          </a:p>
          <a:p>
            <a:pPr>
              <a:lnSpc>
                <a:spcPct val="135000"/>
              </a:lnSpc>
              <a:spcAft>
                <a:spcPts val="1000"/>
              </a:spcAft>
              <a:defRPr sz="1600">
                <a:solidFill>
                  <a:srgbClr val="1E293B"/>
                </a:solidFill>
                <a:latin typeface="Calibri"/>
              </a:defRPr>
            </a:pPr>
            <a:r>
              <a:rPr>
                <a:solidFill>
                  <a:srgbClr val="3B82F6"/>
                </a:solidFill>
              </a:rPr>
              <a:t>• Beyond these core metrics, the study utilizes advanced</a:t>
            </a:r>
          </a:p>
          <a:p>
            <a:pPr>
              <a:lnSpc>
                <a:spcPct val="135000"/>
              </a:lnSpc>
              <a:spcAft>
                <a:spcPts val="1000"/>
              </a:spcAft>
              <a:defRPr sz="1600">
                <a:solidFill>
                  <a:srgbClr val="1E293B"/>
                </a:solidFill>
                <a:latin typeface="Calibri"/>
              </a:defRPr>
            </a:pPr>
            <a:r>
              <a:rPr>
                <a:solidFill>
                  <a:srgbClr val="3B82F6"/>
                </a:solidFill>
              </a:rPr>
              <a:t>• statistical validation, including the Friedman test and the</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Benchmarking performance: F1-score, precision, and recall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post-hoc Nemenyi test, to confirm that observed performance</a:t>
            </a:r>
          </a:p>
          <a:p>
            <a:pPr>
              <a:lnSpc>
                <a:spcPct val="135000"/>
              </a:lnSpc>
              <a:spcAft>
                <a:spcPts val="1000"/>
              </a:spcAft>
              <a:defRPr sz="1600">
                <a:solidFill>
                  <a:srgbClr val="1E293B"/>
                </a:solidFill>
                <a:latin typeface="Calibri"/>
              </a:defRPr>
            </a:pPr>
            <a:r>
              <a:rPr>
                <a:solidFill>
                  <a:srgbClr val="3B82F6"/>
                </a:solidFill>
              </a:rPr>
              <a:t>• differences are statistically significant rather than due to</a:t>
            </a:r>
          </a:p>
          <a:p>
            <a:pPr>
              <a:lnSpc>
                <a:spcPct val="135000"/>
              </a:lnSpc>
              <a:spcAft>
                <a:spcPts val="1000"/>
              </a:spcAft>
              <a:defRPr sz="1600">
                <a:solidFill>
                  <a:srgbClr val="1E293B"/>
                </a:solidFill>
                <a:latin typeface="Calibri"/>
              </a:defRPr>
            </a:pPr>
            <a:r>
              <a:rPr>
                <a:solidFill>
                  <a:srgbClr val="3B82F6"/>
                </a:solidFill>
              </a:rPr>
              <a:t>• random chance.</a:t>
            </a:r>
          </a:p>
          <a:p>
            <a:pPr>
              <a:lnSpc>
                <a:spcPct val="135000"/>
              </a:lnSpc>
              <a:spcAft>
                <a:spcPts val="1000"/>
              </a:spcAft>
              <a:defRPr sz="1600">
                <a:solidFill>
                  <a:srgbClr val="1E293B"/>
                </a:solidFill>
                <a:latin typeface="Calibri"/>
              </a:defRPr>
            </a:pPr>
            <a:r>
              <a:rPr>
                <a:solidFill>
                  <a:srgbClr val="3B82F6"/>
                </a:solidFill>
              </a:rPr>
              <a:t>• This systematic benchmarking ensures that the evaluation is not</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Benchmarking performance: F1-score, precision, and recall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merely anecdotal but grounded in robust statistical evidence,</a:t>
            </a:r>
          </a:p>
          <a:p>
            <a:pPr>
              <a:lnSpc>
                <a:spcPct val="135000"/>
              </a:lnSpc>
              <a:spcAft>
                <a:spcPts val="1000"/>
              </a:spcAft>
              <a:defRPr sz="1600">
                <a:solidFill>
                  <a:srgbClr val="1E293B"/>
                </a:solidFill>
                <a:latin typeface="Calibri"/>
              </a:defRPr>
            </a:pPr>
            <a:r>
              <a:rPr>
                <a:solidFill>
                  <a:srgbClr val="3B82F6"/>
                </a:solidFill>
              </a:rPr>
              <a:t>• allowing for a fair comparison between vastly different model</a:t>
            </a:r>
          </a:p>
          <a:p>
            <a:pPr>
              <a:lnSpc>
                <a:spcPct val="135000"/>
              </a:lnSpc>
              <a:spcAft>
                <a:spcPts val="1000"/>
              </a:spcAft>
              <a:defRPr sz="1600">
                <a:solidFill>
                  <a:srgbClr val="1E293B"/>
                </a:solidFill>
                <a:latin typeface="Calibri"/>
              </a:defRPr>
            </a:pPr>
            <a:r>
              <a:rPr>
                <a:solidFill>
                  <a:srgbClr val="3B82F6"/>
                </a:solidFill>
              </a:rPr>
              <a:t>• architectures.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Example: Benchmarking performance: F1-score, precision, and recall</a:t>
            </a:r>
          </a:p>
        </p:txBody>
      </p:sp>
      <p:sp>
        <p:nvSpPr>
          <p:cNvPr id="5" name="Rectangle 4"/>
          <p:cNvSpPr/>
          <p:nvPr/>
        </p:nvSpPr>
        <p:spPr>
          <a:xfrm>
            <a:off x="548640" y="1346200"/>
            <a:ext cx="9144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492504"/>
            <a:ext cx="10874959" cy="186410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92504"/>
            <a:ext cx="64008" cy="1864105"/>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2232"/>
            <a:ext cx="1828800" cy="228600"/>
          </a:xfrm>
          <a:prstGeom prst="rect">
            <a:avLst/>
          </a:prstGeom>
          <a:noFill/>
        </p:spPr>
        <p:txBody>
          <a:bodyPr wrap="none">
            <a:spAutoFit/>
          </a:bodyPr>
          <a:lstStyle/>
          <a:p>
            <a:pPr>
              <a:defRPr sz="1100" b="1">
                <a:solidFill>
                  <a:srgbClr val="F59E0B"/>
                </a:solidFill>
                <a:latin typeface="Calibri"/>
              </a:defRPr>
            </a:pPr>
            <a:r>
              <a:t>EXAMPLE</a:t>
            </a:r>
          </a:p>
        </p:txBody>
      </p:sp>
      <p:sp>
        <p:nvSpPr>
          <p:cNvPr id="9" name="TextBox 8"/>
          <p:cNvSpPr txBox="1"/>
          <p:nvPr/>
        </p:nvSpPr>
        <p:spPr>
          <a:xfrm>
            <a:off x="868680" y="1839976"/>
            <a:ext cx="10545775" cy="4572000"/>
          </a:xfrm>
          <a:prstGeom prst="rect">
            <a:avLst/>
          </a:prstGeom>
          <a:noFill/>
        </p:spPr>
        <p:txBody>
          <a:bodyPr wrap="square">
            <a:spAutoFit/>
          </a:bodyPr>
          <a:lstStyle/>
          <a:p>
            <a:pPr>
              <a:lnSpc>
                <a:spcPct val="135000"/>
              </a:lnSpc>
              <a:spcAft>
                <a:spcPts val="1000"/>
              </a:spcAft>
              <a:defRPr sz="1600" i="1">
                <a:solidFill>
                  <a:srgbClr val="1E293B"/>
                </a:solidFill>
                <a:latin typeface="Calibri"/>
              </a:defRPr>
            </a:pPr>
            <a:r>
              <a:t>Statistical significance of model performance differences was confirmed via the Friedman Test (p &lt; 0.05), followed by the post-hoc Nemenyi test, ensuring that the reported improvements in F1-score, precision, and recall are scientifically valid.</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932688"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932688" cy="292608"/>
          </a:xfrm>
          <a:prstGeom prst="rect">
            <a:avLst/>
          </a:prstGeom>
          <a:noFill/>
        </p:spPr>
        <p:txBody>
          <a:bodyPr wrap="none">
            <a:spAutoFit/>
          </a:bodyPr>
          <a:lstStyle/>
          <a:p>
            <a:pPr algn="ctr">
              <a:defRPr sz="1100" b="1">
                <a:solidFill>
                  <a:srgbClr val="FFFFFF"/>
                </a:solidFill>
                <a:latin typeface="Calibri"/>
              </a:defRPr>
            </a:pPr>
            <a:r>
              <a:t>F1-score</a:t>
            </a:r>
          </a:p>
        </p:txBody>
      </p:sp>
      <p:sp>
        <p:nvSpPr>
          <p:cNvPr id="9" name="TextBox 8"/>
          <p:cNvSpPr txBox="1"/>
          <p:nvPr/>
        </p:nvSpPr>
        <p:spPr>
          <a:xfrm>
            <a:off x="1618488" y="1157731"/>
            <a:ext cx="3867912" cy="1705610"/>
          </a:xfrm>
          <a:prstGeom prst="rect">
            <a:avLst/>
          </a:prstGeom>
          <a:noFill/>
        </p:spPr>
        <p:txBody>
          <a:bodyPr wrap="square">
            <a:spAutoFit/>
          </a:bodyPr>
          <a:lstStyle/>
          <a:p>
            <a:pPr>
              <a:lnSpc>
                <a:spcPct val="130000"/>
              </a:lnSpc>
              <a:defRPr sz="1400">
                <a:solidFill>
                  <a:srgbClr val="1E293B"/>
                </a:solidFill>
                <a:latin typeface="Calibri"/>
              </a:defRPr>
            </a:pPr>
            <a:r>
              <a:t>The harmonic mean of precision and recall, providing a balanced measure of a model's accuracy.</a:t>
            </a:r>
          </a:p>
        </p:txBody>
      </p:sp>
      <p:sp>
        <p:nvSpPr>
          <p:cNvPr id="10" name="Rounded Rectangle 9"/>
          <p:cNvSpPr/>
          <p:nvPr/>
        </p:nvSpPr>
        <p:spPr>
          <a:xfrm>
            <a:off x="5943600" y="1048004"/>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185164"/>
            <a:ext cx="1014983"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203452"/>
            <a:ext cx="1014983" cy="292608"/>
          </a:xfrm>
          <a:prstGeom prst="rect">
            <a:avLst/>
          </a:prstGeom>
          <a:noFill/>
        </p:spPr>
        <p:txBody>
          <a:bodyPr wrap="none">
            <a:spAutoFit/>
          </a:bodyPr>
          <a:lstStyle/>
          <a:p>
            <a:pPr algn="ctr">
              <a:defRPr sz="1100" b="1">
                <a:solidFill>
                  <a:srgbClr val="FFFFFF"/>
                </a:solidFill>
                <a:latin typeface="Calibri"/>
              </a:defRPr>
            </a:pPr>
            <a:r>
              <a:t>Precision</a:t>
            </a:r>
          </a:p>
        </p:txBody>
      </p:sp>
      <p:sp>
        <p:nvSpPr>
          <p:cNvPr id="13" name="TextBox 12"/>
          <p:cNvSpPr txBox="1"/>
          <p:nvPr/>
        </p:nvSpPr>
        <p:spPr>
          <a:xfrm>
            <a:off x="7095743" y="1157731"/>
            <a:ext cx="3785617" cy="1705610"/>
          </a:xfrm>
          <a:prstGeom prst="rect">
            <a:avLst/>
          </a:prstGeom>
          <a:noFill/>
        </p:spPr>
        <p:txBody>
          <a:bodyPr wrap="square">
            <a:spAutoFit/>
          </a:bodyPr>
          <a:lstStyle/>
          <a:p>
            <a:pPr>
              <a:lnSpc>
                <a:spcPct val="130000"/>
              </a:lnSpc>
              <a:defRPr sz="1400">
                <a:solidFill>
                  <a:srgbClr val="1E293B"/>
                </a:solidFill>
                <a:latin typeface="Calibri"/>
              </a:defRPr>
            </a:pPr>
            <a:r>
              <a:t>The ratio of true positive predictions to the total number of positive predictions made.</a:t>
            </a:r>
          </a:p>
        </p:txBody>
      </p:sp>
      <p:sp>
        <p:nvSpPr>
          <p:cNvPr id="14" name="Rounded Rectangle 13"/>
          <p:cNvSpPr/>
          <p:nvPr/>
        </p:nvSpPr>
        <p:spPr>
          <a:xfrm>
            <a:off x="548640" y="2870200"/>
            <a:ext cx="5120640" cy="16850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3007360"/>
            <a:ext cx="768096"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025648"/>
            <a:ext cx="768096" cy="292608"/>
          </a:xfrm>
          <a:prstGeom prst="rect">
            <a:avLst/>
          </a:prstGeom>
          <a:noFill/>
        </p:spPr>
        <p:txBody>
          <a:bodyPr wrap="none">
            <a:spAutoFit/>
          </a:bodyPr>
          <a:lstStyle/>
          <a:p>
            <a:pPr algn="ctr">
              <a:defRPr sz="1100" b="1">
                <a:solidFill>
                  <a:srgbClr val="FFFFFF"/>
                </a:solidFill>
                <a:latin typeface="Calibri"/>
              </a:defRPr>
            </a:pPr>
            <a:r>
              <a:t>Recall</a:t>
            </a:r>
          </a:p>
        </p:txBody>
      </p:sp>
      <p:sp>
        <p:nvSpPr>
          <p:cNvPr id="17" name="TextBox 16"/>
          <p:cNvSpPr txBox="1"/>
          <p:nvPr/>
        </p:nvSpPr>
        <p:spPr>
          <a:xfrm>
            <a:off x="1453896" y="2979928"/>
            <a:ext cx="4032504" cy="1465580"/>
          </a:xfrm>
          <a:prstGeom prst="rect">
            <a:avLst/>
          </a:prstGeom>
          <a:noFill/>
        </p:spPr>
        <p:txBody>
          <a:bodyPr wrap="square">
            <a:spAutoFit/>
          </a:bodyPr>
          <a:lstStyle/>
          <a:p>
            <a:pPr>
              <a:lnSpc>
                <a:spcPct val="130000"/>
              </a:lnSpc>
              <a:defRPr sz="1400">
                <a:solidFill>
                  <a:srgbClr val="1E293B"/>
                </a:solidFill>
                <a:latin typeface="Calibri"/>
              </a:defRPr>
            </a:pPr>
            <a:r>
              <a:t>The ratio of true positive predictions to the total number of actual positive cases.</a:t>
            </a:r>
          </a:p>
        </p:txBody>
      </p:sp>
      <p:sp>
        <p:nvSpPr>
          <p:cNvPr id="18" name="Rounded Rectangle 17"/>
          <p:cNvSpPr/>
          <p:nvPr/>
        </p:nvSpPr>
        <p:spPr>
          <a:xfrm>
            <a:off x="594360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3247389"/>
            <a:ext cx="1344168"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265677"/>
            <a:ext cx="1344168" cy="292608"/>
          </a:xfrm>
          <a:prstGeom prst="rect">
            <a:avLst/>
          </a:prstGeom>
          <a:noFill/>
        </p:spPr>
        <p:txBody>
          <a:bodyPr wrap="none">
            <a:spAutoFit/>
          </a:bodyPr>
          <a:lstStyle/>
          <a:p>
            <a:pPr algn="ctr">
              <a:defRPr sz="1100" b="1">
                <a:solidFill>
                  <a:srgbClr val="FFFFFF"/>
                </a:solidFill>
                <a:latin typeface="Calibri"/>
              </a:defRPr>
            </a:pPr>
            <a:r>
              <a:t>Friedman Test</a:t>
            </a:r>
          </a:p>
        </p:txBody>
      </p:sp>
      <p:sp>
        <p:nvSpPr>
          <p:cNvPr id="21" name="TextBox 20"/>
          <p:cNvSpPr txBox="1"/>
          <p:nvPr/>
        </p:nvSpPr>
        <p:spPr>
          <a:xfrm>
            <a:off x="7424928" y="3219958"/>
            <a:ext cx="3456432" cy="1705610"/>
          </a:xfrm>
          <a:prstGeom prst="rect">
            <a:avLst/>
          </a:prstGeom>
          <a:noFill/>
        </p:spPr>
        <p:txBody>
          <a:bodyPr wrap="square">
            <a:spAutoFit/>
          </a:bodyPr>
          <a:lstStyle/>
          <a:p>
            <a:pPr>
              <a:lnSpc>
                <a:spcPct val="130000"/>
              </a:lnSpc>
              <a:defRPr sz="1400">
                <a:solidFill>
                  <a:srgbClr val="1E293B"/>
                </a:solidFill>
                <a:latin typeface="Calibri"/>
              </a:defRPr>
            </a:pPr>
            <a:r>
              <a:t>A non-parametric statistical test used to compare multiple models across multiple datasets.</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261872"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261872" cy="292608"/>
          </a:xfrm>
          <a:prstGeom prst="rect">
            <a:avLst/>
          </a:prstGeom>
          <a:noFill/>
        </p:spPr>
        <p:txBody>
          <a:bodyPr wrap="none">
            <a:spAutoFit/>
          </a:bodyPr>
          <a:lstStyle/>
          <a:p>
            <a:pPr algn="ctr">
              <a:defRPr sz="1100" b="1">
                <a:solidFill>
                  <a:srgbClr val="FFFFFF"/>
                </a:solidFill>
                <a:latin typeface="Calibri"/>
              </a:defRPr>
            </a:pPr>
            <a:r>
              <a:t>Nemenyi test</a:t>
            </a:r>
          </a:p>
        </p:txBody>
      </p:sp>
      <p:sp>
        <p:nvSpPr>
          <p:cNvPr id="9" name="TextBox 8"/>
          <p:cNvSpPr txBox="1"/>
          <p:nvPr/>
        </p:nvSpPr>
        <p:spPr>
          <a:xfrm>
            <a:off x="1947672" y="1157731"/>
            <a:ext cx="3538728" cy="1945640"/>
          </a:xfrm>
          <a:prstGeom prst="rect">
            <a:avLst/>
          </a:prstGeom>
          <a:noFill/>
        </p:spPr>
        <p:txBody>
          <a:bodyPr wrap="square">
            <a:spAutoFit/>
          </a:bodyPr>
          <a:lstStyle/>
          <a:p>
            <a:pPr>
              <a:lnSpc>
                <a:spcPct val="130000"/>
              </a:lnSpc>
              <a:defRPr sz="1400">
                <a:solidFill>
                  <a:srgbClr val="1E293B"/>
                </a:solidFill>
                <a:latin typeface="Calibri"/>
              </a:defRPr>
            </a:pPr>
            <a:r>
              <a:t>A post-hoc test used after the Friedman test to identify which specific models differ significantly from each other.</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835121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34440" y="2651760"/>
            <a:ext cx="1280160" cy="1280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926080"/>
            <a:ext cx="914400" cy="731520"/>
          </a:xfrm>
          <a:prstGeom prst="rect">
            <a:avLst/>
          </a:prstGeom>
          <a:noFill/>
        </p:spPr>
        <p:txBody>
          <a:bodyPr wrap="none">
            <a:spAutoFit/>
          </a:bodyPr>
          <a:lstStyle/>
          <a:p>
            <a:pPr algn="ctr">
              <a:defRPr sz="4400">
                <a:solidFill>
                  <a:srgbClr val="FFFFFF"/>
                </a:solidFill>
                <a:latin typeface="Calibri"/>
              </a:defRPr>
            </a:pPr>
            <a:r>
              <a:t>§</a:t>
            </a:r>
          </a:p>
        </p:txBody>
      </p:sp>
      <p:sp>
        <p:nvSpPr>
          <p:cNvPr id="6" name="TextBox 5"/>
          <p:cNvSpPr txBox="1"/>
          <p:nvPr/>
        </p:nvSpPr>
        <p:spPr>
          <a:xfrm>
            <a:off x="4389120" y="2468880"/>
            <a:ext cx="7772400" cy="2148840"/>
          </a:xfrm>
          <a:prstGeom prst="rect">
            <a:avLst/>
          </a:prstGeom>
          <a:noFill/>
        </p:spPr>
        <p:txBody>
          <a:bodyPr wrap="square">
            <a:spAutoFit/>
          </a:bodyPr>
          <a:lstStyle/>
          <a:p>
            <a:pPr>
              <a:defRPr sz="4400" b="1">
                <a:solidFill>
                  <a:srgbClr val="1E293B"/>
                </a:solidFill>
                <a:latin typeface="Calibri"/>
              </a:defRPr>
            </a:pPr>
            <a:r>
              <a:t>Evaluating LLMs vs. traditional ML and BERT-based models</a:t>
            </a:r>
          </a:p>
        </p:txBody>
      </p:sp>
      <p:sp>
        <p:nvSpPr>
          <p:cNvPr id="7" name="Rectangle 6"/>
          <p:cNvSpPr/>
          <p:nvPr/>
        </p:nvSpPr>
        <p:spPr>
          <a:xfrm>
            <a:off x="4389120" y="4663440"/>
            <a:ext cx="128016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4773168"/>
            <a:ext cx="7772400" cy="457200"/>
          </a:xfrm>
          <a:prstGeom prst="rect">
            <a:avLst/>
          </a:prstGeom>
          <a:noFill/>
        </p:spPr>
        <p:txBody>
          <a:bodyPr wrap="none">
            <a:spAutoFit/>
          </a:bodyPr>
          <a:lstStyle/>
          <a:p>
            <a:pPr>
              <a:defRPr sz="2400">
                <a:solidFill>
                  <a:srgbClr val="64748B"/>
                </a:solidFill>
                <a:latin typeface="Calibri"/>
              </a:defRPr>
            </a:pPr>
            <a:r>
              <a:t>Foundations of Fake News Detection and Generalization Challenges</a:t>
            </a:r>
          </a:p>
        </p:txBody>
      </p:sp>
      <p:sp>
        <p:nvSpPr>
          <p:cNvPr id="9" name="Rectangle 8"/>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1" name="TextBox 10"/>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Evaluating LLMs vs. traditional ML and BERT-based models</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The comparative evaluation reveals distinct performance tiers</a:t>
            </a:r>
          </a:p>
          <a:p>
            <a:pPr>
              <a:lnSpc>
                <a:spcPct val="135000"/>
              </a:lnSpc>
              <a:spcAft>
                <a:spcPts val="1000"/>
              </a:spcAft>
              <a:defRPr sz="1600">
                <a:solidFill>
                  <a:srgbClr val="1E293B"/>
                </a:solidFill>
                <a:latin typeface="Calibri"/>
              </a:defRPr>
            </a:pPr>
            <a:r>
              <a:rPr>
                <a:solidFill>
                  <a:srgbClr val="3B82F6"/>
                </a:solidFill>
              </a:rPr>
              <a:t>• among the 12 methods.</a:t>
            </a:r>
          </a:p>
          <a:p>
            <a:pPr>
              <a:lnSpc>
                <a:spcPct val="135000"/>
              </a:lnSpc>
              <a:spcAft>
                <a:spcPts val="1000"/>
              </a:spcAft>
              <a:defRPr sz="1600">
                <a:solidFill>
                  <a:srgbClr val="1E293B"/>
                </a:solidFill>
                <a:latin typeface="Calibri"/>
              </a:defRPr>
            </a:pPr>
            <a:r>
              <a:rPr>
                <a:solidFill>
                  <a:srgbClr val="3B82F6"/>
                </a:solidFill>
              </a:rPr>
              <a:t>• Traditional ML models (LR, SVM, NB) and early deep learning</a:t>
            </a:r>
          </a:p>
          <a:p>
            <a:pPr>
              <a:lnSpc>
                <a:spcPct val="135000"/>
              </a:lnSpc>
              <a:spcAft>
                <a:spcPts val="1000"/>
              </a:spcAft>
              <a:defRPr sz="1600">
                <a:solidFill>
                  <a:srgbClr val="1E293B"/>
                </a:solidFill>
                <a:latin typeface="Calibri"/>
              </a:defRPr>
            </a:pPr>
            <a:r>
              <a:rPr>
                <a:solidFill>
                  <a:srgbClr val="3B82F6"/>
                </a:solidFill>
              </a:rPr>
              <a:t>• models (CNN, BiLSTM) often serve as baselines but lack the</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Evaluating LLMs vs. traditional ML and BERT-based models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contextual depth of transformer-based models.</a:t>
            </a:r>
          </a:p>
          <a:p>
            <a:pPr>
              <a:lnSpc>
                <a:spcPct val="135000"/>
              </a:lnSpc>
              <a:spcAft>
                <a:spcPts val="1000"/>
              </a:spcAft>
              <a:defRPr sz="1600">
                <a:solidFill>
                  <a:srgbClr val="1E293B"/>
                </a:solidFill>
                <a:latin typeface="Calibri"/>
              </a:defRPr>
            </a:pPr>
            <a:r>
              <a:rPr>
                <a:solidFill>
                  <a:srgbClr val="3B82F6"/>
                </a:solidFill>
              </a:rPr>
              <a:t>• BERT and DeBERTa demonstrate statistically significant</a:t>
            </a:r>
          </a:p>
          <a:p>
            <a:pPr>
              <a:lnSpc>
                <a:spcPct val="135000"/>
              </a:lnSpc>
              <a:spcAft>
                <a:spcPts val="1000"/>
              </a:spcAft>
              <a:defRPr sz="1600">
                <a:solidFill>
                  <a:srgbClr val="1E293B"/>
                </a:solidFill>
                <a:latin typeface="Calibri"/>
              </a:defRPr>
            </a:pPr>
            <a:r>
              <a:rPr>
                <a:solidFill>
                  <a:srgbClr val="3B82F6"/>
                </a:solidFill>
              </a:rPr>
              <a:t>• improvements over these baselines, particularly when fine-tuned</a:t>
            </a:r>
          </a:p>
          <a:p>
            <a:pPr>
              <a:lnSpc>
                <a:spcPct val="135000"/>
              </a:lnSpc>
              <a:spcAft>
                <a:spcPts val="1000"/>
              </a:spcAft>
              <a:defRPr sz="1600">
                <a:solidFill>
                  <a:srgbClr val="1E293B"/>
                </a:solidFill>
                <a:latin typeface="Calibri"/>
              </a:defRPr>
            </a:pPr>
            <a:r>
              <a:rPr>
                <a:solidFill>
                  <a:srgbClr val="3B82F6"/>
                </a:solidFill>
              </a:rPr>
              <a:t>• on specific datasets.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Evaluating LLMs vs. traditional ML and BERT-based models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However, the study also highlights the emergence of LLMs</a:t>
            </a:r>
          </a:p>
          <a:p>
            <a:pPr>
              <a:lnSpc>
                <a:spcPct val="135000"/>
              </a:lnSpc>
              <a:spcAft>
                <a:spcPts val="1000"/>
              </a:spcAft>
              <a:defRPr sz="1600">
                <a:solidFill>
                  <a:srgbClr val="1E293B"/>
                </a:solidFill>
                <a:latin typeface="Calibri"/>
              </a:defRPr>
            </a:pPr>
            <a:r>
              <a:rPr>
                <a:solidFill>
                  <a:srgbClr val="3B82F6"/>
                </a:solidFill>
              </a:rPr>
              <a:t>• (Llama3-8B, Qwen3-32B, Zephyr-7B-beta) as a promising</a:t>
            </a:r>
          </a:p>
          <a:p>
            <a:pPr>
              <a:lnSpc>
                <a:spcPct val="135000"/>
              </a:lnSpc>
              <a:spcAft>
                <a:spcPts val="1000"/>
              </a:spcAft>
              <a:defRPr sz="1600">
                <a:solidFill>
                  <a:srgbClr val="1E293B"/>
                </a:solidFill>
                <a:latin typeface="Calibri"/>
              </a:defRPr>
            </a:pPr>
            <a:r>
              <a:rPr>
                <a:solidFill>
                  <a:srgbClr val="3B82F6"/>
                </a:solidFill>
              </a:rPr>
              <a:t>• alternative.</a:t>
            </a:r>
          </a:p>
          <a:p>
            <a:pPr>
              <a:lnSpc>
                <a:spcPct val="135000"/>
              </a:lnSpc>
              <a:spcAft>
                <a:spcPts val="1000"/>
              </a:spcAft>
              <a:defRPr sz="1600">
                <a:solidFill>
                  <a:srgbClr val="1E293B"/>
                </a:solidFill>
                <a:latin typeface="Calibri"/>
              </a:defRPr>
            </a:pPr>
            <a:r>
              <a:rPr>
                <a:solidFill>
                  <a:srgbClr val="3B82F6"/>
                </a:solidFill>
              </a:rPr>
              <a:t>• Unlike BERT-based models that require extensive fine-tuning, LLMs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Evaluating LLMs vs. traditional ML and BERT-based models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can be utilized in zero-shot or few-shot scenarios, offering</a:t>
            </a:r>
          </a:p>
          <a:p>
            <a:pPr>
              <a:lnSpc>
                <a:spcPct val="135000"/>
              </a:lnSpc>
              <a:spcAft>
                <a:spcPts val="1000"/>
              </a:spcAft>
              <a:defRPr sz="1600">
                <a:solidFill>
                  <a:srgbClr val="1E293B"/>
                </a:solidFill>
                <a:latin typeface="Calibri"/>
              </a:defRPr>
            </a:pPr>
            <a:r>
              <a:rPr>
                <a:solidFill>
                  <a:srgbClr val="3B82F6"/>
                </a:solidFill>
              </a:rPr>
              <a:t>• flexibility in cross-domain tasks.</a:t>
            </a:r>
          </a:p>
          <a:p>
            <a:pPr>
              <a:lnSpc>
                <a:spcPct val="135000"/>
              </a:lnSpc>
              <a:spcAft>
                <a:spcPts val="1000"/>
              </a:spcAft>
              <a:defRPr sz="1600">
                <a:solidFill>
                  <a:srgbClr val="1E293B"/>
                </a:solidFill>
                <a:latin typeface="Calibri"/>
              </a:defRPr>
            </a:pPr>
            <a:r>
              <a:rPr>
                <a:solidFill>
                  <a:srgbClr val="3B82F6"/>
                </a:solidFill>
              </a:rPr>
              <a:t>• The study notes that while fine-tuned models excel in-domain,</a:t>
            </a:r>
          </a:p>
          <a:p>
            <a:pPr>
              <a:lnSpc>
                <a:spcPct val="135000"/>
              </a:lnSpc>
              <a:spcAft>
                <a:spcPts val="1000"/>
              </a:spcAft>
              <a:defRPr sz="1600">
                <a:solidFill>
                  <a:srgbClr val="1E293B"/>
                </a:solidFill>
                <a:latin typeface="Calibri"/>
              </a:defRPr>
            </a:pPr>
            <a:r>
              <a:rPr>
                <a:solidFill>
                  <a:srgbClr val="3B82F6"/>
                </a:solidFill>
              </a:rPr>
              <a:t>• cross-domain architectures like MERMAID and LLMs show superior</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Evaluating LLMs vs. traditional ML and BERT-based models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potential for generalization.</a:t>
            </a:r>
          </a:p>
          <a:p>
            <a:pPr>
              <a:lnSpc>
                <a:spcPct val="135000"/>
              </a:lnSpc>
              <a:spcAft>
                <a:spcPts val="1000"/>
              </a:spcAft>
              <a:defRPr sz="1600">
                <a:solidFill>
                  <a:srgbClr val="1E293B"/>
                </a:solidFill>
                <a:latin typeface="Calibri"/>
              </a:defRPr>
            </a:pPr>
            <a:r>
              <a:rPr>
                <a:solidFill>
                  <a:srgbClr val="3B82F6"/>
                </a:solidFill>
              </a:rPr>
              <a:t>• By comparing these methods, the research demonstrates that while</a:t>
            </a:r>
          </a:p>
          <a:p>
            <a:pPr>
              <a:lnSpc>
                <a:spcPct val="135000"/>
              </a:lnSpc>
              <a:spcAft>
                <a:spcPts val="1000"/>
              </a:spcAft>
              <a:defRPr sz="1600">
                <a:solidFill>
                  <a:srgbClr val="1E293B"/>
                </a:solidFill>
                <a:latin typeface="Calibri"/>
              </a:defRPr>
            </a:pPr>
            <a:r>
              <a:rPr>
                <a:solidFill>
                  <a:srgbClr val="3B82F6"/>
                </a:solidFill>
              </a:rPr>
              <a:t>• traditional and BERT-based models are effective for static,</a:t>
            </a:r>
          </a:p>
          <a:p>
            <a:pPr>
              <a:lnSpc>
                <a:spcPct val="135000"/>
              </a:lnSpc>
              <a:spcAft>
                <a:spcPts val="1000"/>
              </a:spcAft>
              <a:defRPr sz="1600">
                <a:solidFill>
                  <a:srgbClr val="1E293B"/>
                </a:solidFill>
                <a:latin typeface="Calibri"/>
              </a:defRPr>
            </a:pPr>
            <a:r>
              <a:rPr>
                <a:solidFill>
                  <a:srgbClr val="3B82F6"/>
                </a:solidFill>
              </a:rPr>
              <a:t>• in-domain tasks, LLMs provide a new paradigm for handling the</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38</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Evaluating LLMs vs. traditional ML and BERT-based models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dynamic and diverse nature of misinformation across different</a:t>
            </a:r>
          </a:p>
          <a:p>
            <a:pPr>
              <a:lnSpc>
                <a:spcPct val="135000"/>
              </a:lnSpc>
              <a:spcAft>
                <a:spcPts val="1000"/>
              </a:spcAft>
              <a:defRPr sz="1600">
                <a:solidFill>
                  <a:srgbClr val="1E293B"/>
                </a:solidFill>
                <a:latin typeface="Calibri"/>
              </a:defRPr>
            </a:pPr>
            <a:r>
              <a:rPr>
                <a:solidFill>
                  <a:srgbClr val="3B82F6"/>
                </a:solidFill>
              </a:rPr>
              <a:t>• domains.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Example: Evaluating LLMs vs. traditional ML and BERT-based models</a:t>
            </a:r>
          </a:p>
        </p:txBody>
      </p:sp>
      <p:sp>
        <p:nvSpPr>
          <p:cNvPr id="5" name="Rectangle 4"/>
          <p:cNvSpPr/>
          <p:nvPr/>
        </p:nvSpPr>
        <p:spPr>
          <a:xfrm>
            <a:off x="548640" y="1346200"/>
            <a:ext cx="9144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492504"/>
            <a:ext cx="10874959" cy="213842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92504"/>
            <a:ext cx="64008" cy="213842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2232"/>
            <a:ext cx="1828800" cy="228600"/>
          </a:xfrm>
          <a:prstGeom prst="rect">
            <a:avLst/>
          </a:prstGeom>
          <a:noFill/>
        </p:spPr>
        <p:txBody>
          <a:bodyPr wrap="none">
            <a:spAutoFit/>
          </a:bodyPr>
          <a:lstStyle/>
          <a:p>
            <a:pPr>
              <a:defRPr sz="1100" b="1">
                <a:solidFill>
                  <a:srgbClr val="F59E0B"/>
                </a:solidFill>
                <a:latin typeface="Calibri"/>
              </a:defRPr>
            </a:pPr>
            <a:r>
              <a:t>EXAMPLE</a:t>
            </a:r>
          </a:p>
        </p:txBody>
      </p:sp>
      <p:sp>
        <p:nvSpPr>
          <p:cNvPr id="9" name="TextBox 8"/>
          <p:cNvSpPr txBox="1"/>
          <p:nvPr/>
        </p:nvSpPr>
        <p:spPr>
          <a:xfrm>
            <a:off x="868680" y="1839976"/>
            <a:ext cx="10545775" cy="4572000"/>
          </a:xfrm>
          <a:prstGeom prst="rect">
            <a:avLst/>
          </a:prstGeom>
          <a:noFill/>
        </p:spPr>
        <p:txBody>
          <a:bodyPr wrap="square">
            <a:spAutoFit/>
          </a:bodyPr>
          <a:lstStyle/>
          <a:p>
            <a:pPr>
              <a:lnSpc>
                <a:spcPct val="135000"/>
              </a:lnSpc>
              <a:spcAft>
                <a:spcPts val="1000"/>
              </a:spcAft>
              <a:defRPr sz="1600" i="1">
                <a:solidFill>
                  <a:srgbClr val="1E293B"/>
                </a:solidFill>
                <a:latin typeface="Calibri"/>
              </a:defRPr>
            </a:pPr>
            <a:r>
              <a:t>Results show that BERT exhibits statistically significant differences compared to CNN and BiLSTM, while DeBERTa outperforms NB, CNN, BiLSTM, CNN-BERT, and Zephyr-7B-beta, illustrating the performance gap between traditional architectures and advanced transformer-based models.</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179576"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179576" cy="292608"/>
          </a:xfrm>
          <a:prstGeom prst="rect">
            <a:avLst/>
          </a:prstGeom>
          <a:noFill/>
        </p:spPr>
        <p:txBody>
          <a:bodyPr wrap="none">
            <a:spAutoFit/>
          </a:bodyPr>
          <a:lstStyle/>
          <a:p>
            <a:pPr algn="ctr">
              <a:defRPr sz="1100" b="1">
                <a:solidFill>
                  <a:srgbClr val="FFFFFF"/>
                </a:solidFill>
                <a:latin typeface="Calibri"/>
              </a:defRPr>
            </a:pPr>
            <a:r>
              <a:t>Fine-tuning</a:t>
            </a:r>
          </a:p>
        </p:txBody>
      </p:sp>
      <p:sp>
        <p:nvSpPr>
          <p:cNvPr id="9" name="TextBox 8"/>
          <p:cNvSpPr txBox="1"/>
          <p:nvPr/>
        </p:nvSpPr>
        <p:spPr>
          <a:xfrm>
            <a:off x="1865376" y="1157731"/>
            <a:ext cx="3621024" cy="1705610"/>
          </a:xfrm>
          <a:prstGeom prst="rect">
            <a:avLst/>
          </a:prstGeom>
          <a:noFill/>
        </p:spPr>
        <p:txBody>
          <a:bodyPr wrap="square">
            <a:spAutoFit/>
          </a:bodyPr>
          <a:lstStyle/>
          <a:p>
            <a:pPr>
              <a:lnSpc>
                <a:spcPct val="130000"/>
              </a:lnSpc>
              <a:defRPr sz="1400">
                <a:solidFill>
                  <a:srgbClr val="1E293B"/>
                </a:solidFill>
                <a:latin typeface="Calibri"/>
              </a:defRPr>
            </a:pPr>
            <a:r>
              <a:t>The process of adapting a pre-trained model to a specific task or dataset by updating its weights.</a:t>
            </a:r>
          </a:p>
        </p:txBody>
      </p:sp>
      <p:sp>
        <p:nvSpPr>
          <p:cNvPr id="10" name="Rounded Rectangle 9"/>
          <p:cNvSpPr/>
          <p:nvPr/>
        </p:nvSpPr>
        <p:spPr>
          <a:xfrm>
            <a:off x="5943600" y="1048004"/>
            <a:ext cx="5120640" cy="16850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203452"/>
            <a:ext cx="1645920" cy="292608"/>
          </a:xfrm>
          <a:prstGeom prst="rect">
            <a:avLst/>
          </a:prstGeom>
          <a:noFill/>
        </p:spPr>
        <p:txBody>
          <a:bodyPr wrap="none">
            <a:spAutoFit/>
          </a:bodyPr>
          <a:lstStyle/>
          <a:p>
            <a:pPr algn="ctr">
              <a:defRPr sz="1100" b="1">
                <a:solidFill>
                  <a:srgbClr val="FFFFFF"/>
                </a:solidFill>
                <a:latin typeface="Calibri"/>
              </a:defRPr>
            </a:pPr>
            <a:r>
              <a:t>In-domain performance</a:t>
            </a:r>
          </a:p>
        </p:txBody>
      </p:sp>
      <p:sp>
        <p:nvSpPr>
          <p:cNvPr id="13" name="TextBox 12"/>
          <p:cNvSpPr txBox="1"/>
          <p:nvPr/>
        </p:nvSpPr>
        <p:spPr>
          <a:xfrm>
            <a:off x="7726680" y="1157731"/>
            <a:ext cx="3154680" cy="1465580"/>
          </a:xfrm>
          <a:prstGeom prst="rect">
            <a:avLst/>
          </a:prstGeom>
          <a:noFill/>
        </p:spPr>
        <p:txBody>
          <a:bodyPr wrap="square">
            <a:spAutoFit/>
          </a:bodyPr>
          <a:lstStyle/>
          <a:p>
            <a:pPr>
              <a:lnSpc>
                <a:spcPct val="130000"/>
              </a:lnSpc>
              <a:defRPr sz="1400">
                <a:solidFill>
                  <a:srgbClr val="1E293B"/>
                </a:solidFill>
                <a:latin typeface="Calibri"/>
              </a:defRPr>
            </a:pPr>
            <a:r>
              <a:t>Model accuracy when tested on data from the same distribution as the training set.</a:t>
            </a:r>
          </a:p>
        </p:txBody>
      </p:sp>
      <p:sp>
        <p:nvSpPr>
          <p:cNvPr id="14" name="Rounded Rectangle 13"/>
          <p:cNvSpPr/>
          <p:nvPr/>
        </p:nvSpPr>
        <p:spPr>
          <a:xfrm>
            <a:off x="548640" y="3350260"/>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3487420"/>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505708"/>
            <a:ext cx="1645920" cy="292608"/>
          </a:xfrm>
          <a:prstGeom prst="rect">
            <a:avLst/>
          </a:prstGeom>
          <a:noFill/>
        </p:spPr>
        <p:txBody>
          <a:bodyPr wrap="none">
            <a:spAutoFit/>
          </a:bodyPr>
          <a:lstStyle/>
          <a:p>
            <a:pPr algn="ctr">
              <a:defRPr sz="1100" b="1">
                <a:solidFill>
                  <a:srgbClr val="FFFFFF"/>
                </a:solidFill>
                <a:latin typeface="Calibri"/>
              </a:defRPr>
            </a:pPr>
            <a:r>
              <a:t>Cross-domain architectures</a:t>
            </a:r>
          </a:p>
        </p:txBody>
      </p:sp>
      <p:sp>
        <p:nvSpPr>
          <p:cNvPr id="17" name="TextBox 16"/>
          <p:cNvSpPr txBox="1"/>
          <p:nvPr/>
        </p:nvSpPr>
        <p:spPr>
          <a:xfrm>
            <a:off x="2331720" y="3459988"/>
            <a:ext cx="3154680" cy="1945640"/>
          </a:xfrm>
          <a:prstGeom prst="rect">
            <a:avLst/>
          </a:prstGeom>
          <a:noFill/>
        </p:spPr>
        <p:txBody>
          <a:bodyPr wrap="square">
            <a:spAutoFit/>
          </a:bodyPr>
          <a:lstStyle/>
          <a:p>
            <a:pPr>
              <a:lnSpc>
                <a:spcPct val="130000"/>
              </a:lnSpc>
              <a:defRPr sz="1400">
                <a:solidFill>
                  <a:srgbClr val="1E293B"/>
                </a:solidFill>
                <a:latin typeface="Calibri"/>
              </a:defRPr>
            </a:pPr>
            <a:r>
              <a:t>Model designs specifically optimized to generalize across different data distributions or domains.</a:t>
            </a:r>
          </a:p>
        </p:txBody>
      </p:sp>
      <p:sp>
        <p:nvSpPr>
          <p:cNvPr id="18" name="Rounded Rectangle 17"/>
          <p:cNvSpPr/>
          <p:nvPr/>
        </p:nvSpPr>
        <p:spPr>
          <a:xfrm>
            <a:off x="594360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3247389"/>
            <a:ext cx="850392"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265677"/>
            <a:ext cx="850392" cy="292608"/>
          </a:xfrm>
          <a:prstGeom prst="rect">
            <a:avLst/>
          </a:prstGeom>
          <a:noFill/>
        </p:spPr>
        <p:txBody>
          <a:bodyPr wrap="none">
            <a:spAutoFit/>
          </a:bodyPr>
          <a:lstStyle/>
          <a:p>
            <a:pPr algn="ctr">
              <a:defRPr sz="1100" b="1">
                <a:solidFill>
                  <a:srgbClr val="FFFFFF"/>
                </a:solidFill>
                <a:latin typeface="Calibri"/>
              </a:defRPr>
            </a:pPr>
            <a:r>
              <a:t>MERMAID</a:t>
            </a:r>
          </a:p>
        </p:txBody>
      </p:sp>
      <p:sp>
        <p:nvSpPr>
          <p:cNvPr id="21" name="TextBox 20"/>
          <p:cNvSpPr txBox="1"/>
          <p:nvPr/>
        </p:nvSpPr>
        <p:spPr>
          <a:xfrm>
            <a:off x="6931152" y="3219958"/>
            <a:ext cx="3950208" cy="1705610"/>
          </a:xfrm>
          <a:prstGeom prst="rect">
            <a:avLst/>
          </a:prstGeom>
          <a:noFill/>
        </p:spPr>
        <p:txBody>
          <a:bodyPr wrap="square">
            <a:spAutoFit/>
          </a:bodyPr>
          <a:lstStyle/>
          <a:p>
            <a:pPr>
              <a:lnSpc>
                <a:spcPct val="130000"/>
              </a:lnSpc>
              <a:defRPr sz="1400">
                <a:solidFill>
                  <a:srgbClr val="1E293B"/>
                </a:solidFill>
                <a:latin typeface="Calibri"/>
              </a:defRPr>
            </a:pPr>
            <a:r>
              <a:t>A cross-domain fake news detection architecture designed for improved generalization.</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645920" cy="292608"/>
          </a:xfrm>
          <a:prstGeom prst="rect">
            <a:avLst/>
          </a:prstGeom>
          <a:noFill/>
        </p:spPr>
        <p:txBody>
          <a:bodyPr wrap="none">
            <a:spAutoFit/>
          </a:bodyPr>
          <a:lstStyle/>
          <a:p>
            <a:pPr algn="ctr">
              <a:defRPr sz="1100" b="1">
                <a:solidFill>
                  <a:srgbClr val="FFFFFF"/>
                </a:solidFill>
                <a:latin typeface="Calibri"/>
              </a:defRPr>
            </a:pPr>
            <a:r>
              <a:t>Statistical significance</a:t>
            </a:r>
          </a:p>
        </p:txBody>
      </p:sp>
      <p:sp>
        <p:nvSpPr>
          <p:cNvPr id="9" name="TextBox 8"/>
          <p:cNvSpPr txBox="1"/>
          <p:nvPr/>
        </p:nvSpPr>
        <p:spPr>
          <a:xfrm>
            <a:off x="2331720" y="1157731"/>
            <a:ext cx="3154680" cy="1705610"/>
          </a:xfrm>
          <a:prstGeom prst="rect">
            <a:avLst/>
          </a:prstGeom>
          <a:noFill/>
        </p:spPr>
        <p:txBody>
          <a:bodyPr wrap="square">
            <a:spAutoFit/>
          </a:bodyPr>
          <a:lstStyle/>
          <a:p>
            <a:pPr>
              <a:lnSpc>
                <a:spcPct val="130000"/>
              </a:lnSpc>
              <a:defRPr sz="1400">
                <a:solidFill>
                  <a:srgbClr val="1E293B"/>
                </a:solidFill>
                <a:latin typeface="Calibri"/>
              </a:defRPr>
            </a:pPr>
            <a:r>
              <a:t>A measure indicating that observed results are unlikely to have occurred by random chance.</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Lesson Summary</a:t>
            </a:r>
          </a:p>
        </p:txBody>
      </p:sp>
      <p:sp>
        <p:nvSpPr>
          <p:cNvPr id="5" name="Rectangle 4"/>
          <p:cNvSpPr/>
          <p:nvPr/>
        </p:nvSpPr>
        <p:spPr>
          <a:xfrm>
            <a:off x="548640" y="901700"/>
            <a:ext cx="109728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3438144"/>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249172"/>
            <a:ext cx="438912" cy="43891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276604"/>
            <a:ext cx="438912" cy="384048"/>
          </a:xfrm>
          <a:prstGeom prst="rect">
            <a:avLst/>
          </a:prstGeom>
          <a:noFill/>
        </p:spPr>
        <p:txBody>
          <a:bodyPr wrap="none">
            <a:spAutoFit/>
          </a:bodyPr>
          <a:lstStyle/>
          <a:p>
            <a:pPr algn="ctr">
              <a:defRPr sz="2200">
                <a:solidFill>
                  <a:srgbClr val="FFFFFF"/>
                </a:solidFill>
              </a:defRPr>
            </a:pPr>
            <a:r>
              <a:t>✓</a:t>
            </a:r>
          </a:p>
        </p:txBody>
      </p:sp>
      <p:sp>
        <p:nvSpPr>
          <p:cNvPr id="9" name="TextBox 8"/>
          <p:cNvSpPr txBox="1"/>
          <p:nvPr/>
        </p:nvSpPr>
        <p:spPr>
          <a:xfrm>
            <a:off x="1325880" y="1185164"/>
            <a:ext cx="10134295"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t>This lesson explored the foundations of fake news detection by benchmarking 12 diverse methods across 10 heterogeneous datasets. We examined the taxonomy of detection methods, the challenges posed by domain shift in social media, the importance of robust statistical metrics like F1-score, and the comparative performance of traditional ML, BERT-based models, and LLMs.</a:t>
            </a:r>
          </a:p>
          <a:p>
            <a:pPr>
              <a:lnSpc>
                <a:spcPct val="135000"/>
              </a:lnSpc>
              <a:spcAft>
                <a:spcPts val="1000"/>
              </a:spcAft>
              <a:defRPr sz="1600">
                <a:solidFill>
                  <a:srgbClr val="1E293B"/>
                </a:solidFill>
                <a:latin typeface="Calibri"/>
              </a:defRPr>
            </a:pPr>
            <a:r>
              <a:t>The study concludes that while fine-tuned models are effective in-domain, they often fail to generalize, pointing toward cross-domain architectures and LLMs as the future of resilient fake news detection.</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Check Your Understanding</a:t>
            </a:r>
          </a:p>
        </p:txBody>
      </p:sp>
      <p:sp>
        <p:nvSpPr>
          <p:cNvPr id="5" name="Rectangle 4"/>
          <p:cNvSpPr/>
          <p:nvPr/>
        </p:nvSpPr>
        <p:spPr>
          <a:xfrm>
            <a:off x="548640" y="901700"/>
            <a:ext cx="109728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2602991"/>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2491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b="1">
                <a:solidFill>
                  <a:srgbClr val="3B82F6"/>
                </a:solidFill>
              </a:rPr>
              <a:t>1. How do the architectural requirements of traditional ML models differ from those of LLMs in the context of fake news detection?</a:t>
            </a:r>
          </a:p>
          <a:p>
            <a:pPr>
              <a:lnSpc>
                <a:spcPct val="135000"/>
              </a:lnSpc>
              <a:spcAft>
                <a:spcPts val="1000"/>
              </a:spcAft>
              <a:defRPr sz="1600">
                <a:solidFill>
                  <a:srgbClr val="1E293B"/>
                </a:solidFill>
                <a:latin typeface="Calibri"/>
              </a:defRPr>
            </a:pPr>
            <a:r>
              <a:rPr b="1">
                <a:solidFill>
                  <a:srgbClr val="3B82F6"/>
                </a:solidFill>
              </a:rPr>
              <a:t>2. Why does the 'domain shift' problem pose a significant challenge for models trained on social media data?</a:t>
            </a:r>
          </a:p>
          <a:p>
            <a:pPr>
              <a:lnSpc>
                <a:spcPct val="135000"/>
              </a:lnSpc>
              <a:spcAft>
                <a:spcPts val="1000"/>
              </a:spcAft>
              <a:defRPr sz="1600">
                <a:solidFill>
                  <a:srgbClr val="1E293B"/>
                </a:solidFill>
                <a:latin typeface="Calibri"/>
              </a:defRPr>
            </a:pPr>
            <a:r>
              <a:rPr b="1">
                <a:solidFill>
                  <a:srgbClr val="3B82F6"/>
                </a:solidFill>
              </a:rPr>
              <a:t>3. Why is it necessary to use the Friedman test alongside metrics like F1-score when benchmarking multiple models?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Check Your Understanding</a:t>
            </a:r>
          </a:p>
        </p:txBody>
      </p:sp>
      <p:sp>
        <p:nvSpPr>
          <p:cNvPr id="5" name="Rectangle 4"/>
          <p:cNvSpPr/>
          <p:nvPr/>
        </p:nvSpPr>
        <p:spPr>
          <a:xfrm>
            <a:off x="548640" y="901700"/>
            <a:ext cx="109728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2491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b="1">
                <a:solidFill>
                  <a:srgbClr val="3B82F6"/>
                </a:solidFill>
              </a:rPr>
              <a:t>1. What is the primary advantage of using LLMs over BERT-based models when dealing with cross-domain generalization?</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References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1594104"/>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320040" cy="32004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320040" cy="283464"/>
          </a:xfrm>
          <a:prstGeom prst="rect">
            <a:avLst/>
          </a:prstGeom>
          <a:noFill/>
        </p:spPr>
        <p:txBody>
          <a:bodyPr wrap="none">
            <a:spAutoFit/>
          </a:bodyPr>
          <a:lstStyle/>
          <a:p>
            <a:pPr algn="ctr">
              <a:defRPr sz="1200" b="1">
                <a:solidFill>
                  <a:srgbClr val="FFFFFF"/>
                </a:solidFill>
                <a:latin typeface="Calibri"/>
              </a:defRPr>
            </a:pPr>
            <a:r>
              <a:t>1</a:t>
            </a:r>
          </a:p>
        </p:txBody>
      </p:sp>
      <p:sp>
        <p:nvSpPr>
          <p:cNvPr id="9" name="TextBox 8"/>
          <p:cNvSpPr txBox="1"/>
          <p:nvPr/>
        </p:nvSpPr>
        <p:spPr>
          <a:xfrm>
            <a:off x="1051560" y="1139444"/>
            <a:ext cx="10454335" cy="2743200"/>
          </a:xfrm>
          <a:prstGeom prst="rect">
            <a:avLst/>
          </a:prstGeom>
          <a:noFill/>
        </p:spPr>
        <p:txBody>
          <a:bodyPr wrap="square">
            <a:spAutoFit/>
          </a:bodyPr>
          <a:lstStyle/>
          <a:p>
            <a:pPr>
              <a:lnSpc>
                <a:spcPct val="125000"/>
              </a:lnSpc>
              <a:defRPr sz="1600" b="1">
                <a:solidFill>
                  <a:srgbClr val="1E293B"/>
                </a:solidFill>
                <a:latin typeface="Calibri"/>
              </a:defRPr>
            </a:pPr>
            <a:r>
              <a:t>An Experimental Comparison of the Most Popular Approaches to Fake News Detection</a:t>
            </a:r>
          </a:p>
          <a:p>
            <a:pPr>
              <a:lnSpc>
                <a:spcPct val="125000"/>
              </a:lnSpc>
              <a:defRPr sz="1400">
                <a:solidFill>
                  <a:srgbClr val="64748B"/>
                </a:solidFill>
                <a:latin typeface="Calibri"/>
              </a:defRPr>
            </a:pPr>
            <a:r>
              <a:t>Various</a:t>
            </a:r>
          </a:p>
          <a:p>
            <a:pPr>
              <a:lnSpc>
                <a:spcPct val="125000"/>
              </a:lnSpc>
              <a:defRPr sz="1400">
                <a:solidFill>
                  <a:srgbClr val="64748B"/>
                </a:solidFill>
                <a:latin typeface="Calibri"/>
              </a:defRPr>
            </a:pPr>
            <a:r>
              <a:t>(2024)</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46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Module Context</a:t>
            </a:r>
          </a:p>
        </p:txBody>
      </p:sp>
      <p:sp>
        <p:nvSpPr>
          <p:cNvPr id="5" name="Rectangle 4"/>
          <p:cNvSpPr/>
          <p:nvPr/>
        </p:nvSpPr>
        <p:spPr>
          <a:xfrm>
            <a:off x="548640" y="901700"/>
            <a:ext cx="109728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3545738" cy="334365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048004"/>
            <a:ext cx="3545738"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185164"/>
            <a:ext cx="3179978" cy="320040"/>
          </a:xfrm>
          <a:prstGeom prst="rect">
            <a:avLst/>
          </a:prstGeom>
          <a:noFill/>
        </p:spPr>
        <p:txBody>
          <a:bodyPr wrap="none">
            <a:spAutoFit/>
          </a:bodyPr>
          <a:lstStyle/>
          <a:p>
            <a:pPr>
              <a:defRPr sz="1100" b="1">
                <a:solidFill>
                  <a:srgbClr val="F59E0B"/>
                </a:solidFill>
                <a:latin typeface="Calibri"/>
              </a:defRPr>
            </a:pPr>
            <a:r>
              <a:t>PROBLEM</a:t>
            </a:r>
          </a:p>
        </p:txBody>
      </p:sp>
      <p:sp>
        <p:nvSpPr>
          <p:cNvPr id="9" name="TextBox 8"/>
          <p:cNvSpPr txBox="1"/>
          <p:nvPr/>
        </p:nvSpPr>
        <p:spPr>
          <a:xfrm>
            <a:off x="749808" y="1505204"/>
            <a:ext cx="3179978" cy="2703575"/>
          </a:xfrm>
          <a:prstGeom prst="rect">
            <a:avLst/>
          </a:prstGeom>
          <a:noFill/>
        </p:spPr>
        <p:txBody>
          <a:bodyPr wrap="square">
            <a:spAutoFit/>
          </a:bodyPr>
          <a:lstStyle/>
          <a:p>
            <a:pPr>
              <a:lnSpc>
                <a:spcPct val="130000"/>
              </a:lnSpc>
              <a:defRPr sz="1600">
                <a:solidFill>
                  <a:srgbClr val="1E293B"/>
                </a:solidFill>
                <a:latin typeface="Calibri"/>
              </a:defRPr>
            </a:pPr>
            <a:r>
              <a:t>The difficulty of distinguishing fake news due to the limitations of existing graph models in capturing structural representation and node heterogeneity.</a:t>
            </a:r>
          </a:p>
        </p:txBody>
      </p:sp>
      <p:sp>
        <p:nvSpPr>
          <p:cNvPr id="10" name="Rounded Rectangle 9"/>
          <p:cNvSpPr/>
          <p:nvPr/>
        </p:nvSpPr>
        <p:spPr>
          <a:xfrm>
            <a:off x="4322978" y="1048004"/>
            <a:ext cx="3545738" cy="361797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22978" y="1048004"/>
            <a:ext cx="3545738"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4146" y="1185164"/>
            <a:ext cx="3179978" cy="320040"/>
          </a:xfrm>
          <a:prstGeom prst="rect">
            <a:avLst/>
          </a:prstGeom>
          <a:noFill/>
        </p:spPr>
        <p:txBody>
          <a:bodyPr wrap="none">
            <a:spAutoFit/>
          </a:bodyPr>
          <a:lstStyle/>
          <a:p>
            <a:pPr>
              <a:defRPr sz="1100" b="1">
                <a:solidFill>
                  <a:srgbClr val="10B981"/>
                </a:solidFill>
                <a:latin typeface="Calibri"/>
              </a:defRPr>
            </a:pPr>
            <a:r>
              <a:t>SOLUTION</a:t>
            </a:r>
          </a:p>
        </p:txBody>
      </p:sp>
      <p:sp>
        <p:nvSpPr>
          <p:cNvPr id="13" name="TextBox 12"/>
          <p:cNvSpPr txBox="1"/>
          <p:nvPr/>
        </p:nvSpPr>
        <p:spPr>
          <a:xfrm>
            <a:off x="4524146" y="1505204"/>
            <a:ext cx="3179978" cy="2977896"/>
          </a:xfrm>
          <a:prstGeom prst="rect">
            <a:avLst/>
          </a:prstGeom>
          <a:noFill/>
        </p:spPr>
        <p:txBody>
          <a:bodyPr wrap="square">
            <a:spAutoFit/>
          </a:bodyPr>
          <a:lstStyle/>
          <a:p>
            <a:pPr>
              <a:lnSpc>
                <a:spcPct val="130000"/>
              </a:lnSpc>
              <a:defRPr sz="1600">
                <a:solidFill>
                  <a:srgbClr val="1E293B"/>
                </a:solidFill>
                <a:latin typeface="Calibri"/>
              </a:defRPr>
            </a:pPr>
            <a:r>
              <a:t>Proposing the HetTransformer model, which uses an encoder-decoder structure to aggregate local multi-modal semantics and global structural representations.</a:t>
            </a:r>
          </a:p>
        </p:txBody>
      </p:sp>
      <p:sp>
        <p:nvSpPr>
          <p:cNvPr id="14" name="Rounded Rectangle 13"/>
          <p:cNvSpPr/>
          <p:nvPr/>
        </p:nvSpPr>
        <p:spPr>
          <a:xfrm>
            <a:off x="8097316" y="1048004"/>
            <a:ext cx="3545738"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7316" y="1048004"/>
            <a:ext cx="3545738"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8484" y="1185164"/>
            <a:ext cx="3179978" cy="320040"/>
          </a:xfrm>
          <a:prstGeom prst="rect">
            <a:avLst/>
          </a:prstGeom>
          <a:noFill/>
        </p:spPr>
        <p:txBody>
          <a:bodyPr wrap="none">
            <a:spAutoFit/>
          </a:bodyPr>
          <a:lstStyle/>
          <a:p>
            <a:pPr>
              <a:defRPr sz="1100" b="1">
                <a:solidFill>
                  <a:srgbClr val="3B82F6"/>
                </a:solidFill>
                <a:latin typeface="Calibri"/>
              </a:defRPr>
            </a:pPr>
            <a:r>
              <a:t>DIFFICULTY</a:t>
            </a:r>
          </a:p>
        </p:txBody>
      </p:sp>
      <p:sp>
        <p:nvSpPr>
          <p:cNvPr id="17" name="TextBox 16"/>
          <p:cNvSpPr txBox="1"/>
          <p:nvPr/>
        </p:nvSpPr>
        <p:spPr>
          <a:xfrm>
            <a:off x="8298484" y="1505204"/>
            <a:ext cx="3179978" cy="1371600"/>
          </a:xfrm>
          <a:prstGeom prst="rect">
            <a:avLst/>
          </a:prstGeom>
          <a:noFill/>
        </p:spPr>
        <p:txBody>
          <a:bodyPr wrap="square">
            <a:spAutoFit/>
          </a:bodyPr>
          <a:lstStyle/>
          <a:p>
            <a:pPr>
              <a:lnSpc>
                <a:spcPct val="130000"/>
              </a:lnSpc>
              <a:defRPr sz="1600">
                <a:solidFill>
                  <a:srgbClr val="1E293B"/>
                </a:solidFill>
                <a:latin typeface="Calibri"/>
              </a:defRPr>
            </a:pPr>
            <a:r>
              <a:t>intermediate</a:t>
            </a:r>
          </a:p>
        </p:txBody>
      </p:sp>
      <p:sp>
        <p:nvSpPr>
          <p:cNvPr id="18" name="Rectangle 1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0" name="TextBox 1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835121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34440" y="2651760"/>
            <a:ext cx="1280160" cy="1280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926080"/>
            <a:ext cx="914400" cy="731520"/>
          </a:xfrm>
          <a:prstGeom prst="rect">
            <a:avLst/>
          </a:prstGeom>
          <a:noFill/>
        </p:spPr>
        <p:txBody>
          <a:bodyPr wrap="none">
            <a:spAutoFit/>
          </a:bodyPr>
          <a:lstStyle/>
          <a:p>
            <a:pPr algn="ctr">
              <a:defRPr sz="4400">
                <a:solidFill>
                  <a:srgbClr val="FFFFFF"/>
                </a:solidFill>
                <a:latin typeface="Calibri"/>
              </a:defRPr>
            </a:pPr>
            <a:r>
              <a:t>§</a:t>
            </a:r>
          </a:p>
        </p:txBody>
      </p:sp>
      <p:sp>
        <p:nvSpPr>
          <p:cNvPr id="6" name="TextBox 5"/>
          <p:cNvSpPr txBox="1"/>
          <p:nvPr/>
        </p:nvSpPr>
        <p:spPr>
          <a:xfrm>
            <a:off x="4389120" y="2468880"/>
            <a:ext cx="7772400" cy="2148840"/>
          </a:xfrm>
          <a:prstGeom prst="rect">
            <a:avLst/>
          </a:prstGeom>
          <a:noFill/>
        </p:spPr>
        <p:txBody>
          <a:bodyPr wrap="square">
            <a:spAutoFit/>
          </a:bodyPr>
          <a:lstStyle/>
          <a:p>
            <a:pPr>
              <a:defRPr sz="4400" b="1">
                <a:solidFill>
                  <a:srgbClr val="1E293B"/>
                </a:solidFill>
                <a:latin typeface="Calibri"/>
              </a:defRPr>
            </a:pPr>
            <a:r>
              <a:t>Heterogeneous graph structures in social networks</a:t>
            </a:r>
          </a:p>
        </p:txBody>
      </p:sp>
      <p:sp>
        <p:nvSpPr>
          <p:cNvPr id="7" name="Rectangle 6"/>
          <p:cNvSpPr/>
          <p:nvPr/>
        </p:nvSpPr>
        <p:spPr>
          <a:xfrm>
            <a:off x="4389120" y="4663440"/>
            <a:ext cx="128016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4773168"/>
            <a:ext cx="7772400" cy="457200"/>
          </a:xfrm>
          <a:prstGeom prst="rect">
            <a:avLst/>
          </a:prstGeom>
          <a:noFill/>
        </p:spPr>
        <p:txBody>
          <a:bodyPr wrap="none">
            <a:spAutoFit/>
          </a:bodyPr>
          <a:lstStyle/>
          <a:p>
            <a:pPr>
              <a:defRPr sz="2400">
                <a:solidFill>
                  <a:srgbClr val="64748B"/>
                </a:solidFill>
                <a:latin typeface="Calibri"/>
              </a:defRPr>
            </a:pPr>
            <a:r>
              <a:t>Modeling Social Context with Heterogeneous Transformers</a:t>
            </a:r>
          </a:p>
        </p:txBody>
      </p:sp>
      <p:sp>
        <p:nvSpPr>
          <p:cNvPr id="9" name="Rectangle 8"/>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1" name="TextBox 10"/>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Heterogeneous graph structures in social networks</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Building on the generalization challenges discussed in our</a:t>
            </a:r>
          </a:p>
          <a:p>
            <a:pPr>
              <a:lnSpc>
                <a:spcPct val="135000"/>
              </a:lnSpc>
              <a:spcAft>
                <a:spcPts val="1000"/>
              </a:spcAft>
              <a:defRPr sz="1600">
                <a:solidFill>
                  <a:srgbClr val="1E293B"/>
                </a:solidFill>
                <a:latin typeface="Calibri"/>
              </a:defRPr>
            </a:pPr>
            <a:r>
              <a:rPr>
                <a:solidFill>
                  <a:srgbClr val="3B82F6"/>
                </a:solidFill>
              </a:rPr>
              <a:t>• previous lesson, we now address the limitations of existing graph</a:t>
            </a:r>
          </a:p>
          <a:p>
            <a:pPr>
              <a:lnSpc>
                <a:spcPct val="135000"/>
              </a:lnSpc>
              <a:spcAft>
                <a:spcPts val="1000"/>
              </a:spcAft>
              <a:defRPr sz="1600">
                <a:solidFill>
                  <a:srgbClr val="1E293B"/>
                </a:solidFill>
                <a:latin typeface="Calibri"/>
              </a:defRPr>
            </a:pPr>
            <a:r>
              <a:rPr>
                <a:solidFill>
                  <a:srgbClr val="3B82F6"/>
                </a:solidFill>
              </a:rPr>
              <a:t>• models that struggle with the complex, multi-typed nature of</a:t>
            </a:r>
          </a:p>
          <a:p>
            <a:pPr>
              <a:lnSpc>
                <a:spcPct val="135000"/>
              </a:lnSpc>
              <a:spcAft>
                <a:spcPts val="1000"/>
              </a:spcAft>
              <a:defRPr sz="1600">
                <a:solidFill>
                  <a:srgbClr val="1E293B"/>
                </a:solidFill>
                <a:latin typeface="Calibri"/>
              </a:defRPr>
            </a:pPr>
            <a:r>
              <a:rPr>
                <a:solidFill>
                  <a:srgbClr val="3B82F6"/>
                </a:solidFill>
              </a:rPr>
              <a:t>• social networks.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Heterogeneous graph structures in social networks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Social networks are inherently heterogeneous, containing diverse</a:t>
            </a:r>
          </a:p>
          <a:p>
            <a:pPr>
              <a:lnSpc>
                <a:spcPct val="135000"/>
              </a:lnSpc>
              <a:spcAft>
                <a:spcPts val="1000"/>
              </a:spcAft>
              <a:defRPr sz="1600">
                <a:solidFill>
                  <a:srgbClr val="1E293B"/>
                </a:solidFill>
                <a:latin typeface="Calibri"/>
              </a:defRPr>
            </a:pPr>
            <a:r>
              <a:rPr>
                <a:solidFill>
                  <a:srgbClr val="3B82F6"/>
                </a:solidFill>
              </a:rPr>
              <a:t>• node types (e.g., news, users, posts) and edge types (e.g.,</a:t>
            </a:r>
          </a:p>
          <a:p>
            <a:pPr>
              <a:lnSpc>
                <a:spcPct val="135000"/>
              </a:lnSpc>
              <a:spcAft>
                <a:spcPts val="1000"/>
              </a:spcAft>
              <a:defRPr sz="1600">
                <a:solidFill>
                  <a:srgbClr val="1E293B"/>
                </a:solidFill>
                <a:latin typeface="Calibri"/>
              </a:defRPr>
            </a:pPr>
            <a:r>
              <a:rPr>
                <a:solidFill>
                  <a:srgbClr val="3B82F6"/>
                </a:solidFill>
              </a:rPr>
              <a:t>• 'posted by', 'shared by').</a:t>
            </a:r>
          </a:p>
          <a:p>
            <a:pPr>
              <a:lnSpc>
                <a:spcPct val="135000"/>
              </a:lnSpc>
              <a:spcAft>
                <a:spcPts val="1000"/>
              </a:spcAft>
              <a:defRPr sz="1600">
                <a:solidFill>
                  <a:srgbClr val="1E293B"/>
                </a:solidFill>
                <a:latin typeface="Calibri"/>
              </a:defRPr>
            </a:pPr>
            <a:r>
              <a:rPr>
                <a:solidFill>
                  <a:srgbClr val="3B82F6"/>
                </a:solidFill>
              </a:rPr>
              <a:t>• Traditional graph models often fail because they rely on rigid</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Heterogeneous graph structures in social networks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meta-path structures or struggle to model the full heterogeneity</a:t>
            </a:r>
          </a:p>
          <a:p>
            <a:pPr>
              <a:lnSpc>
                <a:spcPct val="135000"/>
              </a:lnSpc>
              <a:spcAft>
                <a:spcPts val="1000"/>
              </a:spcAft>
              <a:defRPr sz="1600">
                <a:solidFill>
                  <a:srgbClr val="1E293B"/>
                </a:solidFill>
                <a:latin typeface="Calibri"/>
              </a:defRPr>
            </a:pPr>
            <a:r>
              <a:rPr>
                <a:solidFill>
                  <a:srgbClr val="3B82F6"/>
                </a:solidFill>
              </a:rPr>
              <a:t>• of nodes and edges, leading to poor structural representation.</a:t>
            </a:r>
          </a:p>
          <a:p>
            <a:pPr>
              <a:lnSpc>
                <a:spcPct val="135000"/>
              </a:lnSpc>
              <a:spcAft>
                <a:spcPts val="1000"/>
              </a:spcAft>
              <a:defRPr sz="1600">
                <a:solidFill>
                  <a:srgbClr val="1E293B"/>
                </a:solidFill>
                <a:latin typeface="Calibri"/>
              </a:defRPr>
            </a:pPr>
            <a:r>
              <a:rPr>
                <a:solidFill>
                  <a:srgbClr val="3B82F6"/>
                </a:solidFill>
              </a:rPr>
              <a:t>• The HetTransformer approach addresses this by treating the social</a:t>
            </a:r>
          </a:p>
          <a:p>
            <a:pPr>
              <a:lnSpc>
                <a:spcPct val="135000"/>
              </a:lnSpc>
              <a:spcAft>
                <a:spcPts val="1000"/>
              </a:spcAft>
              <a:defRPr sz="1600">
                <a:solidFill>
                  <a:srgbClr val="1E293B"/>
                </a:solidFill>
                <a:latin typeface="Calibri"/>
              </a:defRPr>
            </a:pPr>
            <a:r>
              <a:rPr>
                <a:solidFill>
                  <a:srgbClr val="3B82F6"/>
                </a:solidFill>
              </a:rPr>
              <a:t>• network as a heterogeneous graph where each node type has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Heterogeneous graph structures in social networks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specific transformation matrices.</a:t>
            </a:r>
          </a:p>
          <a:p>
            <a:pPr>
              <a:lnSpc>
                <a:spcPct val="135000"/>
              </a:lnSpc>
              <a:spcAft>
                <a:spcPts val="1000"/>
              </a:spcAft>
              <a:defRPr sz="1600">
                <a:solidFill>
                  <a:srgbClr val="1E293B"/>
                </a:solidFill>
                <a:latin typeface="Calibri"/>
              </a:defRPr>
            </a:pPr>
            <a:r>
              <a:rPr>
                <a:solidFill>
                  <a:srgbClr val="3B82F6"/>
                </a:solidFill>
              </a:rPr>
              <a:t>• By projecting different attribute types into a unified dimension</a:t>
            </a:r>
          </a:p>
          <a:p>
            <a:pPr>
              <a:lnSpc>
                <a:spcPct val="135000"/>
              </a:lnSpc>
              <a:spcAft>
                <a:spcPts val="1000"/>
              </a:spcAft>
              <a:defRPr sz="1600">
                <a:solidFill>
                  <a:srgbClr val="1E293B"/>
                </a:solidFill>
                <a:latin typeface="Calibri"/>
              </a:defRPr>
            </a:pPr>
            <a:r>
              <a:rPr>
                <a:solidFill>
                  <a:srgbClr val="3B82F6"/>
                </a:solidFill>
              </a:rPr>
              <a:t>• size, the model can effectively process the diverse relationships</a:t>
            </a:r>
          </a:p>
          <a:p>
            <a:pPr>
              <a:lnSpc>
                <a:spcPct val="135000"/>
              </a:lnSpc>
              <a:spcAft>
                <a:spcPts val="1000"/>
              </a:spcAft>
              <a:defRPr sz="1600">
                <a:solidFill>
                  <a:srgbClr val="1E293B"/>
                </a:solidFill>
                <a:latin typeface="Calibri"/>
              </a:defRPr>
            </a:pPr>
            <a:r>
              <a:rPr>
                <a:solidFill>
                  <a:srgbClr val="3B82F6"/>
                </a:solidFill>
              </a:rPr>
              <a:t>• that define how fake news propagates, moving beyond the</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Heterogeneous graph structures in social networks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constraints of homogeneous graph assumptions.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Example: Heterogeneous graph structures in social networks</a:t>
            </a:r>
          </a:p>
        </p:txBody>
      </p:sp>
      <p:sp>
        <p:nvSpPr>
          <p:cNvPr id="5" name="Rectangle 4"/>
          <p:cNvSpPr/>
          <p:nvPr/>
        </p:nvSpPr>
        <p:spPr>
          <a:xfrm>
            <a:off x="548640" y="1346200"/>
            <a:ext cx="9144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492504"/>
            <a:ext cx="10874959" cy="186410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92504"/>
            <a:ext cx="64008" cy="1864105"/>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2232"/>
            <a:ext cx="1828800" cy="228600"/>
          </a:xfrm>
          <a:prstGeom prst="rect">
            <a:avLst/>
          </a:prstGeom>
          <a:noFill/>
        </p:spPr>
        <p:txBody>
          <a:bodyPr wrap="none">
            <a:spAutoFit/>
          </a:bodyPr>
          <a:lstStyle/>
          <a:p>
            <a:pPr>
              <a:defRPr sz="1100" b="1">
                <a:solidFill>
                  <a:srgbClr val="F59E0B"/>
                </a:solidFill>
                <a:latin typeface="Calibri"/>
              </a:defRPr>
            </a:pPr>
            <a:r>
              <a:t>EXAMPLE</a:t>
            </a:r>
          </a:p>
        </p:txBody>
      </p:sp>
      <p:sp>
        <p:nvSpPr>
          <p:cNvPr id="9" name="TextBox 8"/>
          <p:cNvSpPr txBox="1"/>
          <p:nvPr/>
        </p:nvSpPr>
        <p:spPr>
          <a:xfrm>
            <a:off x="868680" y="1839976"/>
            <a:ext cx="10545775" cy="4572000"/>
          </a:xfrm>
          <a:prstGeom prst="rect">
            <a:avLst/>
          </a:prstGeom>
          <a:noFill/>
        </p:spPr>
        <p:txBody>
          <a:bodyPr wrap="square">
            <a:spAutoFit/>
          </a:bodyPr>
          <a:lstStyle/>
          <a:p>
            <a:pPr>
              <a:lnSpc>
                <a:spcPct val="135000"/>
              </a:lnSpc>
              <a:spcAft>
                <a:spcPts val="1000"/>
              </a:spcAft>
              <a:defRPr sz="1600" i="1">
                <a:solidFill>
                  <a:srgbClr val="1E293B"/>
                </a:solidFill>
                <a:latin typeface="Calibri"/>
              </a:defRPr>
            </a:pPr>
            <a:r>
              <a:t>The model utilizes type-specific transformation matrices M φi k to project embeddings of different attribute types into a unified dimension size d, allowing the architecture to handle the diverse node and edge types present in real-world social network datasets.</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54</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645920" cy="292608"/>
          </a:xfrm>
          <a:prstGeom prst="rect">
            <a:avLst/>
          </a:prstGeom>
          <a:noFill/>
        </p:spPr>
        <p:txBody>
          <a:bodyPr wrap="none">
            <a:spAutoFit/>
          </a:bodyPr>
          <a:lstStyle/>
          <a:p>
            <a:pPr algn="ctr">
              <a:defRPr sz="1100" b="1">
                <a:solidFill>
                  <a:srgbClr val="FFFFFF"/>
                </a:solidFill>
                <a:latin typeface="Calibri"/>
              </a:defRPr>
            </a:pPr>
            <a:r>
              <a:t>Heterogeneous Graph</a:t>
            </a:r>
          </a:p>
        </p:txBody>
      </p:sp>
      <p:sp>
        <p:nvSpPr>
          <p:cNvPr id="9" name="TextBox 8"/>
          <p:cNvSpPr txBox="1"/>
          <p:nvPr/>
        </p:nvSpPr>
        <p:spPr>
          <a:xfrm>
            <a:off x="2331720" y="1157731"/>
            <a:ext cx="3154680" cy="1945640"/>
          </a:xfrm>
          <a:prstGeom prst="rect">
            <a:avLst/>
          </a:prstGeom>
          <a:noFill/>
        </p:spPr>
        <p:txBody>
          <a:bodyPr wrap="square">
            <a:spAutoFit/>
          </a:bodyPr>
          <a:lstStyle/>
          <a:p>
            <a:pPr>
              <a:lnSpc>
                <a:spcPct val="130000"/>
              </a:lnSpc>
              <a:defRPr sz="1400">
                <a:solidFill>
                  <a:srgbClr val="1E293B"/>
                </a:solidFill>
                <a:latin typeface="Calibri"/>
              </a:defRPr>
            </a:pPr>
            <a:r>
              <a:t>A graph containing multiple types of nodes and edges, such as users, posts, and news articles in a social network.</a:t>
            </a:r>
          </a:p>
        </p:txBody>
      </p:sp>
      <p:sp>
        <p:nvSpPr>
          <p:cNvPr id="10" name="Rounded Rectangle 9"/>
          <p:cNvSpPr/>
          <p:nvPr/>
        </p:nvSpPr>
        <p:spPr>
          <a:xfrm>
            <a:off x="5943600" y="1048004"/>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203452"/>
            <a:ext cx="1645920" cy="292608"/>
          </a:xfrm>
          <a:prstGeom prst="rect">
            <a:avLst/>
          </a:prstGeom>
          <a:noFill/>
        </p:spPr>
        <p:txBody>
          <a:bodyPr wrap="none">
            <a:spAutoFit/>
          </a:bodyPr>
          <a:lstStyle/>
          <a:p>
            <a:pPr algn="ctr">
              <a:defRPr sz="1100" b="1">
                <a:solidFill>
                  <a:srgbClr val="FFFFFF"/>
                </a:solidFill>
                <a:latin typeface="Calibri"/>
              </a:defRPr>
            </a:pPr>
            <a:r>
              <a:t>Node Heterogeneity</a:t>
            </a:r>
          </a:p>
        </p:txBody>
      </p:sp>
      <p:sp>
        <p:nvSpPr>
          <p:cNvPr id="13" name="TextBox 12"/>
          <p:cNvSpPr txBox="1"/>
          <p:nvPr/>
        </p:nvSpPr>
        <p:spPr>
          <a:xfrm>
            <a:off x="7726680" y="1157731"/>
            <a:ext cx="3154680" cy="1705610"/>
          </a:xfrm>
          <a:prstGeom prst="rect">
            <a:avLst/>
          </a:prstGeom>
          <a:noFill/>
        </p:spPr>
        <p:txBody>
          <a:bodyPr wrap="square">
            <a:spAutoFit/>
          </a:bodyPr>
          <a:lstStyle/>
          <a:p>
            <a:pPr>
              <a:lnSpc>
                <a:spcPct val="130000"/>
              </a:lnSpc>
              <a:defRPr sz="1400">
                <a:solidFill>
                  <a:srgbClr val="1E293B"/>
                </a:solidFill>
                <a:latin typeface="Calibri"/>
              </a:defRPr>
            </a:pPr>
            <a:r>
              <a:t>The presence of different node types within a graph, each with distinct attributes and roles.</a:t>
            </a:r>
          </a:p>
        </p:txBody>
      </p:sp>
      <p:sp>
        <p:nvSpPr>
          <p:cNvPr id="14" name="Rounded Rectangle 13"/>
          <p:cNvSpPr/>
          <p:nvPr/>
        </p:nvSpPr>
        <p:spPr>
          <a:xfrm>
            <a:off x="54864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3247389"/>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265677"/>
            <a:ext cx="1645920" cy="292608"/>
          </a:xfrm>
          <a:prstGeom prst="rect">
            <a:avLst/>
          </a:prstGeom>
          <a:noFill/>
        </p:spPr>
        <p:txBody>
          <a:bodyPr wrap="none">
            <a:spAutoFit/>
          </a:bodyPr>
          <a:lstStyle/>
          <a:p>
            <a:pPr algn="ctr">
              <a:defRPr sz="1100" b="1">
                <a:solidFill>
                  <a:srgbClr val="FFFFFF"/>
                </a:solidFill>
                <a:latin typeface="Calibri"/>
              </a:defRPr>
            </a:pPr>
            <a:r>
              <a:t>Transformation Matrix</a:t>
            </a:r>
          </a:p>
        </p:txBody>
      </p:sp>
      <p:sp>
        <p:nvSpPr>
          <p:cNvPr id="17" name="TextBox 16"/>
          <p:cNvSpPr txBox="1"/>
          <p:nvPr/>
        </p:nvSpPr>
        <p:spPr>
          <a:xfrm>
            <a:off x="2331720" y="3219958"/>
            <a:ext cx="3154680" cy="1705610"/>
          </a:xfrm>
          <a:prstGeom prst="rect">
            <a:avLst/>
          </a:prstGeom>
          <a:noFill/>
        </p:spPr>
        <p:txBody>
          <a:bodyPr wrap="square">
            <a:spAutoFit/>
          </a:bodyPr>
          <a:lstStyle/>
          <a:p>
            <a:pPr>
              <a:lnSpc>
                <a:spcPct val="130000"/>
              </a:lnSpc>
              <a:defRPr sz="1400">
                <a:solidFill>
                  <a:srgbClr val="1E293B"/>
                </a:solidFill>
                <a:latin typeface="Calibri"/>
              </a:defRPr>
            </a:pPr>
            <a:r>
              <a:t>A mathematical matrix used to project embeddings from one dimension or type to another.</a:t>
            </a:r>
          </a:p>
        </p:txBody>
      </p:sp>
      <p:sp>
        <p:nvSpPr>
          <p:cNvPr id="18" name="Rounded Rectangle 17"/>
          <p:cNvSpPr/>
          <p:nvPr/>
        </p:nvSpPr>
        <p:spPr>
          <a:xfrm>
            <a:off x="594360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3247389"/>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265677"/>
            <a:ext cx="1645920" cy="292608"/>
          </a:xfrm>
          <a:prstGeom prst="rect">
            <a:avLst/>
          </a:prstGeom>
          <a:noFill/>
        </p:spPr>
        <p:txBody>
          <a:bodyPr wrap="none">
            <a:spAutoFit/>
          </a:bodyPr>
          <a:lstStyle/>
          <a:p>
            <a:pPr algn="ctr">
              <a:defRPr sz="1100" b="1">
                <a:solidFill>
                  <a:srgbClr val="FFFFFF"/>
                </a:solidFill>
                <a:latin typeface="Calibri"/>
              </a:defRPr>
            </a:pPr>
            <a:r>
              <a:t>Structural Representation</a:t>
            </a:r>
          </a:p>
        </p:txBody>
      </p:sp>
      <p:sp>
        <p:nvSpPr>
          <p:cNvPr id="21" name="TextBox 20"/>
          <p:cNvSpPr txBox="1"/>
          <p:nvPr/>
        </p:nvSpPr>
        <p:spPr>
          <a:xfrm>
            <a:off x="7726680" y="3219958"/>
            <a:ext cx="3154680" cy="1705610"/>
          </a:xfrm>
          <a:prstGeom prst="rect">
            <a:avLst/>
          </a:prstGeom>
          <a:noFill/>
        </p:spPr>
        <p:txBody>
          <a:bodyPr wrap="square">
            <a:spAutoFit/>
          </a:bodyPr>
          <a:lstStyle/>
          <a:p>
            <a:pPr>
              <a:lnSpc>
                <a:spcPct val="130000"/>
              </a:lnSpc>
              <a:defRPr sz="1400">
                <a:solidFill>
                  <a:srgbClr val="1E293B"/>
                </a:solidFill>
                <a:latin typeface="Calibri"/>
              </a:defRPr>
            </a:pPr>
            <a:r>
              <a:t>A mathematical encoding of the topology and connectivity patterns within a graph.</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835121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34440" y="2651760"/>
            <a:ext cx="1280160" cy="1280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926080"/>
            <a:ext cx="914400" cy="731520"/>
          </a:xfrm>
          <a:prstGeom prst="rect">
            <a:avLst/>
          </a:prstGeom>
          <a:noFill/>
        </p:spPr>
        <p:txBody>
          <a:bodyPr wrap="none">
            <a:spAutoFit/>
          </a:bodyPr>
          <a:lstStyle/>
          <a:p>
            <a:pPr algn="ctr">
              <a:defRPr sz="4400">
                <a:solidFill>
                  <a:srgbClr val="FFFFFF"/>
                </a:solidFill>
                <a:latin typeface="Calibri"/>
              </a:defRPr>
            </a:pPr>
            <a:r>
              <a:t>§</a:t>
            </a:r>
          </a:p>
        </p:txBody>
      </p:sp>
      <p:sp>
        <p:nvSpPr>
          <p:cNvPr id="6" name="TextBox 5"/>
          <p:cNvSpPr txBox="1"/>
          <p:nvPr/>
        </p:nvSpPr>
        <p:spPr>
          <a:xfrm>
            <a:off x="4389120" y="2468880"/>
            <a:ext cx="7772400" cy="2148840"/>
          </a:xfrm>
          <a:prstGeom prst="rect">
            <a:avLst/>
          </a:prstGeom>
          <a:noFill/>
        </p:spPr>
        <p:txBody>
          <a:bodyPr wrap="square">
            <a:spAutoFit/>
          </a:bodyPr>
          <a:lstStyle/>
          <a:p>
            <a:pPr>
              <a:defRPr sz="4400" b="1">
                <a:solidFill>
                  <a:srgbClr val="1E293B"/>
                </a:solidFill>
                <a:latin typeface="Calibri"/>
              </a:defRPr>
            </a:pPr>
            <a:r>
              <a:t>Encoder-decoder architectures for news content</a:t>
            </a:r>
          </a:p>
        </p:txBody>
      </p:sp>
      <p:sp>
        <p:nvSpPr>
          <p:cNvPr id="7" name="Rectangle 6"/>
          <p:cNvSpPr/>
          <p:nvPr/>
        </p:nvSpPr>
        <p:spPr>
          <a:xfrm>
            <a:off x="4389120" y="4663440"/>
            <a:ext cx="128016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4773168"/>
            <a:ext cx="7772400" cy="457200"/>
          </a:xfrm>
          <a:prstGeom prst="rect">
            <a:avLst/>
          </a:prstGeom>
          <a:noFill/>
        </p:spPr>
        <p:txBody>
          <a:bodyPr wrap="none">
            <a:spAutoFit/>
          </a:bodyPr>
          <a:lstStyle/>
          <a:p>
            <a:pPr>
              <a:defRPr sz="2400">
                <a:solidFill>
                  <a:srgbClr val="64748B"/>
                </a:solidFill>
                <a:latin typeface="Calibri"/>
              </a:defRPr>
            </a:pPr>
            <a:r>
              <a:t>Modeling Social Context with Heterogeneous Transformers</a:t>
            </a:r>
          </a:p>
        </p:txBody>
      </p:sp>
      <p:sp>
        <p:nvSpPr>
          <p:cNvPr id="9" name="Rectangle 8"/>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1" name="TextBox 10"/>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Encoder-decoder architectures for news content</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To move beyond simple classification, the HetTransformer employs</a:t>
            </a:r>
          </a:p>
          <a:p>
            <a:pPr>
              <a:lnSpc>
                <a:spcPct val="135000"/>
              </a:lnSpc>
              <a:spcAft>
                <a:spcPts val="1000"/>
              </a:spcAft>
              <a:defRPr sz="1600">
                <a:solidFill>
                  <a:srgbClr val="1E293B"/>
                </a:solidFill>
                <a:latin typeface="Calibri"/>
              </a:defRPr>
            </a:pPr>
            <a:r>
              <a:rPr>
                <a:solidFill>
                  <a:srgbClr val="3B82F6"/>
                </a:solidFill>
              </a:rPr>
              <a:t>• an encoder-decoder structure inspired by the Transformer</a:t>
            </a:r>
          </a:p>
          <a:p>
            <a:pPr>
              <a:lnSpc>
                <a:spcPct val="135000"/>
              </a:lnSpc>
              <a:spcAft>
                <a:spcPts val="1000"/>
              </a:spcAft>
              <a:defRPr sz="1600">
                <a:solidFill>
                  <a:srgbClr val="1E293B"/>
                </a:solidFill>
                <a:latin typeface="Calibri"/>
              </a:defRPr>
            </a:pPr>
            <a:r>
              <a:rPr>
                <a:solidFill>
                  <a:srgbClr val="3B82F6"/>
                </a:solidFill>
              </a:rPr>
              <a:t>• architecture.</a:t>
            </a:r>
          </a:p>
          <a:p>
            <a:pPr>
              <a:lnSpc>
                <a:spcPct val="135000"/>
              </a:lnSpc>
              <a:spcAft>
                <a:spcPts val="1000"/>
              </a:spcAft>
              <a:defRPr sz="1600">
                <a:solidFill>
                  <a:srgbClr val="1E293B"/>
                </a:solidFill>
                <a:latin typeface="Calibri"/>
              </a:defRPr>
            </a:pPr>
            <a:r>
              <a:rPr>
                <a:solidFill>
                  <a:srgbClr val="3B82F6"/>
                </a:solidFill>
              </a:rPr>
              <a:t>• In this context, the encoder is responsible for processing the</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Encoder-decoder architectures for news content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news content and its associated neighborhood information, while</a:t>
            </a:r>
          </a:p>
          <a:p>
            <a:pPr>
              <a:lnSpc>
                <a:spcPct val="135000"/>
              </a:lnSpc>
              <a:spcAft>
                <a:spcPts val="1000"/>
              </a:spcAft>
              <a:defRPr sz="1600">
                <a:solidFill>
                  <a:srgbClr val="1E293B"/>
                </a:solidFill>
                <a:latin typeface="Calibri"/>
              </a:defRPr>
            </a:pPr>
            <a:r>
              <a:rPr>
                <a:solidFill>
                  <a:srgbClr val="3B82F6"/>
                </a:solidFill>
              </a:rPr>
              <a:t>• the decoder facilitates the final classification task.</a:t>
            </a:r>
          </a:p>
          <a:p>
            <a:pPr>
              <a:lnSpc>
                <a:spcPct val="135000"/>
              </a:lnSpc>
              <a:spcAft>
                <a:spcPts val="1000"/>
              </a:spcAft>
              <a:defRPr sz="1600">
                <a:solidFill>
                  <a:srgbClr val="1E293B"/>
                </a:solidFill>
                <a:latin typeface="Calibri"/>
              </a:defRPr>
            </a:pPr>
            <a:r>
              <a:rPr>
                <a:solidFill>
                  <a:srgbClr val="3B82F6"/>
                </a:solidFill>
              </a:rPr>
              <a:t>• This structure is critical for fake news detection because it</a:t>
            </a:r>
          </a:p>
          <a:p>
            <a:pPr>
              <a:lnSpc>
                <a:spcPct val="135000"/>
              </a:lnSpc>
              <a:spcAft>
                <a:spcPts val="1000"/>
              </a:spcAft>
              <a:defRPr sz="1600">
                <a:solidFill>
                  <a:srgbClr val="1E293B"/>
                </a:solidFill>
                <a:latin typeface="Calibri"/>
              </a:defRPr>
            </a:pPr>
            <a:r>
              <a:rPr>
                <a:solidFill>
                  <a:srgbClr val="3B82F6"/>
                </a:solidFill>
              </a:rPr>
              <a:t>• allows the model to learn a latent representation that captures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Encoder-decoder architectures for news content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both the intrinsic content of the news and the extrinsic</a:t>
            </a:r>
          </a:p>
          <a:p>
            <a:pPr>
              <a:lnSpc>
                <a:spcPct val="135000"/>
              </a:lnSpc>
              <a:spcAft>
                <a:spcPts val="1000"/>
              </a:spcAft>
              <a:defRPr sz="1600">
                <a:solidFill>
                  <a:srgbClr val="1E293B"/>
                </a:solidFill>
                <a:latin typeface="Calibri"/>
              </a:defRPr>
            </a:pPr>
            <a:r>
              <a:rPr>
                <a:solidFill>
                  <a:srgbClr val="3B82F6"/>
                </a:solidFill>
              </a:rPr>
              <a:t>• propagation patterns.</a:t>
            </a:r>
          </a:p>
          <a:p>
            <a:pPr>
              <a:lnSpc>
                <a:spcPct val="135000"/>
              </a:lnSpc>
              <a:spcAft>
                <a:spcPts val="1000"/>
              </a:spcAft>
              <a:defRPr sz="1600">
                <a:solidFill>
                  <a:srgbClr val="1E293B"/>
                </a:solidFill>
                <a:latin typeface="Calibri"/>
              </a:defRPr>
            </a:pPr>
            <a:r>
              <a:rPr>
                <a:solidFill>
                  <a:srgbClr val="3B82F6"/>
                </a:solidFill>
              </a:rPr>
              <a:t>• By leveraging the Transformer's self-attention mechanism, the</a:t>
            </a:r>
          </a:p>
          <a:p>
            <a:pPr>
              <a:lnSpc>
                <a:spcPct val="135000"/>
              </a:lnSpc>
              <a:spcAft>
                <a:spcPts val="1000"/>
              </a:spcAft>
              <a:defRPr sz="1600">
                <a:solidFill>
                  <a:srgbClr val="1E293B"/>
                </a:solidFill>
                <a:latin typeface="Calibri"/>
              </a:defRPr>
            </a:pPr>
            <a:r>
              <a:rPr>
                <a:solidFill>
                  <a:srgbClr val="3B82F6"/>
                </a:solidFill>
              </a:rPr>
              <a:t>• model can weigh the importance of different neighbors and content</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Encoder-decoder architectures for news content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features dynamically.</a:t>
            </a:r>
          </a:p>
          <a:p>
            <a:pPr>
              <a:lnSpc>
                <a:spcPct val="135000"/>
              </a:lnSpc>
              <a:spcAft>
                <a:spcPts val="1000"/>
              </a:spcAft>
              <a:defRPr sz="1600">
                <a:solidFill>
                  <a:srgbClr val="1E293B"/>
                </a:solidFill>
                <a:latin typeface="Calibri"/>
              </a:defRPr>
            </a:pPr>
            <a:r>
              <a:rPr>
                <a:solidFill>
                  <a:srgbClr val="3B82F6"/>
                </a:solidFill>
              </a:rPr>
              <a:t>• This encoder-decoder framework provides a robust mechanism for</a:t>
            </a:r>
          </a:p>
          <a:p>
            <a:pPr>
              <a:lnSpc>
                <a:spcPct val="135000"/>
              </a:lnSpc>
              <a:spcAft>
                <a:spcPts val="1000"/>
              </a:spcAft>
              <a:defRPr sz="1600">
                <a:solidFill>
                  <a:srgbClr val="1E293B"/>
                </a:solidFill>
                <a:latin typeface="Calibri"/>
              </a:defRPr>
            </a:pPr>
            <a:r>
              <a:rPr>
                <a:solidFill>
                  <a:srgbClr val="3B82F6"/>
                </a:solidFill>
              </a:rPr>
              <a:t>• mapping complex, high-dimensional social context into a feature</a:t>
            </a:r>
          </a:p>
          <a:p>
            <a:pPr>
              <a:lnSpc>
                <a:spcPct val="135000"/>
              </a:lnSpc>
              <a:spcAft>
                <a:spcPts val="1000"/>
              </a:spcAft>
              <a:defRPr sz="1600">
                <a:solidFill>
                  <a:srgbClr val="1E293B"/>
                </a:solidFill>
                <a:latin typeface="Calibri"/>
              </a:defRPr>
            </a:pPr>
            <a:r>
              <a:rPr>
                <a:solidFill>
                  <a:srgbClr val="3B82F6"/>
                </a:solidFill>
              </a:rPr>
              <a:t>• space suitable for distinguishing between real and fake news,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Encoder-decoder architectures for news content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addressing the limitations of earlier models that lacked this</a:t>
            </a:r>
          </a:p>
          <a:p>
            <a:pPr>
              <a:lnSpc>
                <a:spcPct val="135000"/>
              </a:lnSpc>
              <a:spcAft>
                <a:spcPts val="1000"/>
              </a:spcAft>
              <a:defRPr sz="1600">
                <a:solidFill>
                  <a:srgbClr val="1E293B"/>
                </a:solidFill>
                <a:latin typeface="Calibri"/>
              </a:defRPr>
            </a:pPr>
            <a:r>
              <a:rPr>
                <a:solidFill>
                  <a:srgbClr val="3B82F6"/>
                </a:solidFill>
              </a:rPr>
              <a:t>• hierarchical depth.</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Example: Encoder-decoder architectures for news content</a:t>
            </a:r>
          </a:p>
        </p:txBody>
      </p:sp>
      <p:sp>
        <p:nvSpPr>
          <p:cNvPr id="5" name="Rectangle 4"/>
          <p:cNvSpPr/>
          <p:nvPr/>
        </p:nvSpPr>
        <p:spPr>
          <a:xfrm>
            <a:off x="548640" y="1346200"/>
            <a:ext cx="9144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492504"/>
            <a:ext cx="10874959" cy="186410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92504"/>
            <a:ext cx="64008" cy="1864105"/>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2232"/>
            <a:ext cx="1828800" cy="228600"/>
          </a:xfrm>
          <a:prstGeom prst="rect">
            <a:avLst/>
          </a:prstGeom>
          <a:noFill/>
        </p:spPr>
        <p:txBody>
          <a:bodyPr wrap="none">
            <a:spAutoFit/>
          </a:bodyPr>
          <a:lstStyle/>
          <a:p>
            <a:pPr>
              <a:defRPr sz="1100" b="1">
                <a:solidFill>
                  <a:srgbClr val="F59E0B"/>
                </a:solidFill>
                <a:latin typeface="Calibri"/>
              </a:defRPr>
            </a:pPr>
            <a:r>
              <a:t>EXAMPLE</a:t>
            </a:r>
          </a:p>
        </p:txBody>
      </p:sp>
      <p:sp>
        <p:nvSpPr>
          <p:cNvPr id="9" name="TextBox 8"/>
          <p:cNvSpPr txBox="1"/>
          <p:nvPr/>
        </p:nvSpPr>
        <p:spPr>
          <a:xfrm>
            <a:off x="868680" y="1839976"/>
            <a:ext cx="10545775" cy="4572000"/>
          </a:xfrm>
          <a:prstGeom prst="rect">
            <a:avLst/>
          </a:prstGeom>
          <a:noFill/>
        </p:spPr>
        <p:txBody>
          <a:bodyPr wrap="square">
            <a:spAutoFit/>
          </a:bodyPr>
          <a:lstStyle/>
          <a:p>
            <a:pPr>
              <a:lnSpc>
                <a:spcPct val="135000"/>
              </a:lnSpc>
              <a:spcAft>
                <a:spcPts val="1000"/>
              </a:spcAft>
              <a:defRPr sz="1600" i="1">
                <a:solidFill>
                  <a:srgbClr val="1E293B"/>
                </a:solidFill>
                <a:latin typeface="Calibri"/>
              </a:defRPr>
            </a:pPr>
            <a:r>
              <a:t>The implementation utilizes the encoder-decoder structure of the Transformer to classify fake news, where the model learns to aggregate structural representations through hierarchical, attention-based processing of news propagation patterns.</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62</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264515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50876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508760" cy="292608"/>
          </a:xfrm>
          <a:prstGeom prst="rect">
            <a:avLst/>
          </a:prstGeom>
          <a:noFill/>
        </p:spPr>
        <p:txBody>
          <a:bodyPr wrap="none">
            <a:spAutoFit/>
          </a:bodyPr>
          <a:lstStyle/>
          <a:p>
            <a:pPr algn="ctr">
              <a:defRPr sz="1100" b="1">
                <a:solidFill>
                  <a:srgbClr val="FFFFFF"/>
                </a:solidFill>
                <a:latin typeface="Calibri"/>
              </a:defRPr>
            </a:pPr>
            <a:r>
              <a:t>Encoder-Decoder</a:t>
            </a:r>
          </a:p>
        </p:txBody>
      </p:sp>
      <p:sp>
        <p:nvSpPr>
          <p:cNvPr id="9" name="TextBox 8"/>
          <p:cNvSpPr txBox="1"/>
          <p:nvPr/>
        </p:nvSpPr>
        <p:spPr>
          <a:xfrm>
            <a:off x="2194560" y="1157731"/>
            <a:ext cx="3291840" cy="2425700"/>
          </a:xfrm>
          <a:prstGeom prst="rect">
            <a:avLst/>
          </a:prstGeom>
          <a:noFill/>
        </p:spPr>
        <p:txBody>
          <a:bodyPr wrap="square">
            <a:spAutoFit/>
          </a:bodyPr>
          <a:lstStyle/>
          <a:p>
            <a:pPr>
              <a:lnSpc>
                <a:spcPct val="130000"/>
              </a:lnSpc>
              <a:defRPr sz="1400">
                <a:solidFill>
                  <a:srgbClr val="1E293B"/>
                </a:solidFill>
                <a:latin typeface="Calibri"/>
              </a:defRPr>
            </a:pPr>
            <a:r>
              <a:t>A neural network architecture where an encoder processes input into a latent representation and a decoder generates output from that representation.</a:t>
            </a:r>
          </a:p>
        </p:txBody>
      </p:sp>
      <p:sp>
        <p:nvSpPr>
          <p:cNvPr id="10" name="Rounded Rectangle 9"/>
          <p:cNvSpPr/>
          <p:nvPr/>
        </p:nvSpPr>
        <p:spPr>
          <a:xfrm>
            <a:off x="5943600" y="1048004"/>
            <a:ext cx="5120640" cy="240512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185164"/>
            <a:ext cx="1426464"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203452"/>
            <a:ext cx="1426464" cy="292608"/>
          </a:xfrm>
          <a:prstGeom prst="rect">
            <a:avLst/>
          </a:prstGeom>
          <a:noFill/>
        </p:spPr>
        <p:txBody>
          <a:bodyPr wrap="none">
            <a:spAutoFit/>
          </a:bodyPr>
          <a:lstStyle/>
          <a:p>
            <a:pPr algn="ctr">
              <a:defRPr sz="1100" b="1">
                <a:solidFill>
                  <a:srgbClr val="FFFFFF"/>
                </a:solidFill>
                <a:latin typeface="Calibri"/>
              </a:defRPr>
            </a:pPr>
            <a:r>
              <a:t>Self-attention</a:t>
            </a:r>
          </a:p>
        </p:txBody>
      </p:sp>
      <p:sp>
        <p:nvSpPr>
          <p:cNvPr id="13" name="TextBox 12"/>
          <p:cNvSpPr txBox="1"/>
          <p:nvPr/>
        </p:nvSpPr>
        <p:spPr>
          <a:xfrm>
            <a:off x="7507224" y="1157731"/>
            <a:ext cx="3374136" cy="2185669"/>
          </a:xfrm>
          <a:prstGeom prst="rect">
            <a:avLst/>
          </a:prstGeom>
          <a:noFill/>
        </p:spPr>
        <p:txBody>
          <a:bodyPr wrap="square">
            <a:spAutoFit/>
          </a:bodyPr>
          <a:lstStyle/>
          <a:p>
            <a:pPr>
              <a:lnSpc>
                <a:spcPct val="130000"/>
              </a:lnSpc>
              <a:defRPr sz="1400">
                <a:solidFill>
                  <a:srgbClr val="1E293B"/>
                </a:solidFill>
                <a:latin typeface="Calibri"/>
              </a:defRPr>
            </a:pPr>
            <a:r>
              <a:t>A mechanism allowing the model to weigh the importance of different parts of the input sequence when processing each element.</a:t>
            </a:r>
          </a:p>
        </p:txBody>
      </p:sp>
      <p:sp>
        <p:nvSpPr>
          <p:cNvPr id="14" name="Rounded Rectangle 13"/>
          <p:cNvSpPr/>
          <p:nvPr/>
        </p:nvSpPr>
        <p:spPr>
          <a:xfrm>
            <a:off x="54864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3247389"/>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265677"/>
            <a:ext cx="1645920" cy="292608"/>
          </a:xfrm>
          <a:prstGeom prst="rect">
            <a:avLst/>
          </a:prstGeom>
          <a:noFill/>
        </p:spPr>
        <p:txBody>
          <a:bodyPr wrap="none">
            <a:spAutoFit/>
          </a:bodyPr>
          <a:lstStyle/>
          <a:p>
            <a:pPr algn="ctr">
              <a:defRPr sz="1100" b="1">
                <a:solidFill>
                  <a:srgbClr val="FFFFFF"/>
                </a:solidFill>
                <a:latin typeface="Calibri"/>
              </a:defRPr>
            </a:pPr>
            <a:r>
              <a:t>Latent Representation</a:t>
            </a:r>
          </a:p>
        </p:txBody>
      </p:sp>
      <p:sp>
        <p:nvSpPr>
          <p:cNvPr id="17" name="TextBox 16"/>
          <p:cNvSpPr txBox="1"/>
          <p:nvPr/>
        </p:nvSpPr>
        <p:spPr>
          <a:xfrm>
            <a:off x="2331720" y="3219958"/>
            <a:ext cx="3154680" cy="1705610"/>
          </a:xfrm>
          <a:prstGeom prst="rect">
            <a:avLst/>
          </a:prstGeom>
          <a:noFill/>
        </p:spPr>
        <p:txBody>
          <a:bodyPr wrap="square">
            <a:spAutoFit/>
          </a:bodyPr>
          <a:lstStyle/>
          <a:p>
            <a:pPr>
              <a:lnSpc>
                <a:spcPct val="130000"/>
              </a:lnSpc>
              <a:defRPr sz="1400">
                <a:solidFill>
                  <a:srgbClr val="1E293B"/>
                </a:solidFill>
                <a:latin typeface="Calibri"/>
              </a:defRPr>
            </a:pPr>
            <a:r>
              <a:t>A compressed, learned feature vector that captures the essential information of the input data.</a:t>
            </a:r>
          </a:p>
        </p:txBody>
      </p:sp>
      <p:sp>
        <p:nvSpPr>
          <p:cNvPr id="18" name="Rounded Rectangle 17"/>
          <p:cNvSpPr/>
          <p:nvPr/>
        </p:nvSpPr>
        <p:spPr>
          <a:xfrm>
            <a:off x="5943600" y="2870200"/>
            <a:ext cx="5120640" cy="16850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3007360"/>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025648"/>
            <a:ext cx="1645920" cy="292608"/>
          </a:xfrm>
          <a:prstGeom prst="rect">
            <a:avLst/>
          </a:prstGeom>
          <a:noFill/>
        </p:spPr>
        <p:txBody>
          <a:bodyPr wrap="none">
            <a:spAutoFit/>
          </a:bodyPr>
          <a:lstStyle/>
          <a:p>
            <a:pPr algn="ctr">
              <a:defRPr sz="1100" b="1">
                <a:solidFill>
                  <a:srgbClr val="FFFFFF"/>
                </a:solidFill>
                <a:latin typeface="Calibri"/>
              </a:defRPr>
            </a:pPr>
            <a:r>
              <a:t>Hierarchical Processing</a:t>
            </a:r>
          </a:p>
        </p:txBody>
      </p:sp>
      <p:sp>
        <p:nvSpPr>
          <p:cNvPr id="21" name="TextBox 20"/>
          <p:cNvSpPr txBox="1"/>
          <p:nvPr/>
        </p:nvSpPr>
        <p:spPr>
          <a:xfrm>
            <a:off x="7726680" y="2979928"/>
            <a:ext cx="3154680" cy="1465580"/>
          </a:xfrm>
          <a:prstGeom prst="rect">
            <a:avLst/>
          </a:prstGeom>
          <a:noFill/>
        </p:spPr>
        <p:txBody>
          <a:bodyPr wrap="square">
            <a:spAutoFit/>
          </a:bodyPr>
          <a:lstStyle/>
          <a:p>
            <a:pPr>
              <a:lnSpc>
                <a:spcPct val="130000"/>
              </a:lnSpc>
              <a:defRPr sz="1400">
                <a:solidFill>
                  <a:srgbClr val="1E293B"/>
                </a:solidFill>
                <a:latin typeface="Calibri"/>
              </a:defRPr>
            </a:pPr>
            <a:r>
              <a:t>Processing data at multiple levels of abstraction or granularity.</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835121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34440" y="2651760"/>
            <a:ext cx="1280160" cy="1280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926080"/>
            <a:ext cx="914400" cy="731520"/>
          </a:xfrm>
          <a:prstGeom prst="rect">
            <a:avLst/>
          </a:prstGeom>
          <a:noFill/>
        </p:spPr>
        <p:txBody>
          <a:bodyPr wrap="none">
            <a:spAutoFit/>
          </a:bodyPr>
          <a:lstStyle/>
          <a:p>
            <a:pPr algn="ctr">
              <a:defRPr sz="4400">
                <a:solidFill>
                  <a:srgbClr val="FFFFFF"/>
                </a:solidFill>
                <a:latin typeface="Calibri"/>
              </a:defRPr>
            </a:pPr>
            <a:r>
              <a:t>§</a:t>
            </a:r>
          </a:p>
        </p:txBody>
      </p:sp>
      <p:sp>
        <p:nvSpPr>
          <p:cNvPr id="6" name="TextBox 5"/>
          <p:cNvSpPr txBox="1"/>
          <p:nvPr/>
        </p:nvSpPr>
        <p:spPr>
          <a:xfrm>
            <a:off x="4389120" y="2468880"/>
            <a:ext cx="7772400" cy="2148840"/>
          </a:xfrm>
          <a:prstGeom prst="rect">
            <a:avLst/>
          </a:prstGeom>
          <a:noFill/>
        </p:spPr>
        <p:txBody>
          <a:bodyPr wrap="square">
            <a:spAutoFit/>
          </a:bodyPr>
          <a:lstStyle/>
          <a:p>
            <a:pPr>
              <a:defRPr sz="4400" b="1">
                <a:solidFill>
                  <a:srgbClr val="1E293B"/>
                </a:solidFill>
                <a:latin typeface="Calibri"/>
              </a:defRPr>
            </a:pPr>
            <a:r>
              <a:t>Integrating multi-modal semantics with structural embeddings</a:t>
            </a:r>
          </a:p>
        </p:txBody>
      </p:sp>
      <p:sp>
        <p:nvSpPr>
          <p:cNvPr id="7" name="Rectangle 6"/>
          <p:cNvSpPr/>
          <p:nvPr/>
        </p:nvSpPr>
        <p:spPr>
          <a:xfrm>
            <a:off x="4389120" y="4663440"/>
            <a:ext cx="128016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4773168"/>
            <a:ext cx="7772400" cy="457200"/>
          </a:xfrm>
          <a:prstGeom prst="rect">
            <a:avLst/>
          </a:prstGeom>
          <a:noFill/>
        </p:spPr>
        <p:txBody>
          <a:bodyPr wrap="none">
            <a:spAutoFit/>
          </a:bodyPr>
          <a:lstStyle/>
          <a:p>
            <a:pPr>
              <a:defRPr sz="2400">
                <a:solidFill>
                  <a:srgbClr val="64748B"/>
                </a:solidFill>
                <a:latin typeface="Calibri"/>
              </a:defRPr>
            </a:pPr>
            <a:r>
              <a:t>Modeling Social Context with Heterogeneous Transformers</a:t>
            </a:r>
          </a:p>
        </p:txBody>
      </p:sp>
      <p:sp>
        <p:nvSpPr>
          <p:cNvPr id="9" name="Rectangle 8"/>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1" name="TextBox 10"/>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Integrating multi-modal semantics with structural embeddings</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A core innovation of the HetTransformer is its ability to fuse</a:t>
            </a:r>
          </a:p>
          <a:p>
            <a:pPr>
              <a:lnSpc>
                <a:spcPct val="135000"/>
              </a:lnSpc>
              <a:spcAft>
                <a:spcPts val="1000"/>
              </a:spcAft>
              <a:defRPr sz="1600">
                <a:solidFill>
                  <a:srgbClr val="1E293B"/>
                </a:solidFill>
                <a:latin typeface="Calibri"/>
              </a:defRPr>
            </a:pPr>
            <a:r>
              <a:rPr>
                <a:solidFill>
                  <a:srgbClr val="3B82F6"/>
                </a:solidFill>
              </a:rPr>
              <a:t>• multi-modal semantics (such as text, images, or user metadata)</a:t>
            </a:r>
          </a:p>
          <a:p>
            <a:pPr>
              <a:lnSpc>
                <a:spcPct val="135000"/>
              </a:lnSpc>
              <a:spcAft>
                <a:spcPts val="1000"/>
              </a:spcAft>
              <a:defRPr sz="1600">
                <a:solidFill>
                  <a:srgbClr val="1E293B"/>
                </a:solidFill>
                <a:latin typeface="Calibri"/>
              </a:defRPr>
            </a:pPr>
            <a:r>
              <a:rPr>
                <a:solidFill>
                  <a:srgbClr val="3B82F6"/>
                </a:solidFill>
              </a:rPr>
              <a:t>• with structural embeddings derived from the graph.</a:t>
            </a:r>
          </a:p>
          <a:p>
            <a:pPr>
              <a:lnSpc>
                <a:spcPct val="135000"/>
              </a:lnSpc>
              <a:spcAft>
                <a:spcPts val="1000"/>
              </a:spcAft>
              <a:defRPr sz="1600">
                <a:solidFill>
                  <a:srgbClr val="1E293B"/>
                </a:solidFill>
                <a:latin typeface="Calibri"/>
              </a:defRPr>
            </a:pPr>
            <a:r>
              <a:rPr>
                <a:solidFill>
                  <a:srgbClr val="3B82F6"/>
                </a:solidFill>
              </a:rPr>
              <a:t>• While previous methods often treated content and structure as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Integrating multi-modal semantics with structural embeddings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separate inputs, HetTransformer integrates them by concatenating</a:t>
            </a:r>
          </a:p>
          <a:p>
            <a:pPr>
              <a:lnSpc>
                <a:spcPct val="135000"/>
              </a:lnSpc>
              <a:spcAft>
                <a:spcPts val="1000"/>
              </a:spcAft>
              <a:defRPr sz="1600">
                <a:solidFill>
                  <a:srgbClr val="1E293B"/>
                </a:solidFill>
                <a:latin typeface="Calibri"/>
              </a:defRPr>
            </a:pPr>
            <a:r>
              <a:rPr>
                <a:solidFill>
                  <a:srgbClr val="3B82F6"/>
                </a:solidFill>
              </a:rPr>
              <a:t>• content embeddings with positional and type-specific embeddings.</a:t>
            </a:r>
          </a:p>
          <a:p>
            <a:pPr>
              <a:lnSpc>
                <a:spcPct val="135000"/>
              </a:lnSpc>
              <a:spcAft>
                <a:spcPts val="1000"/>
              </a:spcAft>
              <a:defRPr sz="1600">
                <a:solidFill>
                  <a:srgbClr val="1E293B"/>
                </a:solidFill>
                <a:latin typeface="Calibri"/>
              </a:defRPr>
            </a:pPr>
            <a:r>
              <a:rPr>
                <a:solidFill>
                  <a:srgbClr val="3B82F6"/>
                </a:solidFill>
              </a:rPr>
              <a:t>• This integration ensures that the model does not just look at</a:t>
            </a:r>
          </a:p>
          <a:p>
            <a:pPr>
              <a:lnSpc>
                <a:spcPct val="135000"/>
              </a:lnSpc>
              <a:spcAft>
                <a:spcPts val="1000"/>
              </a:spcAft>
              <a:defRPr sz="1600">
                <a:solidFill>
                  <a:srgbClr val="1E293B"/>
                </a:solidFill>
                <a:latin typeface="Calibri"/>
              </a:defRPr>
            </a:pPr>
            <a:r>
              <a:rPr>
                <a:solidFill>
                  <a:srgbClr val="3B82F6"/>
                </a:solidFill>
              </a:rPr>
              <a:t>• what the news says, but also at who is sharing it and how it is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Integrating multi-modal semantics with structural embeddings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spreading through the network.</a:t>
            </a:r>
          </a:p>
          <a:p>
            <a:pPr>
              <a:lnSpc>
                <a:spcPct val="135000"/>
              </a:lnSpc>
              <a:spcAft>
                <a:spcPts val="1000"/>
              </a:spcAft>
              <a:defRPr sz="1600">
                <a:solidFill>
                  <a:srgbClr val="1E293B"/>
                </a:solidFill>
                <a:latin typeface="Calibri"/>
              </a:defRPr>
            </a:pPr>
            <a:r>
              <a:rPr>
                <a:solidFill>
                  <a:srgbClr val="3B82F6"/>
                </a:solidFill>
              </a:rPr>
              <a:t>• By combining these multi-modal features into a unified input for</a:t>
            </a:r>
          </a:p>
          <a:p>
            <a:pPr>
              <a:lnSpc>
                <a:spcPct val="135000"/>
              </a:lnSpc>
              <a:spcAft>
                <a:spcPts val="1000"/>
              </a:spcAft>
              <a:defRPr sz="1600">
                <a:solidFill>
                  <a:srgbClr val="1E293B"/>
                </a:solidFill>
                <a:latin typeface="Calibri"/>
              </a:defRPr>
            </a:pPr>
            <a:r>
              <a:rPr>
                <a:solidFill>
                  <a:srgbClr val="3B82F6"/>
                </a:solidFill>
              </a:rPr>
              <a:t>• the Transformer, the model captures the local semantics of the</a:t>
            </a:r>
          </a:p>
          <a:p>
            <a:pPr>
              <a:lnSpc>
                <a:spcPct val="135000"/>
              </a:lnSpc>
              <a:spcAft>
                <a:spcPts val="1000"/>
              </a:spcAft>
              <a:defRPr sz="1600">
                <a:solidFill>
                  <a:srgbClr val="1E293B"/>
                </a:solidFill>
                <a:latin typeface="Calibri"/>
              </a:defRPr>
            </a:pPr>
            <a:r>
              <a:rPr>
                <a:solidFill>
                  <a:srgbClr val="3B82F6"/>
                </a:solidFill>
              </a:rPr>
              <a:t>• news alongside the global structural context of the social</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Integrating multi-modal semantics with structural embeddings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network, providing a more comprehensive view of the information</a:t>
            </a:r>
          </a:p>
          <a:p>
            <a:pPr>
              <a:lnSpc>
                <a:spcPct val="135000"/>
              </a:lnSpc>
              <a:spcAft>
                <a:spcPts val="1000"/>
              </a:spcAft>
              <a:defRPr sz="1600">
                <a:solidFill>
                  <a:srgbClr val="1E293B"/>
                </a:solidFill>
                <a:latin typeface="Calibri"/>
              </a:defRPr>
            </a:pPr>
            <a:r>
              <a:rPr>
                <a:solidFill>
                  <a:srgbClr val="3B82F6"/>
                </a:solidFill>
              </a:rPr>
              <a:t>• dissemination process.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Example: Integrating multi-modal semantics with structural embeddings</a:t>
            </a:r>
          </a:p>
        </p:txBody>
      </p:sp>
      <p:sp>
        <p:nvSpPr>
          <p:cNvPr id="5" name="Rectangle 4"/>
          <p:cNvSpPr/>
          <p:nvPr/>
        </p:nvSpPr>
        <p:spPr>
          <a:xfrm>
            <a:off x="548640" y="1346200"/>
            <a:ext cx="9144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492504"/>
            <a:ext cx="10874959" cy="186410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92504"/>
            <a:ext cx="64008" cy="1864105"/>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2232"/>
            <a:ext cx="1828800" cy="228600"/>
          </a:xfrm>
          <a:prstGeom prst="rect">
            <a:avLst/>
          </a:prstGeom>
          <a:noFill/>
        </p:spPr>
        <p:txBody>
          <a:bodyPr wrap="none">
            <a:spAutoFit/>
          </a:bodyPr>
          <a:lstStyle/>
          <a:p>
            <a:pPr>
              <a:defRPr sz="1100" b="1">
                <a:solidFill>
                  <a:srgbClr val="F59E0B"/>
                </a:solidFill>
                <a:latin typeface="Calibri"/>
              </a:defRPr>
            </a:pPr>
            <a:r>
              <a:t>EXAMPLE</a:t>
            </a:r>
          </a:p>
        </p:txBody>
      </p:sp>
      <p:sp>
        <p:nvSpPr>
          <p:cNvPr id="9" name="TextBox 8"/>
          <p:cNvSpPr txBox="1"/>
          <p:nvPr/>
        </p:nvSpPr>
        <p:spPr>
          <a:xfrm>
            <a:off x="868680" y="1839976"/>
            <a:ext cx="10545775" cy="4572000"/>
          </a:xfrm>
          <a:prstGeom prst="rect">
            <a:avLst/>
          </a:prstGeom>
          <a:noFill/>
        </p:spPr>
        <p:txBody>
          <a:bodyPr wrap="square">
            <a:spAutoFit/>
          </a:bodyPr>
          <a:lstStyle/>
          <a:p>
            <a:pPr>
              <a:lnSpc>
                <a:spcPct val="135000"/>
              </a:lnSpc>
              <a:spcAft>
                <a:spcPts val="1000"/>
              </a:spcAft>
              <a:defRPr sz="1600" i="1">
                <a:solidFill>
                  <a:srgbClr val="1E293B"/>
                </a:solidFill>
                <a:latin typeface="Calibri"/>
              </a:defRPr>
            </a:pPr>
            <a:r>
              <a:t>The model achieves this integration through the concatenation of content embeddings with positional and type embeddings, ensuring that the multi-modal semantics are enriched by the structural context of the heterogeneous graph.</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16850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645920" cy="292608"/>
          </a:xfrm>
          <a:prstGeom prst="rect">
            <a:avLst/>
          </a:prstGeom>
          <a:noFill/>
        </p:spPr>
        <p:txBody>
          <a:bodyPr wrap="none">
            <a:spAutoFit/>
          </a:bodyPr>
          <a:lstStyle/>
          <a:p>
            <a:pPr algn="ctr">
              <a:defRPr sz="1100" b="1">
                <a:solidFill>
                  <a:srgbClr val="FFFFFF"/>
                </a:solidFill>
                <a:latin typeface="Calibri"/>
              </a:defRPr>
            </a:pPr>
            <a:r>
              <a:t>Multi-modal Semantics</a:t>
            </a:r>
          </a:p>
        </p:txBody>
      </p:sp>
      <p:sp>
        <p:nvSpPr>
          <p:cNvPr id="9" name="TextBox 8"/>
          <p:cNvSpPr txBox="1"/>
          <p:nvPr/>
        </p:nvSpPr>
        <p:spPr>
          <a:xfrm>
            <a:off x="2331720" y="1157731"/>
            <a:ext cx="3154680" cy="1465580"/>
          </a:xfrm>
          <a:prstGeom prst="rect">
            <a:avLst/>
          </a:prstGeom>
          <a:noFill/>
        </p:spPr>
        <p:txBody>
          <a:bodyPr wrap="square">
            <a:spAutoFit/>
          </a:bodyPr>
          <a:lstStyle/>
          <a:p>
            <a:pPr>
              <a:lnSpc>
                <a:spcPct val="130000"/>
              </a:lnSpc>
              <a:defRPr sz="1400">
                <a:solidFill>
                  <a:srgbClr val="1E293B"/>
                </a:solidFill>
                <a:latin typeface="Calibri"/>
              </a:defRPr>
            </a:pPr>
            <a:r>
              <a:t>Information derived from multiple data types, such as text, images, and metadata.</a:t>
            </a:r>
          </a:p>
        </p:txBody>
      </p:sp>
      <p:sp>
        <p:nvSpPr>
          <p:cNvPr id="10" name="Rounded Rectangle 9"/>
          <p:cNvSpPr/>
          <p:nvPr/>
        </p:nvSpPr>
        <p:spPr>
          <a:xfrm>
            <a:off x="5943600" y="1048004"/>
            <a:ext cx="5120640" cy="16850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203452"/>
            <a:ext cx="1645920" cy="292608"/>
          </a:xfrm>
          <a:prstGeom prst="rect">
            <a:avLst/>
          </a:prstGeom>
          <a:noFill/>
        </p:spPr>
        <p:txBody>
          <a:bodyPr wrap="none">
            <a:spAutoFit/>
          </a:bodyPr>
          <a:lstStyle/>
          <a:p>
            <a:pPr algn="ctr">
              <a:defRPr sz="1100" b="1">
                <a:solidFill>
                  <a:srgbClr val="FFFFFF"/>
                </a:solidFill>
                <a:latin typeface="Calibri"/>
              </a:defRPr>
            </a:pPr>
            <a:r>
              <a:t>Structural Embeddings</a:t>
            </a:r>
          </a:p>
        </p:txBody>
      </p:sp>
      <p:sp>
        <p:nvSpPr>
          <p:cNvPr id="13" name="TextBox 12"/>
          <p:cNvSpPr txBox="1"/>
          <p:nvPr/>
        </p:nvSpPr>
        <p:spPr>
          <a:xfrm>
            <a:off x="7726680" y="1157731"/>
            <a:ext cx="3154680" cy="1465580"/>
          </a:xfrm>
          <a:prstGeom prst="rect">
            <a:avLst/>
          </a:prstGeom>
          <a:noFill/>
        </p:spPr>
        <p:txBody>
          <a:bodyPr wrap="square">
            <a:spAutoFit/>
          </a:bodyPr>
          <a:lstStyle/>
          <a:p>
            <a:pPr>
              <a:lnSpc>
                <a:spcPct val="130000"/>
              </a:lnSpc>
              <a:defRPr sz="1400">
                <a:solidFill>
                  <a:srgbClr val="1E293B"/>
                </a:solidFill>
                <a:latin typeface="Calibri"/>
              </a:defRPr>
            </a:pPr>
            <a:r>
              <a:t>Vector representations that encode the topological structure of a graph.</a:t>
            </a:r>
          </a:p>
        </p:txBody>
      </p:sp>
      <p:sp>
        <p:nvSpPr>
          <p:cNvPr id="14" name="Rounded Rectangle 13"/>
          <p:cNvSpPr/>
          <p:nvPr/>
        </p:nvSpPr>
        <p:spPr>
          <a:xfrm>
            <a:off x="54864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3247389"/>
            <a:ext cx="1344168"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265677"/>
            <a:ext cx="1344168" cy="292608"/>
          </a:xfrm>
          <a:prstGeom prst="rect">
            <a:avLst/>
          </a:prstGeom>
          <a:noFill/>
        </p:spPr>
        <p:txBody>
          <a:bodyPr wrap="none">
            <a:spAutoFit/>
          </a:bodyPr>
          <a:lstStyle/>
          <a:p>
            <a:pPr algn="ctr">
              <a:defRPr sz="1100" b="1">
                <a:solidFill>
                  <a:srgbClr val="FFFFFF"/>
                </a:solidFill>
                <a:latin typeface="Calibri"/>
              </a:defRPr>
            </a:pPr>
            <a:r>
              <a:t>Concatenation</a:t>
            </a:r>
          </a:p>
        </p:txBody>
      </p:sp>
      <p:sp>
        <p:nvSpPr>
          <p:cNvPr id="17" name="TextBox 16"/>
          <p:cNvSpPr txBox="1"/>
          <p:nvPr/>
        </p:nvSpPr>
        <p:spPr>
          <a:xfrm>
            <a:off x="2029968" y="3219958"/>
            <a:ext cx="3456432" cy="1705610"/>
          </a:xfrm>
          <a:prstGeom prst="rect">
            <a:avLst/>
          </a:prstGeom>
          <a:noFill/>
        </p:spPr>
        <p:txBody>
          <a:bodyPr wrap="square">
            <a:spAutoFit/>
          </a:bodyPr>
          <a:lstStyle/>
          <a:p>
            <a:pPr>
              <a:lnSpc>
                <a:spcPct val="130000"/>
              </a:lnSpc>
              <a:defRPr sz="1400">
                <a:solidFill>
                  <a:srgbClr val="1E293B"/>
                </a:solidFill>
                <a:latin typeface="Calibri"/>
              </a:defRPr>
            </a:pPr>
            <a:r>
              <a:t>The process of joining multiple vectors or sequences end-to-end to form a single input.</a:t>
            </a:r>
          </a:p>
        </p:txBody>
      </p:sp>
      <p:sp>
        <p:nvSpPr>
          <p:cNvPr id="18" name="Rounded Rectangle 17"/>
          <p:cNvSpPr/>
          <p:nvPr/>
        </p:nvSpPr>
        <p:spPr>
          <a:xfrm>
            <a:off x="594360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3247389"/>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265677"/>
            <a:ext cx="1645920" cy="292608"/>
          </a:xfrm>
          <a:prstGeom prst="rect">
            <a:avLst/>
          </a:prstGeom>
          <a:noFill/>
        </p:spPr>
        <p:txBody>
          <a:bodyPr wrap="none">
            <a:spAutoFit/>
          </a:bodyPr>
          <a:lstStyle/>
          <a:p>
            <a:pPr algn="ctr">
              <a:defRPr sz="1100" b="1">
                <a:solidFill>
                  <a:srgbClr val="FFFFFF"/>
                </a:solidFill>
                <a:latin typeface="Calibri"/>
              </a:defRPr>
            </a:pPr>
            <a:r>
              <a:t>Positional Embeddings</a:t>
            </a:r>
          </a:p>
        </p:txBody>
      </p:sp>
      <p:sp>
        <p:nvSpPr>
          <p:cNvPr id="21" name="TextBox 20"/>
          <p:cNvSpPr txBox="1"/>
          <p:nvPr/>
        </p:nvSpPr>
        <p:spPr>
          <a:xfrm>
            <a:off x="7726680" y="3219958"/>
            <a:ext cx="3154680" cy="1705610"/>
          </a:xfrm>
          <a:prstGeom prst="rect">
            <a:avLst/>
          </a:prstGeom>
          <a:noFill/>
        </p:spPr>
        <p:txBody>
          <a:bodyPr wrap="square">
            <a:spAutoFit/>
          </a:bodyPr>
          <a:lstStyle/>
          <a:p>
            <a:pPr>
              <a:lnSpc>
                <a:spcPct val="130000"/>
              </a:lnSpc>
              <a:defRPr sz="1400">
                <a:solidFill>
                  <a:srgbClr val="1E293B"/>
                </a:solidFill>
                <a:latin typeface="Calibri"/>
              </a:defRPr>
            </a:pPr>
            <a:r>
              <a:t>Vectors that encode the position or location of elements within a sequence or graph.</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835121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34440" y="2651760"/>
            <a:ext cx="1280160" cy="1280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926080"/>
            <a:ext cx="914400" cy="731520"/>
          </a:xfrm>
          <a:prstGeom prst="rect">
            <a:avLst/>
          </a:prstGeom>
          <a:noFill/>
        </p:spPr>
        <p:txBody>
          <a:bodyPr wrap="none">
            <a:spAutoFit/>
          </a:bodyPr>
          <a:lstStyle/>
          <a:p>
            <a:pPr algn="ctr">
              <a:defRPr sz="4400">
                <a:solidFill>
                  <a:srgbClr val="FFFFFF"/>
                </a:solidFill>
                <a:latin typeface="Calibri"/>
              </a:defRPr>
            </a:pPr>
            <a:r>
              <a:t>§</a:t>
            </a:r>
          </a:p>
        </p:txBody>
      </p:sp>
      <p:sp>
        <p:nvSpPr>
          <p:cNvPr id="6" name="TextBox 5"/>
          <p:cNvSpPr txBox="1"/>
          <p:nvPr/>
        </p:nvSpPr>
        <p:spPr>
          <a:xfrm>
            <a:off x="4389120" y="2468880"/>
            <a:ext cx="7772400" cy="2148840"/>
          </a:xfrm>
          <a:prstGeom prst="rect">
            <a:avLst/>
          </a:prstGeom>
          <a:noFill/>
        </p:spPr>
        <p:txBody>
          <a:bodyPr wrap="square">
            <a:spAutoFit/>
          </a:bodyPr>
          <a:lstStyle/>
          <a:p>
            <a:pPr>
              <a:defRPr sz="4400" b="1">
                <a:solidFill>
                  <a:srgbClr val="1E293B"/>
                </a:solidFill>
                <a:latin typeface="Calibri"/>
              </a:defRPr>
            </a:pPr>
            <a:r>
              <a:t>Random Walk with Restart (RWR) for neighbor order determination</a:t>
            </a:r>
          </a:p>
        </p:txBody>
      </p:sp>
      <p:sp>
        <p:nvSpPr>
          <p:cNvPr id="7" name="Rectangle 6"/>
          <p:cNvSpPr/>
          <p:nvPr/>
        </p:nvSpPr>
        <p:spPr>
          <a:xfrm>
            <a:off x="4389120" y="4663440"/>
            <a:ext cx="128016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4773168"/>
            <a:ext cx="7772400" cy="457200"/>
          </a:xfrm>
          <a:prstGeom prst="rect">
            <a:avLst/>
          </a:prstGeom>
          <a:noFill/>
        </p:spPr>
        <p:txBody>
          <a:bodyPr wrap="none">
            <a:spAutoFit/>
          </a:bodyPr>
          <a:lstStyle/>
          <a:p>
            <a:pPr>
              <a:defRPr sz="2400">
                <a:solidFill>
                  <a:srgbClr val="64748B"/>
                </a:solidFill>
                <a:latin typeface="Calibri"/>
              </a:defRPr>
            </a:pPr>
            <a:r>
              <a:t>Modeling Social Context with Heterogeneous Transformers</a:t>
            </a:r>
          </a:p>
        </p:txBody>
      </p:sp>
      <p:sp>
        <p:nvSpPr>
          <p:cNvPr id="9" name="Rectangle 8"/>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1" name="TextBox 10"/>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Random Walk with Restart (RWR) for neighbor order determination</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Determining the importance of neighbors in a heterogeneous graph</a:t>
            </a:r>
          </a:p>
          <a:p>
            <a:pPr>
              <a:lnSpc>
                <a:spcPct val="135000"/>
              </a:lnSpc>
              <a:spcAft>
                <a:spcPts val="1000"/>
              </a:spcAft>
              <a:defRPr sz="1600">
                <a:solidFill>
                  <a:srgbClr val="1E293B"/>
                </a:solidFill>
                <a:latin typeface="Calibri"/>
              </a:defRPr>
            </a:pPr>
            <a:r>
              <a:rPr>
                <a:solidFill>
                  <a:srgbClr val="3B82F6"/>
                </a:solidFill>
              </a:rPr>
              <a:t>• is a significant challenge.</a:t>
            </a:r>
          </a:p>
          <a:p>
            <a:pPr>
              <a:lnSpc>
                <a:spcPct val="135000"/>
              </a:lnSpc>
              <a:spcAft>
                <a:spcPts val="1000"/>
              </a:spcAft>
              <a:defRPr sz="1600">
                <a:solidFill>
                  <a:srgbClr val="1E293B"/>
                </a:solidFill>
                <a:latin typeface="Calibri"/>
              </a:defRPr>
            </a:pPr>
            <a:r>
              <a:rPr>
                <a:solidFill>
                  <a:srgbClr val="3B82F6"/>
                </a:solidFill>
              </a:rPr>
              <a:t>• The HetTransformer employs a Random Walk with Restart (RWR)</a:t>
            </a:r>
          </a:p>
          <a:p>
            <a:pPr>
              <a:lnSpc>
                <a:spcPct val="135000"/>
              </a:lnSpc>
              <a:spcAft>
                <a:spcPts val="1000"/>
              </a:spcAft>
              <a:defRPr sz="1600">
                <a:solidFill>
                  <a:srgbClr val="1E293B"/>
                </a:solidFill>
                <a:latin typeface="Calibri"/>
              </a:defRPr>
            </a:pPr>
            <a:r>
              <a:rPr>
                <a:solidFill>
                  <a:srgbClr val="3B82F6"/>
                </a:solidFill>
              </a:rPr>
              <a:t>• strategy to determine the order and relevance of neighbors during</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Random Walk with Restart (RWR) for neighbor order determination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the sampling process.</a:t>
            </a:r>
          </a:p>
          <a:p>
            <a:pPr>
              <a:lnSpc>
                <a:spcPct val="135000"/>
              </a:lnSpc>
              <a:spcAft>
                <a:spcPts val="1000"/>
              </a:spcAft>
              <a:defRPr sz="1600">
                <a:solidFill>
                  <a:srgbClr val="1E293B"/>
                </a:solidFill>
                <a:latin typeface="Calibri"/>
              </a:defRPr>
            </a:pPr>
            <a:r>
              <a:rPr>
                <a:solidFill>
                  <a:srgbClr val="3B82F6"/>
                </a:solidFill>
              </a:rPr>
              <a:t>• Unlike simple neighborhood sampling, RWR allows the model to</a:t>
            </a:r>
          </a:p>
          <a:p>
            <a:pPr>
              <a:lnSpc>
                <a:spcPct val="135000"/>
              </a:lnSpc>
              <a:spcAft>
                <a:spcPts val="1000"/>
              </a:spcAft>
              <a:defRPr sz="1600">
                <a:solidFill>
                  <a:srgbClr val="1E293B"/>
                </a:solidFill>
                <a:latin typeface="Calibri"/>
              </a:defRPr>
            </a:pPr>
            <a:r>
              <a:rPr>
                <a:solidFill>
                  <a:srgbClr val="3B82F6"/>
                </a:solidFill>
              </a:rPr>
              <a:t>• capture the proximity and influence of nodes within the graph</a:t>
            </a:r>
          </a:p>
          <a:p>
            <a:pPr>
              <a:lnSpc>
                <a:spcPct val="135000"/>
              </a:lnSpc>
              <a:spcAft>
                <a:spcPts val="1000"/>
              </a:spcAft>
              <a:defRPr sz="1600">
                <a:solidFill>
                  <a:srgbClr val="1E293B"/>
                </a:solidFill>
                <a:latin typeface="Calibri"/>
              </a:defRPr>
            </a:pPr>
            <a:r>
              <a:rPr>
                <a:solidFill>
                  <a:srgbClr val="3B82F6"/>
                </a:solidFill>
              </a:rPr>
              <a:t>• structure more effectively.</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Random Walk with Restart (RWR) for neighbor order determination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This is a one-off pre-processing step that identifies the most</a:t>
            </a:r>
          </a:p>
          <a:p>
            <a:pPr>
              <a:lnSpc>
                <a:spcPct val="135000"/>
              </a:lnSpc>
              <a:spcAft>
                <a:spcPts val="1000"/>
              </a:spcAft>
              <a:defRPr sz="1600">
                <a:solidFill>
                  <a:srgbClr val="1E293B"/>
                </a:solidFill>
                <a:latin typeface="Calibri"/>
              </a:defRPr>
            </a:pPr>
            <a:r>
              <a:rPr>
                <a:solidFill>
                  <a:srgbClr val="3B82F6"/>
                </a:solidFill>
              </a:rPr>
              <a:t>• relevant neighbors for each node, ensuring that the subsequent</a:t>
            </a:r>
          </a:p>
          <a:p>
            <a:pPr>
              <a:lnSpc>
                <a:spcPct val="135000"/>
              </a:lnSpc>
              <a:spcAft>
                <a:spcPts val="1000"/>
              </a:spcAft>
              <a:defRPr sz="1600">
                <a:solidFill>
                  <a:srgbClr val="1E293B"/>
                </a:solidFill>
                <a:latin typeface="Calibri"/>
              </a:defRPr>
            </a:pPr>
            <a:r>
              <a:rPr>
                <a:solidFill>
                  <a:srgbClr val="3B82F6"/>
                </a:solidFill>
              </a:rPr>
              <a:t>• Transformer layers receive high-quality, structurally significant</a:t>
            </a:r>
          </a:p>
          <a:p>
            <a:pPr>
              <a:lnSpc>
                <a:spcPct val="135000"/>
              </a:lnSpc>
              <a:spcAft>
                <a:spcPts val="1000"/>
              </a:spcAft>
              <a:defRPr sz="1600">
                <a:solidFill>
                  <a:srgbClr val="1E293B"/>
                </a:solidFill>
                <a:latin typeface="Calibri"/>
              </a:defRPr>
            </a:pPr>
            <a:r>
              <a:rPr>
                <a:solidFill>
                  <a:srgbClr val="3B82F6"/>
                </a:solidFill>
              </a:rPr>
              <a:t>• input.</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Random Walk with Restart (RWR) for neighbor order determination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By using RWR, the model can better capture the global structural</a:t>
            </a:r>
          </a:p>
          <a:p>
            <a:pPr>
              <a:lnSpc>
                <a:spcPct val="135000"/>
              </a:lnSpc>
              <a:spcAft>
                <a:spcPts val="1000"/>
              </a:spcAft>
              <a:defRPr sz="1600">
                <a:solidFill>
                  <a:srgbClr val="1E293B"/>
                </a:solidFill>
                <a:latin typeface="Calibri"/>
              </a:defRPr>
            </a:pPr>
            <a:r>
              <a:rPr>
                <a:solidFill>
                  <a:srgbClr val="3B82F6"/>
                </a:solidFill>
              </a:rPr>
              <a:t>• representation of news propagation, as it identifies nodes that</a:t>
            </a:r>
          </a:p>
          <a:p>
            <a:pPr>
              <a:lnSpc>
                <a:spcPct val="135000"/>
              </a:lnSpc>
              <a:spcAft>
                <a:spcPts val="1000"/>
              </a:spcAft>
              <a:defRPr sz="1600">
                <a:solidFill>
                  <a:srgbClr val="1E293B"/>
                </a:solidFill>
                <a:latin typeface="Calibri"/>
              </a:defRPr>
            </a:pPr>
            <a:r>
              <a:rPr>
                <a:solidFill>
                  <a:srgbClr val="3B82F6"/>
                </a:solidFill>
              </a:rPr>
              <a:t>• are not just immediate neighbors but are also structurally</a:t>
            </a:r>
          </a:p>
          <a:p>
            <a:pPr>
              <a:lnSpc>
                <a:spcPct val="135000"/>
              </a:lnSpc>
              <a:spcAft>
                <a:spcPts val="1000"/>
              </a:spcAft>
              <a:defRPr sz="1600">
                <a:solidFill>
                  <a:srgbClr val="1E293B"/>
                </a:solidFill>
                <a:latin typeface="Calibri"/>
              </a:defRPr>
            </a:pPr>
            <a:r>
              <a:rPr>
                <a:solidFill>
                  <a:srgbClr val="3B82F6"/>
                </a:solidFill>
              </a:rPr>
              <a:t>• influential in the context of the news item.</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Example: Random Walk with Restart (RWR) for neighbor order determination</a:t>
            </a:r>
          </a:p>
        </p:txBody>
      </p:sp>
      <p:sp>
        <p:nvSpPr>
          <p:cNvPr id="5" name="Rectangle 4"/>
          <p:cNvSpPr/>
          <p:nvPr/>
        </p:nvSpPr>
        <p:spPr>
          <a:xfrm>
            <a:off x="548640" y="1346200"/>
            <a:ext cx="9144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492504"/>
            <a:ext cx="10874959" cy="186410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92504"/>
            <a:ext cx="64008" cy="1864105"/>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2232"/>
            <a:ext cx="1828800" cy="228600"/>
          </a:xfrm>
          <a:prstGeom prst="rect">
            <a:avLst/>
          </a:prstGeom>
          <a:noFill/>
        </p:spPr>
        <p:txBody>
          <a:bodyPr wrap="none">
            <a:spAutoFit/>
          </a:bodyPr>
          <a:lstStyle/>
          <a:p>
            <a:pPr>
              <a:defRPr sz="1100" b="1">
                <a:solidFill>
                  <a:srgbClr val="F59E0B"/>
                </a:solidFill>
                <a:latin typeface="Calibri"/>
              </a:defRPr>
            </a:pPr>
            <a:r>
              <a:t>EXAMPLE</a:t>
            </a:r>
          </a:p>
        </p:txBody>
      </p:sp>
      <p:sp>
        <p:nvSpPr>
          <p:cNvPr id="9" name="TextBox 8"/>
          <p:cNvSpPr txBox="1"/>
          <p:nvPr/>
        </p:nvSpPr>
        <p:spPr>
          <a:xfrm>
            <a:off x="868680" y="1839976"/>
            <a:ext cx="10545775" cy="4572000"/>
          </a:xfrm>
          <a:prstGeom prst="rect">
            <a:avLst/>
          </a:prstGeom>
          <a:noFill/>
        </p:spPr>
        <p:txBody>
          <a:bodyPr wrap="square">
            <a:spAutoFit/>
          </a:bodyPr>
          <a:lstStyle/>
          <a:p>
            <a:pPr>
              <a:lnSpc>
                <a:spcPct val="135000"/>
              </a:lnSpc>
              <a:spcAft>
                <a:spcPts val="1000"/>
              </a:spcAft>
              <a:defRPr sz="1600" i="1">
                <a:solidFill>
                  <a:srgbClr val="1E293B"/>
                </a:solidFill>
                <a:latin typeface="Calibri"/>
              </a:defRPr>
            </a:pPr>
            <a:r>
              <a:t>The RWR-based strategy is used as a one-off pre-processing step for heterogeneous neighbor sampling, which is essential for determining the neighbor order before the data is fed into the Transformer layers.</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240512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645920" cy="292608"/>
          </a:xfrm>
          <a:prstGeom prst="rect">
            <a:avLst/>
          </a:prstGeom>
          <a:noFill/>
        </p:spPr>
        <p:txBody>
          <a:bodyPr wrap="none">
            <a:spAutoFit/>
          </a:bodyPr>
          <a:lstStyle/>
          <a:p>
            <a:pPr algn="ctr">
              <a:defRPr sz="1100" b="1">
                <a:solidFill>
                  <a:srgbClr val="FFFFFF"/>
                </a:solidFill>
                <a:latin typeface="Calibri"/>
              </a:defRPr>
            </a:pPr>
            <a:r>
              <a:t>Random Walk with Restart</a:t>
            </a:r>
          </a:p>
        </p:txBody>
      </p:sp>
      <p:sp>
        <p:nvSpPr>
          <p:cNvPr id="9" name="TextBox 8"/>
          <p:cNvSpPr txBox="1"/>
          <p:nvPr/>
        </p:nvSpPr>
        <p:spPr>
          <a:xfrm>
            <a:off x="2331720" y="1157731"/>
            <a:ext cx="3154680" cy="2185669"/>
          </a:xfrm>
          <a:prstGeom prst="rect">
            <a:avLst/>
          </a:prstGeom>
          <a:noFill/>
        </p:spPr>
        <p:txBody>
          <a:bodyPr wrap="square">
            <a:spAutoFit/>
          </a:bodyPr>
          <a:lstStyle/>
          <a:p>
            <a:pPr>
              <a:lnSpc>
                <a:spcPct val="130000"/>
              </a:lnSpc>
              <a:defRPr sz="1400">
                <a:solidFill>
                  <a:srgbClr val="1E293B"/>
                </a:solidFill>
                <a:latin typeface="Calibri"/>
              </a:defRPr>
            </a:pPr>
            <a:r>
              <a:t>A graph traversal algorithm that randomly walks from a starting node and periodically returns to it, used to measure node proximity.</a:t>
            </a:r>
          </a:p>
        </p:txBody>
      </p:sp>
      <p:sp>
        <p:nvSpPr>
          <p:cNvPr id="10" name="Rounded Rectangle 9"/>
          <p:cNvSpPr/>
          <p:nvPr/>
        </p:nvSpPr>
        <p:spPr>
          <a:xfrm>
            <a:off x="5943600" y="1048004"/>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203452"/>
            <a:ext cx="1645920" cy="292608"/>
          </a:xfrm>
          <a:prstGeom prst="rect">
            <a:avLst/>
          </a:prstGeom>
          <a:noFill/>
        </p:spPr>
        <p:txBody>
          <a:bodyPr wrap="none">
            <a:spAutoFit/>
          </a:bodyPr>
          <a:lstStyle/>
          <a:p>
            <a:pPr algn="ctr">
              <a:defRPr sz="1100" b="1">
                <a:solidFill>
                  <a:srgbClr val="FFFFFF"/>
                </a:solidFill>
                <a:latin typeface="Calibri"/>
              </a:defRPr>
            </a:pPr>
            <a:r>
              <a:t>Neighbor Sampling</a:t>
            </a:r>
          </a:p>
        </p:txBody>
      </p:sp>
      <p:sp>
        <p:nvSpPr>
          <p:cNvPr id="13" name="TextBox 12"/>
          <p:cNvSpPr txBox="1"/>
          <p:nvPr/>
        </p:nvSpPr>
        <p:spPr>
          <a:xfrm>
            <a:off x="7726680" y="1157731"/>
            <a:ext cx="3154680" cy="1705610"/>
          </a:xfrm>
          <a:prstGeom prst="rect">
            <a:avLst/>
          </a:prstGeom>
          <a:noFill/>
        </p:spPr>
        <p:txBody>
          <a:bodyPr wrap="square">
            <a:spAutoFit/>
          </a:bodyPr>
          <a:lstStyle/>
          <a:p>
            <a:pPr>
              <a:lnSpc>
                <a:spcPct val="130000"/>
              </a:lnSpc>
              <a:defRPr sz="1400">
                <a:solidFill>
                  <a:srgbClr val="1E293B"/>
                </a:solidFill>
                <a:latin typeface="Calibri"/>
              </a:defRPr>
            </a:pPr>
            <a:r>
              <a:t>The process of selecting a subset of a node's neighbors for computational efficiency.</a:t>
            </a:r>
          </a:p>
        </p:txBody>
      </p:sp>
      <p:sp>
        <p:nvSpPr>
          <p:cNvPr id="14" name="Rounded Rectangle 13"/>
          <p:cNvSpPr/>
          <p:nvPr/>
        </p:nvSpPr>
        <p:spPr>
          <a:xfrm>
            <a:off x="54864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3247389"/>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265677"/>
            <a:ext cx="1645920" cy="292608"/>
          </a:xfrm>
          <a:prstGeom prst="rect">
            <a:avLst/>
          </a:prstGeom>
          <a:noFill/>
        </p:spPr>
        <p:txBody>
          <a:bodyPr wrap="none">
            <a:spAutoFit/>
          </a:bodyPr>
          <a:lstStyle/>
          <a:p>
            <a:pPr algn="ctr">
              <a:defRPr sz="1100" b="1">
                <a:solidFill>
                  <a:srgbClr val="FFFFFF"/>
                </a:solidFill>
                <a:latin typeface="Calibri"/>
              </a:defRPr>
            </a:pPr>
            <a:r>
              <a:t>Structural Influence</a:t>
            </a:r>
          </a:p>
        </p:txBody>
      </p:sp>
      <p:sp>
        <p:nvSpPr>
          <p:cNvPr id="17" name="TextBox 16"/>
          <p:cNvSpPr txBox="1"/>
          <p:nvPr/>
        </p:nvSpPr>
        <p:spPr>
          <a:xfrm>
            <a:off x="2331720" y="3219958"/>
            <a:ext cx="3154680" cy="1705610"/>
          </a:xfrm>
          <a:prstGeom prst="rect">
            <a:avLst/>
          </a:prstGeom>
          <a:noFill/>
        </p:spPr>
        <p:txBody>
          <a:bodyPr wrap="square">
            <a:spAutoFit/>
          </a:bodyPr>
          <a:lstStyle/>
          <a:p>
            <a:pPr>
              <a:lnSpc>
                <a:spcPct val="130000"/>
              </a:lnSpc>
              <a:defRPr sz="1400">
                <a:solidFill>
                  <a:srgbClr val="1E293B"/>
                </a:solidFill>
                <a:latin typeface="Calibri"/>
              </a:defRPr>
            </a:pPr>
            <a:r>
              <a:t>The impact a node has on the overall topology and information flow within a graph.</a:t>
            </a:r>
          </a:p>
        </p:txBody>
      </p:sp>
      <p:sp>
        <p:nvSpPr>
          <p:cNvPr id="18" name="Rounded Rectangle 17"/>
          <p:cNvSpPr/>
          <p:nvPr/>
        </p:nvSpPr>
        <p:spPr>
          <a:xfrm>
            <a:off x="5943600" y="2870200"/>
            <a:ext cx="5120640" cy="16850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3007360"/>
            <a:ext cx="1426464"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025648"/>
            <a:ext cx="1426464" cy="292608"/>
          </a:xfrm>
          <a:prstGeom prst="rect">
            <a:avLst/>
          </a:prstGeom>
          <a:noFill/>
        </p:spPr>
        <p:txBody>
          <a:bodyPr wrap="none">
            <a:spAutoFit/>
          </a:bodyPr>
          <a:lstStyle/>
          <a:p>
            <a:pPr algn="ctr">
              <a:defRPr sz="1100" b="1">
                <a:solidFill>
                  <a:srgbClr val="FFFFFF"/>
                </a:solidFill>
                <a:latin typeface="Calibri"/>
              </a:defRPr>
            </a:pPr>
            <a:r>
              <a:t>Pre-processing</a:t>
            </a:r>
          </a:p>
        </p:txBody>
      </p:sp>
      <p:sp>
        <p:nvSpPr>
          <p:cNvPr id="21" name="TextBox 20"/>
          <p:cNvSpPr txBox="1"/>
          <p:nvPr/>
        </p:nvSpPr>
        <p:spPr>
          <a:xfrm>
            <a:off x="7507224" y="2979928"/>
            <a:ext cx="3374136" cy="1465580"/>
          </a:xfrm>
          <a:prstGeom prst="rect">
            <a:avLst/>
          </a:prstGeom>
          <a:noFill/>
        </p:spPr>
        <p:txBody>
          <a:bodyPr wrap="square">
            <a:spAutoFit/>
          </a:bodyPr>
          <a:lstStyle/>
          <a:p>
            <a:pPr>
              <a:lnSpc>
                <a:spcPct val="130000"/>
              </a:lnSpc>
              <a:defRPr sz="1400">
                <a:solidFill>
                  <a:srgbClr val="1E293B"/>
                </a:solidFill>
                <a:latin typeface="Calibri"/>
              </a:defRPr>
            </a:pPr>
            <a:r>
              <a:t>Data preparation steps performed before the main model training or inference.</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Lesson Summary</a:t>
            </a:r>
          </a:p>
        </p:txBody>
      </p:sp>
      <p:sp>
        <p:nvSpPr>
          <p:cNvPr id="5" name="Rectangle 4"/>
          <p:cNvSpPr/>
          <p:nvPr/>
        </p:nvSpPr>
        <p:spPr>
          <a:xfrm>
            <a:off x="548640" y="901700"/>
            <a:ext cx="109728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3986784"/>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249172"/>
            <a:ext cx="438912" cy="43891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276604"/>
            <a:ext cx="438912" cy="384048"/>
          </a:xfrm>
          <a:prstGeom prst="rect">
            <a:avLst/>
          </a:prstGeom>
          <a:noFill/>
        </p:spPr>
        <p:txBody>
          <a:bodyPr wrap="none">
            <a:spAutoFit/>
          </a:bodyPr>
          <a:lstStyle/>
          <a:p>
            <a:pPr algn="ctr">
              <a:defRPr sz="2200">
                <a:solidFill>
                  <a:srgbClr val="FFFFFF"/>
                </a:solidFill>
              </a:defRPr>
            </a:pPr>
            <a:r>
              <a:t>✓</a:t>
            </a:r>
          </a:p>
        </p:txBody>
      </p:sp>
      <p:sp>
        <p:nvSpPr>
          <p:cNvPr id="9" name="TextBox 8"/>
          <p:cNvSpPr txBox="1"/>
          <p:nvPr/>
        </p:nvSpPr>
        <p:spPr>
          <a:xfrm>
            <a:off x="1325880" y="1185164"/>
            <a:ext cx="10134295"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t>This lesson introduced the HetTransformer model, a novel approach to fake news detection that addresses the limitations of existing graph models. By utilizing an encoder-decoder Transformer architecture, the model effectively integrates multi-modal content semantics with global structural representations derived from heterogeneous social networks.</a:t>
            </a:r>
          </a:p>
          <a:p>
            <a:pPr>
              <a:lnSpc>
                <a:spcPct val="135000"/>
              </a:lnSpc>
              <a:spcAft>
                <a:spcPts val="1000"/>
              </a:spcAft>
              <a:defRPr sz="1600">
                <a:solidFill>
                  <a:srgbClr val="1E293B"/>
                </a:solidFill>
                <a:latin typeface="Calibri"/>
              </a:defRPr>
            </a:pPr>
            <a:r>
              <a:t>Key technical components include the use of type-specific transformation matrices to handle node heterogeneity, and a Random Walk with Restart (RWR) strategy to optimize neighbor sampling. These advancements allow the model to better capture the complex propagation patterns of fake news, leading to superior performance in real-world detection tasks.</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Check Your Understanding</a:t>
            </a:r>
          </a:p>
        </p:txBody>
      </p:sp>
      <p:sp>
        <p:nvSpPr>
          <p:cNvPr id="5" name="Rectangle 4"/>
          <p:cNvSpPr/>
          <p:nvPr/>
        </p:nvSpPr>
        <p:spPr>
          <a:xfrm>
            <a:off x="548640" y="901700"/>
            <a:ext cx="109728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2602991"/>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2491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b="1">
                <a:solidFill>
                  <a:srgbClr val="3B82F6"/>
                </a:solidFill>
              </a:rPr>
              <a:t>1. How does the use of type-specific transformation matrices help in modeling heterogeneous social networks?</a:t>
            </a:r>
          </a:p>
          <a:p>
            <a:pPr>
              <a:lnSpc>
                <a:spcPct val="135000"/>
              </a:lnSpc>
              <a:spcAft>
                <a:spcPts val="1000"/>
              </a:spcAft>
              <a:defRPr sz="1600">
                <a:solidFill>
                  <a:srgbClr val="1E293B"/>
                </a:solidFill>
                <a:latin typeface="Calibri"/>
              </a:defRPr>
            </a:pPr>
            <a:r>
              <a:rPr b="1">
                <a:solidFill>
                  <a:srgbClr val="3B82F6"/>
                </a:solidFill>
              </a:rPr>
              <a:t>2. Why is the encoder-decoder structure more effective for fake news detection than standard classification layers?</a:t>
            </a:r>
          </a:p>
          <a:p>
            <a:pPr>
              <a:lnSpc>
                <a:spcPct val="135000"/>
              </a:lnSpc>
              <a:spcAft>
                <a:spcPts val="1000"/>
              </a:spcAft>
              <a:defRPr sz="1600">
                <a:solidFill>
                  <a:srgbClr val="1E293B"/>
                </a:solidFill>
                <a:latin typeface="Calibri"/>
              </a:defRPr>
            </a:pPr>
            <a:r>
              <a:rPr b="1">
                <a:solidFill>
                  <a:srgbClr val="3B82F6"/>
                </a:solidFill>
              </a:rPr>
              <a:t>3. What is the benefit of concatenating content embeddings with positional and type embeddings?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Check Your Understanding</a:t>
            </a:r>
          </a:p>
        </p:txBody>
      </p:sp>
      <p:sp>
        <p:nvSpPr>
          <p:cNvPr id="5" name="Rectangle 4"/>
          <p:cNvSpPr/>
          <p:nvPr/>
        </p:nvSpPr>
        <p:spPr>
          <a:xfrm>
            <a:off x="548640" y="901700"/>
            <a:ext cx="109728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2491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b="1">
                <a:solidFill>
                  <a:srgbClr val="3B82F6"/>
                </a:solidFill>
              </a:rPr>
              <a:t>1. How does the RWR strategy improve the quality of neighbor sampling compared to random selection?</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References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1329944"/>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320040" cy="32004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320040" cy="283464"/>
          </a:xfrm>
          <a:prstGeom prst="rect">
            <a:avLst/>
          </a:prstGeom>
          <a:noFill/>
        </p:spPr>
        <p:txBody>
          <a:bodyPr wrap="none">
            <a:spAutoFit/>
          </a:bodyPr>
          <a:lstStyle/>
          <a:p>
            <a:pPr algn="ctr">
              <a:defRPr sz="1200" b="1">
                <a:solidFill>
                  <a:srgbClr val="FFFFFF"/>
                </a:solidFill>
                <a:latin typeface="Calibri"/>
              </a:defRPr>
            </a:pPr>
            <a:r>
              <a:t>1</a:t>
            </a:r>
          </a:p>
        </p:txBody>
      </p:sp>
      <p:sp>
        <p:nvSpPr>
          <p:cNvPr id="9" name="TextBox 8"/>
          <p:cNvSpPr txBox="1"/>
          <p:nvPr/>
        </p:nvSpPr>
        <p:spPr>
          <a:xfrm>
            <a:off x="1051560" y="1139444"/>
            <a:ext cx="10454335" cy="2743200"/>
          </a:xfrm>
          <a:prstGeom prst="rect">
            <a:avLst/>
          </a:prstGeom>
          <a:noFill/>
        </p:spPr>
        <p:txBody>
          <a:bodyPr wrap="square">
            <a:spAutoFit/>
          </a:bodyPr>
          <a:lstStyle/>
          <a:p>
            <a:pPr>
              <a:lnSpc>
                <a:spcPct val="125000"/>
              </a:lnSpc>
              <a:defRPr sz="1600" b="1">
                <a:solidFill>
                  <a:srgbClr val="1E293B"/>
                </a:solidFill>
                <a:latin typeface="Calibri"/>
              </a:defRPr>
            </a:pPr>
            <a:r>
              <a:t>Fake News Detection with Heterogeneous Transformer</a:t>
            </a:r>
          </a:p>
          <a:p>
            <a:pPr>
              <a:lnSpc>
                <a:spcPct val="125000"/>
              </a:lnSpc>
              <a:defRPr sz="1400">
                <a:solidFill>
                  <a:srgbClr val="64748B"/>
                </a:solidFill>
                <a:latin typeface="Calibri"/>
              </a:defRPr>
            </a:pPr>
            <a:r>
              <a:t>Research Team</a:t>
            </a:r>
          </a:p>
          <a:p>
            <a:pPr>
              <a:lnSpc>
                <a:spcPct val="125000"/>
              </a:lnSpc>
              <a:defRPr sz="1400">
                <a:solidFill>
                  <a:srgbClr val="64748B"/>
                </a:solidFill>
                <a:latin typeface="Calibri"/>
              </a:defRPr>
            </a:pPr>
            <a:r>
              <a:t>(2024)</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Module Context</a:t>
            </a:r>
          </a:p>
        </p:txBody>
      </p:sp>
      <p:sp>
        <p:nvSpPr>
          <p:cNvPr id="5" name="Rectangle 4"/>
          <p:cNvSpPr/>
          <p:nvPr/>
        </p:nvSpPr>
        <p:spPr>
          <a:xfrm>
            <a:off x="548640" y="901700"/>
            <a:ext cx="109728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3545738" cy="30693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048004"/>
            <a:ext cx="3545738"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185164"/>
            <a:ext cx="3179978" cy="320040"/>
          </a:xfrm>
          <a:prstGeom prst="rect">
            <a:avLst/>
          </a:prstGeom>
          <a:noFill/>
        </p:spPr>
        <p:txBody>
          <a:bodyPr wrap="none">
            <a:spAutoFit/>
          </a:bodyPr>
          <a:lstStyle/>
          <a:p>
            <a:pPr>
              <a:defRPr sz="1100" b="1">
                <a:solidFill>
                  <a:srgbClr val="F59E0B"/>
                </a:solidFill>
                <a:latin typeface="Calibri"/>
              </a:defRPr>
            </a:pPr>
            <a:r>
              <a:t>PROBLEM</a:t>
            </a:r>
          </a:p>
        </p:txBody>
      </p:sp>
      <p:sp>
        <p:nvSpPr>
          <p:cNvPr id="9" name="TextBox 8"/>
          <p:cNvSpPr txBox="1"/>
          <p:nvPr/>
        </p:nvSpPr>
        <p:spPr>
          <a:xfrm>
            <a:off x="749808" y="1505204"/>
            <a:ext cx="3179978" cy="2429255"/>
          </a:xfrm>
          <a:prstGeom prst="rect">
            <a:avLst/>
          </a:prstGeom>
          <a:noFill/>
        </p:spPr>
        <p:txBody>
          <a:bodyPr wrap="square">
            <a:spAutoFit/>
          </a:bodyPr>
          <a:lstStyle/>
          <a:p>
            <a:pPr>
              <a:lnSpc>
                <a:spcPct val="130000"/>
              </a:lnSpc>
              <a:defRPr sz="1600">
                <a:solidFill>
                  <a:srgbClr val="1E293B"/>
                </a:solidFill>
                <a:latin typeface="Calibri"/>
              </a:defRPr>
            </a:pPr>
            <a:r>
              <a:t>The need for robust, scalable, and accurate classification models that can handle complex propagation patterns.</a:t>
            </a:r>
          </a:p>
        </p:txBody>
      </p:sp>
      <p:sp>
        <p:nvSpPr>
          <p:cNvPr id="10" name="Rounded Rectangle 9"/>
          <p:cNvSpPr/>
          <p:nvPr/>
        </p:nvSpPr>
        <p:spPr>
          <a:xfrm>
            <a:off x="4322978" y="1048004"/>
            <a:ext cx="3545738" cy="279501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22978" y="1048004"/>
            <a:ext cx="3545738"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4146" y="1185164"/>
            <a:ext cx="3179978" cy="320040"/>
          </a:xfrm>
          <a:prstGeom prst="rect">
            <a:avLst/>
          </a:prstGeom>
          <a:noFill/>
        </p:spPr>
        <p:txBody>
          <a:bodyPr wrap="none">
            <a:spAutoFit/>
          </a:bodyPr>
          <a:lstStyle/>
          <a:p>
            <a:pPr>
              <a:defRPr sz="1100" b="1">
                <a:solidFill>
                  <a:srgbClr val="10B981"/>
                </a:solidFill>
                <a:latin typeface="Calibri"/>
              </a:defRPr>
            </a:pPr>
            <a:r>
              <a:t>SOLUTION</a:t>
            </a:r>
          </a:p>
        </p:txBody>
      </p:sp>
      <p:sp>
        <p:nvSpPr>
          <p:cNvPr id="13" name="TextBox 12"/>
          <p:cNvSpPr txBox="1"/>
          <p:nvPr/>
        </p:nvSpPr>
        <p:spPr>
          <a:xfrm>
            <a:off x="4524146" y="1505204"/>
            <a:ext cx="3179978" cy="2154936"/>
          </a:xfrm>
          <a:prstGeom prst="rect">
            <a:avLst/>
          </a:prstGeom>
          <a:noFill/>
        </p:spPr>
        <p:txBody>
          <a:bodyPr wrap="square">
            <a:spAutoFit/>
          </a:bodyPr>
          <a:lstStyle/>
          <a:p>
            <a:pPr>
              <a:lnSpc>
                <a:spcPct val="130000"/>
              </a:lnSpc>
              <a:defRPr sz="1600">
                <a:solidFill>
                  <a:srgbClr val="1E293B"/>
                </a:solidFill>
                <a:latin typeface="Calibri"/>
              </a:defRPr>
            </a:pPr>
            <a:r>
              <a:t>Fine-tuning pre-trained models and implementing hierarchical, attention-based graph neural networks.</a:t>
            </a:r>
          </a:p>
        </p:txBody>
      </p:sp>
      <p:sp>
        <p:nvSpPr>
          <p:cNvPr id="14" name="Rounded Rectangle 13"/>
          <p:cNvSpPr/>
          <p:nvPr/>
        </p:nvSpPr>
        <p:spPr>
          <a:xfrm>
            <a:off x="8097316" y="1048004"/>
            <a:ext cx="3545738" cy="2011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7316" y="1048004"/>
            <a:ext cx="3545738"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98484" y="1185164"/>
            <a:ext cx="3179978" cy="320040"/>
          </a:xfrm>
          <a:prstGeom prst="rect">
            <a:avLst/>
          </a:prstGeom>
          <a:noFill/>
        </p:spPr>
        <p:txBody>
          <a:bodyPr wrap="none">
            <a:spAutoFit/>
          </a:bodyPr>
          <a:lstStyle/>
          <a:p>
            <a:pPr>
              <a:defRPr sz="1100" b="1">
                <a:solidFill>
                  <a:srgbClr val="3B82F6"/>
                </a:solidFill>
                <a:latin typeface="Calibri"/>
              </a:defRPr>
            </a:pPr>
            <a:r>
              <a:t>DIFFICULTY</a:t>
            </a:r>
          </a:p>
        </p:txBody>
      </p:sp>
      <p:sp>
        <p:nvSpPr>
          <p:cNvPr id="17" name="TextBox 16"/>
          <p:cNvSpPr txBox="1"/>
          <p:nvPr/>
        </p:nvSpPr>
        <p:spPr>
          <a:xfrm>
            <a:off x="8298484" y="1505204"/>
            <a:ext cx="3179978" cy="1371600"/>
          </a:xfrm>
          <a:prstGeom prst="rect">
            <a:avLst/>
          </a:prstGeom>
          <a:noFill/>
        </p:spPr>
        <p:txBody>
          <a:bodyPr wrap="square">
            <a:spAutoFit/>
          </a:bodyPr>
          <a:lstStyle/>
          <a:p>
            <a:pPr>
              <a:lnSpc>
                <a:spcPct val="130000"/>
              </a:lnSpc>
              <a:defRPr sz="1600">
                <a:solidFill>
                  <a:srgbClr val="1E293B"/>
                </a:solidFill>
                <a:latin typeface="Calibri"/>
              </a:defRPr>
            </a:pPr>
            <a:r>
              <a:t>advanced</a:t>
            </a:r>
          </a:p>
        </p:txBody>
      </p:sp>
      <p:sp>
        <p:nvSpPr>
          <p:cNvPr id="18" name="Rectangle 1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0" name="TextBox 1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835121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34440" y="2651760"/>
            <a:ext cx="1280160" cy="1280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926080"/>
            <a:ext cx="914400" cy="731520"/>
          </a:xfrm>
          <a:prstGeom prst="rect">
            <a:avLst/>
          </a:prstGeom>
          <a:noFill/>
        </p:spPr>
        <p:txBody>
          <a:bodyPr wrap="none">
            <a:spAutoFit/>
          </a:bodyPr>
          <a:lstStyle/>
          <a:p>
            <a:pPr algn="ctr">
              <a:defRPr sz="4400">
                <a:solidFill>
                  <a:srgbClr val="FFFFFF"/>
                </a:solidFill>
                <a:latin typeface="Calibri"/>
              </a:defRPr>
            </a:pPr>
            <a:r>
              <a:t>§</a:t>
            </a:r>
          </a:p>
        </p:txBody>
      </p:sp>
      <p:sp>
        <p:nvSpPr>
          <p:cNvPr id="6" name="TextBox 5"/>
          <p:cNvSpPr txBox="1"/>
          <p:nvPr/>
        </p:nvSpPr>
        <p:spPr>
          <a:xfrm>
            <a:off x="4389120" y="2468880"/>
            <a:ext cx="7772400" cy="2148840"/>
          </a:xfrm>
          <a:prstGeom prst="rect">
            <a:avLst/>
          </a:prstGeom>
          <a:noFill/>
        </p:spPr>
        <p:txBody>
          <a:bodyPr wrap="square">
            <a:spAutoFit/>
          </a:bodyPr>
          <a:lstStyle/>
          <a:p>
            <a:pPr>
              <a:defRPr sz="4400" b="1">
                <a:solidFill>
                  <a:srgbClr val="1E293B"/>
                </a:solidFill>
                <a:latin typeface="Calibri"/>
              </a:defRPr>
            </a:pPr>
            <a:r>
              <a:t>Fine-tuning pre-trained models (BERT, RoBERTa, T5)</a:t>
            </a:r>
          </a:p>
        </p:txBody>
      </p:sp>
      <p:sp>
        <p:nvSpPr>
          <p:cNvPr id="7" name="Rectangle 6"/>
          <p:cNvSpPr/>
          <p:nvPr/>
        </p:nvSpPr>
        <p:spPr>
          <a:xfrm>
            <a:off x="4389120" y="4663440"/>
            <a:ext cx="128016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4773168"/>
            <a:ext cx="7772400" cy="457200"/>
          </a:xfrm>
          <a:prstGeom prst="rect">
            <a:avLst/>
          </a:prstGeom>
          <a:noFill/>
        </p:spPr>
        <p:txBody>
          <a:bodyPr wrap="none">
            <a:spAutoFit/>
          </a:bodyPr>
          <a:lstStyle/>
          <a:p>
            <a:pPr>
              <a:defRPr sz="2400">
                <a:solidFill>
                  <a:srgbClr val="64748B"/>
                </a:solidFill>
                <a:latin typeface="Calibri"/>
              </a:defRPr>
            </a:pPr>
            <a:r>
              <a:t>Advanced Architectural Optimization and Evaluation</a:t>
            </a:r>
          </a:p>
        </p:txBody>
      </p:sp>
      <p:sp>
        <p:nvSpPr>
          <p:cNvPr id="9" name="Rectangle 8"/>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1" name="TextBox 10"/>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83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Fine-tuning pre-trained models (BERT, RoBERTa, T5)</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Building on the foundational benchmarking of BERT-based models,</a:t>
            </a:r>
          </a:p>
          <a:p>
            <a:pPr>
              <a:lnSpc>
                <a:spcPct val="135000"/>
              </a:lnSpc>
              <a:spcAft>
                <a:spcPts val="1000"/>
              </a:spcAft>
              <a:defRPr sz="1600">
                <a:solidFill>
                  <a:srgbClr val="1E293B"/>
                </a:solidFill>
                <a:latin typeface="Calibri"/>
              </a:defRPr>
            </a:pPr>
            <a:r>
              <a:rPr>
                <a:solidFill>
                  <a:srgbClr val="3B82F6"/>
                </a:solidFill>
              </a:rPr>
              <a:t>• advanced optimization requires moving beyond standard fine-tuning</a:t>
            </a:r>
          </a:p>
          <a:p>
            <a:pPr>
              <a:lnSpc>
                <a:spcPct val="135000"/>
              </a:lnSpc>
              <a:spcAft>
                <a:spcPts val="1000"/>
              </a:spcAft>
              <a:defRPr sz="1600">
                <a:solidFill>
                  <a:srgbClr val="1E293B"/>
                </a:solidFill>
                <a:latin typeface="Calibri"/>
              </a:defRPr>
            </a:pPr>
            <a:r>
              <a:rPr>
                <a:solidFill>
                  <a:srgbClr val="3B82F6"/>
                </a:solidFill>
              </a:rPr>
              <a:t>• to address the specific nuances of fake news propagation.</a:t>
            </a:r>
          </a:p>
          <a:p>
            <a:pPr>
              <a:lnSpc>
                <a:spcPct val="135000"/>
              </a:lnSpc>
              <a:spcAft>
                <a:spcPts val="1000"/>
              </a:spcAft>
              <a:defRPr sz="1600">
                <a:solidFill>
                  <a:srgbClr val="1E293B"/>
                </a:solidFill>
                <a:latin typeface="Calibri"/>
              </a:defRPr>
            </a:pPr>
            <a:r>
              <a:rPr>
                <a:solidFill>
                  <a:srgbClr val="3B82F6"/>
                </a:solidFill>
              </a:rPr>
              <a:t>• While standard fine-tuning adapts pre-trained weights to a target</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84</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Fine-tuning pre-trained models (BERT, RoBERTa, T5)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domain, the challenge lies in the domain shift problem where</a:t>
            </a:r>
          </a:p>
          <a:p>
            <a:pPr>
              <a:lnSpc>
                <a:spcPct val="135000"/>
              </a:lnSpc>
              <a:spcAft>
                <a:spcPts val="1000"/>
              </a:spcAft>
              <a:defRPr sz="1600">
                <a:solidFill>
                  <a:srgbClr val="1E293B"/>
                </a:solidFill>
                <a:latin typeface="Calibri"/>
              </a:defRPr>
            </a:pPr>
            <a:r>
              <a:rPr>
                <a:solidFill>
                  <a:srgbClr val="3B82F6"/>
                </a:solidFill>
              </a:rPr>
              <a:t>• models trained on one dataset fail to generalize to others.</a:t>
            </a:r>
          </a:p>
          <a:p>
            <a:pPr>
              <a:lnSpc>
                <a:spcPct val="135000"/>
              </a:lnSpc>
              <a:spcAft>
                <a:spcPts val="1000"/>
              </a:spcAft>
              <a:defRPr sz="1600">
                <a:solidFill>
                  <a:srgbClr val="1E293B"/>
                </a:solidFill>
                <a:latin typeface="Calibri"/>
              </a:defRPr>
            </a:pPr>
            <a:r>
              <a:rPr>
                <a:solidFill>
                  <a:srgbClr val="3B82F6"/>
                </a:solidFill>
              </a:rPr>
              <a:t>• Advanced implementation involves leveraging Huggingface</a:t>
            </a:r>
          </a:p>
          <a:p>
            <a:pPr>
              <a:lnSpc>
                <a:spcPct val="135000"/>
              </a:lnSpc>
              <a:spcAft>
                <a:spcPts val="1000"/>
              </a:spcAft>
              <a:defRPr sz="1600">
                <a:solidFill>
                  <a:srgbClr val="1E293B"/>
                </a:solidFill>
                <a:latin typeface="Calibri"/>
              </a:defRPr>
            </a:pPr>
            <a:r>
              <a:rPr>
                <a:solidFill>
                  <a:srgbClr val="3B82F6"/>
                </a:solidFill>
              </a:rPr>
              <a:t>• frameworks to perform stochastic optimization on large</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85</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Fine-tuning pre-trained models (BERT, RoBERTa, T5)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pre-trained models like BERT, RoBERTa, and T5.</a:t>
            </a:r>
          </a:p>
          <a:p>
            <a:pPr>
              <a:lnSpc>
                <a:spcPct val="135000"/>
              </a:lnSpc>
              <a:spcAft>
                <a:spcPts val="1000"/>
              </a:spcAft>
              <a:defRPr sz="1600">
                <a:solidFill>
                  <a:srgbClr val="1E293B"/>
                </a:solidFill>
                <a:latin typeface="Calibri"/>
              </a:defRPr>
            </a:pPr>
            <a:r>
              <a:rPr>
                <a:solidFill>
                  <a:srgbClr val="3B82F6"/>
                </a:solidFill>
              </a:rPr>
              <a:t>• By treating these models as feature extractors or end-to-end</a:t>
            </a:r>
          </a:p>
          <a:p>
            <a:pPr>
              <a:lnSpc>
                <a:spcPct val="135000"/>
              </a:lnSpc>
              <a:spcAft>
                <a:spcPts val="1000"/>
              </a:spcAft>
              <a:defRPr sz="1600">
                <a:solidFill>
                  <a:srgbClr val="1E293B"/>
                </a:solidFill>
                <a:latin typeface="Calibri"/>
              </a:defRPr>
            </a:pPr>
            <a:r>
              <a:rPr>
                <a:solidFill>
                  <a:srgbClr val="3B82F6"/>
                </a:solidFill>
              </a:rPr>
              <a:t>• classifiers, we can capture complex semantic patterns.</a:t>
            </a:r>
          </a:p>
          <a:p>
            <a:pPr>
              <a:lnSpc>
                <a:spcPct val="135000"/>
              </a:lnSpc>
              <a:spcAft>
                <a:spcPts val="1000"/>
              </a:spcAft>
              <a:defRPr sz="1600">
                <a:solidFill>
                  <a:srgbClr val="1E293B"/>
                </a:solidFill>
                <a:latin typeface="Calibri"/>
              </a:defRPr>
            </a:pPr>
            <a:r>
              <a:rPr>
                <a:solidFill>
                  <a:srgbClr val="3B82F6"/>
                </a:solidFill>
              </a:rPr>
              <a:t>• However, the effectiveness of these models is highly dependent on</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86</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Fine-tuning pre-trained models (BERT, RoBERTa, T5)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the quality of the input embeddings and the specific fine-tuning</a:t>
            </a:r>
          </a:p>
          <a:p>
            <a:pPr>
              <a:lnSpc>
                <a:spcPct val="135000"/>
              </a:lnSpc>
              <a:spcAft>
                <a:spcPts val="1000"/>
              </a:spcAft>
              <a:defRPr sz="1600">
                <a:solidFill>
                  <a:srgbClr val="1E293B"/>
                </a:solidFill>
                <a:latin typeface="Calibri"/>
              </a:defRPr>
            </a:pPr>
            <a:r>
              <a:rPr>
                <a:solidFill>
                  <a:srgbClr val="3B82F6"/>
                </a:solidFill>
              </a:rPr>
              <a:t>• strategy, such as stratified sampling in few-shot scenarios,</a:t>
            </a:r>
          </a:p>
          <a:p>
            <a:pPr>
              <a:lnSpc>
                <a:spcPct val="135000"/>
              </a:lnSpc>
              <a:spcAft>
                <a:spcPts val="1000"/>
              </a:spcAft>
              <a:defRPr sz="1600">
                <a:solidFill>
                  <a:srgbClr val="1E293B"/>
                </a:solidFill>
                <a:latin typeface="Calibri"/>
              </a:defRPr>
            </a:pPr>
            <a:r>
              <a:rPr>
                <a:solidFill>
                  <a:srgbClr val="3B82F6"/>
                </a:solidFill>
              </a:rPr>
              <a:t>• which helps mitigate the performance degradation observed when</a:t>
            </a:r>
          </a:p>
          <a:p>
            <a:pPr>
              <a:lnSpc>
                <a:spcPct val="135000"/>
              </a:lnSpc>
              <a:spcAft>
                <a:spcPts val="1000"/>
              </a:spcAft>
              <a:defRPr sz="1600">
                <a:solidFill>
                  <a:srgbClr val="1E293B"/>
                </a:solidFill>
                <a:latin typeface="Calibri"/>
              </a:defRPr>
            </a:pPr>
            <a:r>
              <a:rPr>
                <a:solidFill>
                  <a:srgbClr val="3B82F6"/>
                </a:solidFill>
              </a:rPr>
              <a:t>• models encounter heterogeneous data distributions.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87</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Example: Fine-tuning pre-trained models (BERT, RoBERTa, T5)</a:t>
            </a:r>
          </a:p>
        </p:txBody>
      </p:sp>
      <p:sp>
        <p:nvSpPr>
          <p:cNvPr id="5" name="Rectangle 4"/>
          <p:cNvSpPr/>
          <p:nvPr/>
        </p:nvSpPr>
        <p:spPr>
          <a:xfrm>
            <a:off x="548640" y="1346200"/>
            <a:ext cx="9144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492504"/>
            <a:ext cx="10874959" cy="241274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92504"/>
            <a:ext cx="64008" cy="241274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2232"/>
            <a:ext cx="1828800" cy="228600"/>
          </a:xfrm>
          <a:prstGeom prst="rect">
            <a:avLst/>
          </a:prstGeom>
          <a:noFill/>
        </p:spPr>
        <p:txBody>
          <a:bodyPr wrap="none">
            <a:spAutoFit/>
          </a:bodyPr>
          <a:lstStyle/>
          <a:p>
            <a:pPr>
              <a:defRPr sz="1100" b="1">
                <a:solidFill>
                  <a:srgbClr val="F59E0B"/>
                </a:solidFill>
                <a:latin typeface="Calibri"/>
              </a:defRPr>
            </a:pPr>
            <a:r>
              <a:t>EXAMPLE</a:t>
            </a:r>
          </a:p>
        </p:txBody>
      </p:sp>
      <p:sp>
        <p:nvSpPr>
          <p:cNvPr id="9" name="TextBox 8"/>
          <p:cNvSpPr txBox="1"/>
          <p:nvPr/>
        </p:nvSpPr>
        <p:spPr>
          <a:xfrm>
            <a:off x="868680" y="1839976"/>
            <a:ext cx="10545775" cy="4572000"/>
          </a:xfrm>
          <a:prstGeom prst="rect">
            <a:avLst/>
          </a:prstGeom>
          <a:noFill/>
        </p:spPr>
        <p:txBody>
          <a:bodyPr wrap="square">
            <a:spAutoFit/>
          </a:bodyPr>
          <a:lstStyle/>
          <a:p>
            <a:pPr>
              <a:lnSpc>
                <a:spcPct val="135000"/>
              </a:lnSpc>
              <a:spcAft>
                <a:spcPts val="1000"/>
              </a:spcAft>
              <a:defRPr sz="1600" i="1">
                <a:solidFill>
                  <a:srgbClr val="1E293B"/>
                </a:solidFill>
                <a:latin typeface="Calibri"/>
              </a:defRPr>
            </a:pPr>
            <a:r>
              <a:t>Experimental benchmarks demonstrate that BERT exhibits statistically significant performance differences compared to traditional CNN and BiLSTM architectures, while DeBERTa shows significant improvements over NB, CNN, and BiLSTM, confirming that the choice of pre-trained architecture is critical for robust detection.</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88</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179576"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179576" cy="292608"/>
          </a:xfrm>
          <a:prstGeom prst="rect">
            <a:avLst/>
          </a:prstGeom>
          <a:noFill/>
        </p:spPr>
        <p:txBody>
          <a:bodyPr wrap="none">
            <a:spAutoFit/>
          </a:bodyPr>
          <a:lstStyle/>
          <a:p>
            <a:pPr algn="ctr">
              <a:defRPr sz="1100" b="1">
                <a:solidFill>
                  <a:srgbClr val="FFFFFF"/>
                </a:solidFill>
                <a:latin typeface="Calibri"/>
              </a:defRPr>
            </a:pPr>
            <a:r>
              <a:t>Fine-tuning</a:t>
            </a:r>
          </a:p>
        </p:txBody>
      </p:sp>
      <p:sp>
        <p:nvSpPr>
          <p:cNvPr id="9" name="TextBox 8"/>
          <p:cNvSpPr txBox="1"/>
          <p:nvPr/>
        </p:nvSpPr>
        <p:spPr>
          <a:xfrm>
            <a:off x="1865376" y="1157731"/>
            <a:ext cx="3621024" cy="1945640"/>
          </a:xfrm>
          <a:prstGeom prst="rect">
            <a:avLst/>
          </a:prstGeom>
          <a:noFill/>
        </p:spPr>
        <p:txBody>
          <a:bodyPr wrap="square">
            <a:spAutoFit/>
          </a:bodyPr>
          <a:lstStyle/>
          <a:p>
            <a:pPr>
              <a:lnSpc>
                <a:spcPct val="130000"/>
              </a:lnSpc>
              <a:defRPr sz="1400">
                <a:solidFill>
                  <a:srgbClr val="1E293B"/>
                </a:solidFill>
                <a:latin typeface="Calibri"/>
              </a:defRPr>
            </a:pPr>
            <a:r>
              <a:t>Adapting a pre-trained model to a specific downstream task by updating its weights on task-specific data.</a:t>
            </a:r>
          </a:p>
        </p:txBody>
      </p:sp>
      <p:sp>
        <p:nvSpPr>
          <p:cNvPr id="10" name="Rounded Rectangle 9"/>
          <p:cNvSpPr/>
          <p:nvPr/>
        </p:nvSpPr>
        <p:spPr>
          <a:xfrm>
            <a:off x="5943600" y="1048004"/>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185164"/>
            <a:ext cx="1261872"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203452"/>
            <a:ext cx="1261872" cy="292608"/>
          </a:xfrm>
          <a:prstGeom prst="rect">
            <a:avLst/>
          </a:prstGeom>
          <a:noFill/>
        </p:spPr>
        <p:txBody>
          <a:bodyPr wrap="none">
            <a:spAutoFit/>
          </a:bodyPr>
          <a:lstStyle/>
          <a:p>
            <a:pPr algn="ctr">
              <a:defRPr sz="1100" b="1">
                <a:solidFill>
                  <a:srgbClr val="FFFFFF"/>
                </a:solidFill>
                <a:latin typeface="Calibri"/>
              </a:defRPr>
            </a:pPr>
            <a:r>
              <a:t>Domain shift</a:t>
            </a:r>
          </a:p>
        </p:txBody>
      </p:sp>
      <p:sp>
        <p:nvSpPr>
          <p:cNvPr id="13" name="TextBox 12"/>
          <p:cNvSpPr txBox="1"/>
          <p:nvPr/>
        </p:nvSpPr>
        <p:spPr>
          <a:xfrm>
            <a:off x="7342632" y="1157731"/>
            <a:ext cx="3538728" cy="1945640"/>
          </a:xfrm>
          <a:prstGeom prst="rect">
            <a:avLst/>
          </a:prstGeom>
          <a:noFill/>
        </p:spPr>
        <p:txBody>
          <a:bodyPr wrap="square">
            <a:spAutoFit/>
          </a:bodyPr>
          <a:lstStyle/>
          <a:p>
            <a:pPr>
              <a:lnSpc>
                <a:spcPct val="130000"/>
              </a:lnSpc>
              <a:defRPr sz="1400">
                <a:solidFill>
                  <a:srgbClr val="1E293B"/>
                </a:solidFill>
                <a:latin typeface="Calibri"/>
              </a:defRPr>
            </a:pPr>
            <a:r>
              <a:t>Performance degradation when a model encounters data from a different distribution than its training set.</a:t>
            </a:r>
          </a:p>
        </p:txBody>
      </p:sp>
      <p:sp>
        <p:nvSpPr>
          <p:cNvPr id="14" name="Rounded Rectangle 13"/>
          <p:cNvSpPr/>
          <p:nvPr/>
        </p:nvSpPr>
        <p:spPr>
          <a:xfrm>
            <a:off x="54864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3247389"/>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265677"/>
            <a:ext cx="1645920" cy="292608"/>
          </a:xfrm>
          <a:prstGeom prst="rect">
            <a:avLst/>
          </a:prstGeom>
          <a:noFill/>
        </p:spPr>
        <p:txBody>
          <a:bodyPr wrap="none">
            <a:spAutoFit/>
          </a:bodyPr>
          <a:lstStyle/>
          <a:p>
            <a:pPr algn="ctr">
              <a:defRPr sz="1100" b="1">
                <a:solidFill>
                  <a:srgbClr val="FFFFFF"/>
                </a:solidFill>
                <a:latin typeface="Calibri"/>
              </a:defRPr>
            </a:pPr>
            <a:r>
              <a:t>Stochastic optimization</a:t>
            </a:r>
          </a:p>
        </p:txBody>
      </p:sp>
      <p:sp>
        <p:nvSpPr>
          <p:cNvPr id="17" name="TextBox 16"/>
          <p:cNvSpPr txBox="1"/>
          <p:nvPr/>
        </p:nvSpPr>
        <p:spPr>
          <a:xfrm>
            <a:off x="2331720" y="3219958"/>
            <a:ext cx="3154680" cy="1705610"/>
          </a:xfrm>
          <a:prstGeom prst="rect">
            <a:avLst/>
          </a:prstGeom>
          <a:noFill/>
        </p:spPr>
        <p:txBody>
          <a:bodyPr wrap="square">
            <a:spAutoFit/>
          </a:bodyPr>
          <a:lstStyle/>
          <a:p>
            <a:pPr>
              <a:lnSpc>
                <a:spcPct val="130000"/>
              </a:lnSpc>
              <a:defRPr sz="1400">
                <a:solidFill>
                  <a:srgbClr val="1E293B"/>
                </a:solidFill>
                <a:latin typeface="Calibri"/>
              </a:defRPr>
            </a:pPr>
            <a:r>
              <a:t>Optimization methods that use randomness, such as stochastic gradient descent, to update model weights.</a:t>
            </a:r>
          </a:p>
        </p:txBody>
      </p:sp>
      <p:sp>
        <p:nvSpPr>
          <p:cNvPr id="18" name="Rounded Rectangle 17"/>
          <p:cNvSpPr/>
          <p:nvPr/>
        </p:nvSpPr>
        <p:spPr>
          <a:xfrm>
            <a:off x="5943600" y="3350260"/>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3487420"/>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505708"/>
            <a:ext cx="1645920" cy="292608"/>
          </a:xfrm>
          <a:prstGeom prst="rect">
            <a:avLst/>
          </a:prstGeom>
          <a:noFill/>
        </p:spPr>
        <p:txBody>
          <a:bodyPr wrap="none">
            <a:spAutoFit/>
          </a:bodyPr>
          <a:lstStyle/>
          <a:p>
            <a:pPr algn="ctr">
              <a:defRPr sz="1100" b="1">
                <a:solidFill>
                  <a:srgbClr val="FFFFFF"/>
                </a:solidFill>
                <a:latin typeface="Calibri"/>
              </a:defRPr>
            </a:pPr>
            <a:r>
              <a:t>Stratified sampling</a:t>
            </a:r>
          </a:p>
        </p:txBody>
      </p:sp>
      <p:sp>
        <p:nvSpPr>
          <p:cNvPr id="21" name="TextBox 20"/>
          <p:cNvSpPr txBox="1"/>
          <p:nvPr/>
        </p:nvSpPr>
        <p:spPr>
          <a:xfrm>
            <a:off x="7726680" y="3459988"/>
            <a:ext cx="3154680" cy="1945640"/>
          </a:xfrm>
          <a:prstGeom prst="rect">
            <a:avLst/>
          </a:prstGeom>
          <a:noFill/>
        </p:spPr>
        <p:txBody>
          <a:bodyPr wrap="square">
            <a:spAutoFit/>
          </a:bodyPr>
          <a:lstStyle/>
          <a:p>
            <a:pPr>
              <a:lnSpc>
                <a:spcPct val="130000"/>
              </a:lnSpc>
              <a:defRPr sz="1400">
                <a:solidFill>
                  <a:srgbClr val="1E293B"/>
                </a:solidFill>
                <a:latin typeface="Calibri"/>
              </a:defRPr>
            </a:pPr>
            <a:r>
              <a:t>A sampling technique that ensures each subgroup or class is proportionally represented in the training data.</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89</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835121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34440" y="2651760"/>
            <a:ext cx="1280160" cy="1280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926080"/>
            <a:ext cx="914400" cy="731520"/>
          </a:xfrm>
          <a:prstGeom prst="rect">
            <a:avLst/>
          </a:prstGeom>
          <a:noFill/>
        </p:spPr>
        <p:txBody>
          <a:bodyPr wrap="none">
            <a:spAutoFit/>
          </a:bodyPr>
          <a:lstStyle/>
          <a:p>
            <a:pPr algn="ctr">
              <a:defRPr sz="4400">
                <a:solidFill>
                  <a:srgbClr val="FFFFFF"/>
                </a:solidFill>
                <a:latin typeface="Calibri"/>
              </a:defRPr>
            </a:pPr>
            <a:r>
              <a:t>§</a:t>
            </a:r>
          </a:p>
        </p:txBody>
      </p:sp>
      <p:sp>
        <p:nvSpPr>
          <p:cNvPr id="6" name="TextBox 5"/>
          <p:cNvSpPr txBox="1"/>
          <p:nvPr/>
        </p:nvSpPr>
        <p:spPr>
          <a:xfrm>
            <a:off x="4389120" y="2468880"/>
            <a:ext cx="7772400" cy="1478280"/>
          </a:xfrm>
          <a:prstGeom prst="rect">
            <a:avLst/>
          </a:prstGeom>
          <a:noFill/>
        </p:spPr>
        <p:txBody>
          <a:bodyPr wrap="square">
            <a:spAutoFit/>
          </a:bodyPr>
          <a:lstStyle/>
          <a:p>
            <a:pPr>
              <a:defRPr sz="4400" b="1">
                <a:solidFill>
                  <a:srgbClr val="1E293B"/>
                </a:solidFill>
                <a:latin typeface="Calibri"/>
              </a:defRPr>
            </a:pPr>
            <a:r>
              <a:t>Hierarchical attention-based GNNs</a:t>
            </a:r>
          </a:p>
        </p:txBody>
      </p:sp>
      <p:sp>
        <p:nvSpPr>
          <p:cNvPr id="7" name="Rectangle 6"/>
          <p:cNvSpPr/>
          <p:nvPr/>
        </p:nvSpPr>
        <p:spPr>
          <a:xfrm>
            <a:off x="4389120" y="3992880"/>
            <a:ext cx="128016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4102608"/>
            <a:ext cx="7772400" cy="457200"/>
          </a:xfrm>
          <a:prstGeom prst="rect">
            <a:avLst/>
          </a:prstGeom>
          <a:noFill/>
        </p:spPr>
        <p:txBody>
          <a:bodyPr wrap="none">
            <a:spAutoFit/>
          </a:bodyPr>
          <a:lstStyle/>
          <a:p>
            <a:pPr>
              <a:defRPr sz="2400">
                <a:solidFill>
                  <a:srgbClr val="64748B"/>
                </a:solidFill>
                <a:latin typeface="Calibri"/>
              </a:defRPr>
            </a:pPr>
            <a:r>
              <a:t>Advanced Architectural Optimization and Evaluation</a:t>
            </a:r>
          </a:p>
        </p:txBody>
      </p:sp>
      <p:sp>
        <p:nvSpPr>
          <p:cNvPr id="9" name="Rectangle 8"/>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1" name="TextBox 10"/>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90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Hierarchical attention-based GNNs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2491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To overcome the limitations of existing graph models that</a:t>
            </a:r>
          </a:p>
          <a:p>
            <a:pPr>
              <a:lnSpc>
                <a:spcPct val="135000"/>
              </a:lnSpc>
              <a:spcAft>
                <a:spcPts val="1000"/>
              </a:spcAft>
              <a:defRPr sz="1600">
                <a:solidFill>
                  <a:srgbClr val="1E293B"/>
                </a:solidFill>
                <a:latin typeface="Calibri"/>
              </a:defRPr>
            </a:pPr>
            <a:r>
              <a:rPr>
                <a:solidFill>
                  <a:srgbClr val="3B82F6"/>
                </a:solidFill>
              </a:rPr>
              <a:t>• struggle with complex propagation patterns, we implement</a:t>
            </a:r>
          </a:p>
          <a:p>
            <a:pPr>
              <a:lnSpc>
                <a:spcPct val="135000"/>
              </a:lnSpc>
              <a:spcAft>
                <a:spcPts val="1000"/>
              </a:spcAft>
              <a:defRPr sz="1600">
                <a:solidFill>
                  <a:srgbClr val="1E293B"/>
                </a:solidFill>
                <a:latin typeface="Calibri"/>
              </a:defRPr>
            </a:pPr>
            <a:r>
              <a:rPr>
                <a:solidFill>
                  <a:srgbClr val="3B82F6"/>
                </a:solidFill>
              </a:rPr>
              <a:t>• hierarchical, attention-based Graph Neural Networks (GNNs).</a:t>
            </a:r>
          </a:p>
          <a:p>
            <a:pPr>
              <a:lnSpc>
                <a:spcPct val="135000"/>
              </a:lnSpc>
              <a:spcAft>
                <a:spcPts val="1000"/>
              </a:spcAft>
              <a:defRPr sz="1600">
                <a:solidFill>
                  <a:srgbClr val="1E293B"/>
                </a:solidFill>
                <a:latin typeface="Calibri"/>
              </a:defRPr>
            </a:pPr>
            <a:r>
              <a:rPr>
                <a:solidFill>
                  <a:srgbClr val="3B82F6"/>
                </a:solidFill>
              </a:rPr>
              <a:t>• This approach utilizes an encoder-decoder Transformer structure</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91</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Hierarchical attention-based GNNs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to aggregate structural representations from social networks.</a:t>
            </a:r>
          </a:p>
          <a:p>
            <a:pPr>
              <a:lnSpc>
                <a:spcPct val="135000"/>
              </a:lnSpc>
              <a:spcAft>
                <a:spcPts val="1000"/>
              </a:spcAft>
              <a:defRPr sz="1600">
                <a:solidFill>
                  <a:srgbClr val="1E293B"/>
                </a:solidFill>
                <a:latin typeface="Calibri"/>
              </a:defRPr>
            </a:pPr>
            <a:r>
              <a:rPr>
                <a:solidFill>
                  <a:srgbClr val="3B82F6"/>
                </a:solidFill>
              </a:rPr>
              <a:t>• Unlike flat graph models, this hierarchical design allows the</a:t>
            </a:r>
          </a:p>
          <a:p>
            <a:pPr>
              <a:lnSpc>
                <a:spcPct val="135000"/>
              </a:lnSpc>
              <a:spcAft>
                <a:spcPts val="1000"/>
              </a:spcAft>
              <a:defRPr sz="1600">
                <a:solidFill>
                  <a:srgbClr val="1E293B"/>
                </a:solidFill>
                <a:latin typeface="Calibri"/>
              </a:defRPr>
            </a:pPr>
            <a:r>
              <a:rPr>
                <a:solidFill>
                  <a:srgbClr val="3B82F6"/>
                </a:solidFill>
              </a:rPr>
              <a:t>• system to model local multi-modal semantics alongside global</a:t>
            </a:r>
          </a:p>
          <a:p>
            <a:pPr>
              <a:lnSpc>
                <a:spcPct val="135000"/>
              </a:lnSpc>
              <a:spcAft>
                <a:spcPts val="1000"/>
              </a:spcAft>
              <a:defRPr sz="1600">
                <a:solidFill>
                  <a:srgbClr val="1E293B"/>
                </a:solidFill>
                <a:latin typeface="Calibri"/>
              </a:defRPr>
            </a:pPr>
            <a:r>
              <a:rPr>
                <a:solidFill>
                  <a:srgbClr val="3B82F6"/>
                </a:solidFill>
              </a:rPr>
              <a:t>• structural representations.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92</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Hierarchical attention-based GNNs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By employing a Random Walk with Restart (RWR) strategy, the model</a:t>
            </a:r>
          </a:p>
          <a:p>
            <a:pPr>
              <a:lnSpc>
                <a:spcPct val="135000"/>
              </a:lnSpc>
              <a:spcAft>
                <a:spcPts val="1000"/>
              </a:spcAft>
              <a:defRPr sz="1600">
                <a:solidFill>
                  <a:srgbClr val="1E293B"/>
                </a:solidFill>
                <a:latin typeface="Calibri"/>
              </a:defRPr>
            </a:pPr>
            <a:r>
              <a:rPr>
                <a:solidFill>
                  <a:srgbClr val="3B82F6"/>
                </a:solidFill>
              </a:rPr>
              <a:t>• effectively samples neighbors to determine the order of</a:t>
            </a:r>
          </a:p>
          <a:p>
            <a:pPr>
              <a:lnSpc>
                <a:spcPct val="135000"/>
              </a:lnSpc>
              <a:spcAft>
                <a:spcPts val="1000"/>
              </a:spcAft>
              <a:defRPr sz="1600">
                <a:solidFill>
                  <a:srgbClr val="1E293B"/>
                </a:solidFill>
                <a:latin typeface="Calibri"/>
              </a:defRPr>
            </a:pPr>
            <a:r>
              <a:rPr>
                <a:solidFill>
                  <a:srgbClr val="3B82F6"/>
                </a:solidFill>
              </a:rPr>
              <a:t>• information flow, ensuring that the most relevant structural</a:t>
            </a:r>
          </a:p>
          <a:p>
            <a:pPr>
              <a:lnSpc>
                <a:spcPct val="135000"/>
              </a:lnSpc>
              <a:spcAft>
                <a:spcPts val="1000"/>
              </a:spcAft>
              <a:defRPr sz="1600">
                <a:solidFill>
                  <a:srgbClr val="1E293B"/>
                </a:solidFill>
                <a:latin typeface="Calibri"/>
              </a:defRPr>
            </a:pPr>
            <a:r>
              <a:rPr>
                <a:solidFill>
                  <a:srgbClr val="3B82F6"/>
                </a:solidFill>
              </a:rPr>
              <a:t>• context is prioritized.</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93</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Hierarchical attention-based GNNs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This hierarchical attention mechanism enables the model to</a:t>
            </a:r>
          </a:p>
          <a:p>
            <a:pPr>
              <a:lnSpc>
                <a:spcPct val="135000"/>
              </a:lnSpc>
              <a:spcAft>
                <a:spcPts val="1000"/>
              </a:spcAft>
              <a:defRPr sz="1600">
                <a:solidFill>
                  <a:srgbClr val="1E293B"/>
                </a:solidFill>
                <a:latin typeface="Calibri"/>
              </a:defRPr>
            </a:pPr>
            <a:r>
              <a:rPr>
                <a:solidFill>
                  <a:srgbClr val="3B82F6"/>
                </a:solidFill>
              </a:rPr>
              <a:t>• distinguish between real and fake news by capturing the</a:t>
            </a:r>
          </a:p>
          <a:p>
            <a:pPr>
              <a:lnSpc>
                <a:spcPct val="135000"/>
              </a:lnSpc>
              <a:spcAft>
                <a:spcPts val="1000"/>
              </a:spcAft>
              <a:defRPr sz="1600">
                <a:solidFill>
                  <a:srgbClr val="1E293B"/>
                </a:solidFill>
                <a:latin typeface="Calibri"/>
              </a:defRPr>
            </a:pPr>
            <a:r>
              <a:rPr>
                <a:solidFill>
                  <a:srgbClr val="3B82F6"/>
                </a:solidFill>
              </a:rPr>
              <a:t>• propagation dynamics that are often lost in simpler graph</a:t>
            </a:r>
          </a:p>
          <a:p>
            <a:pPr>
              <a:lnSpc>
                <a:spcPct val="135000"/>
              </a:lnSpc>
              <a:spcAft>
                <a:spcPts val="1000"/>
              </a:spcAft>
              <a:defRPr sz="1600">
                <a:solidFill>
                  <a:srgbClr val="1E293B"/>
                </a:solidFill>
                <a:latin typeface="Calibri"/>
              </a:defRPr>
            </a:pPr>
            <a:r>
              <a:rPr>
                <a:solidFill>
                  <a:srgbClr val="3B82F6"/>
                </a:solidFill>
              </a:rPr>
              <a:t>• representations, effectively bridging the gap between</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94</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Hierarchical attention-based GNNs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content-based semantics and network-based structural features.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95</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Example: Hierarchical attention-based GNNs</a:t>
            </a:r>
          </a:p>
        </p:txBody>
      </p:sp>
      <p:sp>
        <p:nvSpPr>
          <p:cNvPr id="5" name="Rectangle 4"/>
          <p:cNvSpPr/>
          <p:nvPr/>
        </p:nvSpPr>
        <p:spPr>
          <a:xfrm>
            <a:off x="548640" y="1346200"/>
            <a:ext cx="9144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492504"/>
            <a:ext cx="10874959" cy="213842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92504"/>
            <a:ext cx="64008" cy="213842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2232"/>
            <a:ext cx="1828800" cy="228600"/>
          </a:xfrm>
          <a:prstGeom prst="rect">
            <a:avLst/>
          </a:prstGeom>
          <a:noFill/>
        </p:spPr>
        <p:txBody>
          <a:bodyPr wrap="none">
            <a:spAutoFit/>
          </a:bodyPr>
          <a:lstStyle/>
          <a:p>
            <a:pPr>
              <a:defRPr sz="1100" b="1">
                <a:solidFill>
                  <a:srgbClr val="F59E0B"/>
                </a:solidFill>
                <a:latin typeface="Calibri"/>
              </a:defRPr>
            </a:pPr>
            <a:r>
              <a:t>EXAMPLE</a:t>
            </a:r>
          </a:p>
        </p:txBody>
      </p:sp>
      <p:sp>
        <p:nvSpPr>
          <p:cNvPr id="9" name="TextBox 8"/>
          <p:cNvSpPr txBox="1"/>
          <p:nvPr/>
        </p:nvSpPr>
        <p:spPr>
          <a:xfrm>
            <a:off x="868680" y="1839976"/>
            <a:ext cx="10545775" cy="4572000"/>
          </a:xfrm>
          <a:prstGeom prst="rect">
            <a:avLst/>
          </a:prstGeom>
          <a:noFill/>
        </p:spPr>
        <p:txBody>
          <a:bodyPr wrap="square">
            <a:spAutoFit/>
          </a:bodyPr>
          <a:lstStyle/>
          <a:p>
            <a:pPr>
              <a:lnSpc>
                <a:spcPct val="135000"/>
              </a:lnSpc>
              <a:spcAft>
                <a:spcPts val="1000"/>
              </a:spcAft>
              <a:defRPr sz="1600" i="1">
                <a:solidFill>
                  <a:srgbClr val="1E293B"/>
                </a:solidFill>
                <a:latin typeface="Calibri"/>
              </a:defRPr>
            </a:pPr>
            <a:r>
              <a:t>The HetTransformer model utilizes this hierarchical structure to integrate multi-modal content semantics with global structural representations, which is a key advancement over previous models like HMGNN or GLAN that were constrained by rigid meta-path structures.</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96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240512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50876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508760" cy="292608"/>
          </a:xfrm>
          <a:prstGeom prst="rect">
            <a:avLst/>
          </a:prstGeom>
          <a:noFill/>
        </p:spPr>
        <p:txBody>
          <a:bodyPr wrap="none">
            <a:spAutoFit/>
          </a:bodyPr>
          <a:lstStyle/>
          <a:p>
            <a:pPr algn="ctr">
              <a:defRPr sz="1100" b="1">
                <a:solidFill>
                  <a:srgbClr val="FFFFFF"/>
                </a:solidFill>
                <a:latin typeface="Calibri"/>
              </a:defRPr>
            </a:pPr>
            <a:r>
              <a:t>Encoder-decoder</a:t>
            </a:r>
          </a:p>
        </p:txBody>
      </p:sp>
      <p:sp>
        <p:nvSpPr>
          <p:cNvPr id="9" name="TextBox 8"/>
          <p:cNvSpPr txBox="1"/>
          <p:nvPr/>
        </p:nvSpPr>
        <p:spPr>
          <a:xfrm>
            <a:off x="2194560" y="1157731"/>
            <a:ext cx="3291840" cy="2185669"/>
          </a:xfrm>
          <a:prstGeom prst="rect">
            <a:avLst/>
          </a:prstGeom>
          <a:noFill/>
        </p:spPr>
        <p:txBody>
          <a:bodyPr wrap="square">
            <a:spAutoFit/>
          </a:bodyPr>
          <a:lstStyle/>
          <a:p>
            <a:pPr>
              <a:lnSpc>
                <a:spcPct val="130000"/>
              </a:lnSpc>
              <a:defRPr sz="1400">
                <a:solidFill>
                  <a:srgbClr val="1E293B"/>
                </a:solidFill>
                <a:latin typeface="Calibri"/>
              </a:defRPr>
            </a:pPr>
            <a:r>
              <a:t>A neural network architecture with separate encoding and decoding components for processing and generating representations.</a:t>
            </a:r>
          </a:p>
        </p:txBody>
      </p:sp>
      <p:sp>
        <p:nvSpPr>
          <p:cNvPr id="10" name="Rounded Rectangle 9"/>
          <p:cNvSpPr/>
          <p:nvPr/>
        </p:nvSpPr>
        <p:spPr>
          <a:xfrm>
            <a:off x="5943600" y="1048004"/>
            <a:ext cx="5120640" cy="240512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203452"/>
            <a:ext cx="1645920" cy="292608"/>
          </a:xfrm>
          <a:prstGeom prst="rect">
            <a:avLst/>
          </a:prstGeom>
          <a:noFill/>
        </p:spPr>
        <p:txBody>
          <a:bodyPr wrap="none">
            <a:spAutoFit/>
          </a:bodyPr>
          <a:lstStyle/>
          <a:p>
            <a:pPr algn="ctr">
              <a:defRPr sz="1100" b="1">
                <a:solidFill>
                  <a:srgbClr val="FFFFFF"/>
                </a:solidFill>
                <a:latin typeface="Calibri"/>
              </a:defRPr>
            </a:pPr>
            <a:r>
              <a:t>Random Walk with Restart</a:t>
            </a:r>
          </a:p>
        </p:txBody>
      </p:sp>
      <p:sp>
        <p:nvSpPr>
          <p:cNvPr id="13" name="TextBox 12"/>
          <p:cNvSpPr txBox="1"/>
          <p:nvPr/>
        </p:nvSpPr>
        <p:spPr>
          <a:xfrm>
            <a:off x="7726680" y="1157731"/>
            <a:ext cx="3154680" cy="2185669"/>
          </a:xfrm>
          <a:prstGeom prst="rect">
            <a:avLst/>
          </a:prstGeom>
          <a:noFill/>
        </p:spPr>
        <p:txBody>
          <a:bodyPr wrap="square">
            <a:spAutoFit/>
          </a:bodyPr>
          <a:lstStyle/>
          <a:p>
            <a:pPr>
              <a:lnSpc>
                <a:spcPct val="130000"/>
              </a:lnSpc>
              <a:defRPr sz="1400">
                <a:solidFill>
                  <a:srgbClr val="1E293B"/>
                </a:solidFill>
                <a:latin typeface="Calibri"/>
              </a:defRPr>
            </a:pPr>
            <a:r>
              <a:t>A graph algorithm that measures node proximity by performing random walks with periodic returns to the source node.</a:t>
            </a:r>
          </a:p>
        </p:txBody>
      </p:sp>
      <p:sp>
        <p:nvSpPr>
          <p:cNvPr id="14" name="Rounded Rectangle 13"/>
          <p:cNvSpPr/>
          <p:nvPr/>
        </p:nvSpPr>
        <p:spPr>
          <a:xfrm>
            <a:off x="54864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3247389"/>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265677"/>
            <a:ext cx="1645920" cy="292608"/>
          </a:xfrm>
          <a:prstGeom prst="rect">
            <a:avLst/>
          </a:prstGeom>
          <a:noFill/>
        </p:spPr>
        <p:txBody>
          <a:bodyPr wrap="none">
            <a:spAutoFit/>
          </a:bodyPr>
          <a:lstStyle/>
          <a:p>
            <a:pPr algn="ctr">
              <a:defRPr sz="1100" b="1">
                <a:solidFill>
                  <a:srgbClr val="FFFFFF"/>
                </a:solidFill>
                <a:latin typeface="Calibri"/>
              </a:defRPr>
            </a:pPr>
            <a:r>
              <a:t>Propagation patterns</a:t>
            </a:r>
          </a:p>
        </p:txBody>
      </p:sp>
      <p:sp>
        <p:nvSpPr>
          <p:cNvPr id="17" name="TextBox 16"/>
          <p:cNvSpPr txBox="1"/>
          <p:nvPr/>
        </p:nvSpPr>
        <p:spPr>
          <a:xfrm>
            <a:off x="2331720" y="3219958"/>
            <a:ext cx="3154680" cy="1705610"/>
          </a:xfrm>
          <a:prstGeom prst="rect">
            <a:avLst/>
          </a:prstGeom>
          <a:noFill/>
        </p:spPr>
        <p:txBody>
          <a:bodyPr wrap="square">
            <a:spAutoFit/>
          </a:bodyPr>
          <a:lstStyle/>
          <a:p>
            <a:pPr>
              <a:lnSpc>
                <a:spcPct val="130000"/>
              </a:lnSpc>
              <a:defRPr sz="1400">
                <a:solidFill>
                  <a:srgbClr val="1E293B"/>
                </a:solidFill>
                <a:latin typeface="Calibri"/>
              </a:defRPr>
            </a:pPr>
            <a:r>
              <a:t>The characteristic ways in which information spreads through a network over time.</a:t>
            </a:r>
          </a:p>
        </p:txBody>
      </p:sp>
      <p:sp>
        <p:nvSpPr>
          <p:cNvPr id="18" name="Rounded Rectangle 17"/>
          <p:cNvSpPr/>
          <p:nvPr/>
        </p:nvSpPr>
        <p:spPr>
          <a:xfrm>
            <a:off x="5943600" y="2870200"/>
            <a:ext cx="5120640" cy="16850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3007360"/>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025648"/>
            <a:ext cx="1645920" cy="292608"/>
          </a:xfrm>
          <a:prstGeom prst="rect">
            <a:avLst/>
          </a:prstGeom>
          <a:noFill/>
        </p:spPr>
        <p:txBody>
          <a:bodyPr wrap="none">
            <a:spAutoFit/>
          </a:bodyPr>
          <a:lstStyle/>
          <a:p>
            <a:pPr algn="ctr">
              <a:defRPr sz="1100" b="1">
                <a:solidFill>
                  <a:srgbClr val="FFFFFF"/>
                </a:solidFill>
                <a:latin typeface="Calibri"/>
              </a:defRPr>
            </a:pPr>
            <a:r>
              <a:t>Structural representation</a:t>
            </a:r>
          </a:p>
        </p:txBody>
      </p:sp>
      <p:sp>
        <p:nvSpPr>
          <p:cNvPr id="21" name="TextBox 20"/>
          <p:cNvSpPr txBox="1"/>
          <p:nvPr/>
        </p:nvSpPr>
        <p:spPr>
          <a:xfrm>
            <a:off x="7726680" y="2979928"/>
            <a:ext cx="3154680" cy="1465580"/>
          </a:xfrm>
          <a:prstGeom prst="rect">
            <a:avLst/>
          </a:prstGeom>
          <a:noFill/>
        </p:spPr>
        <p:txBody>
          <a:bodyPr wrap="square">
            <a:spAutoFit/>
          </a:bodyPr>
          <a:lstStyle/>
          <a:p>
            <a:pPr>
              <a:lnSpc>
                <a:spcPct val="130000"/>
              </a:lnSpc>
              <a:defRPr sz="1400">
                <a:solidFill>
                  <a:srgbClr val="1E293B"/>
                </a:solidFill>
                <a:latin typeface="Calibri"/>
              </a:defRPr>
            </a:pPr>
            <a:r>
              <a:t>A mathematical encoding of the connectivity and topology of a graph.</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97</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835121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34440" y="2651760"/>
            <a:ext cx="1280160" cy="1280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926080"/>
            <a:ext cx="914400" cy="731520"/>
          </a:xfrm>
          <a:prstGeom prst="rect">
            <a:avLst/>
          </a:prstGeom>
          <a:noFill/>
        </p:spPr>
        <p:txBody>
          <a:bodyPr wrap="none">
            <a:spAutoFit/>
          </a:bodyPr>
          <a:lstStyle/>
          <a:p>
            <a:pPr algn="ctr">
              <a:defRPr sz="4400">
                <a:solidFill>
                  <a:srgbClr val="FFFFFF"/>
                </a:solidFill>
                <a:latin typeface="Calibri"/>
              </a:defRPr>
            </a:pPr>
            <a:r>
              <a:t>§</a:t>
            </a:r>
          </a:p>
        </p:txBody>
      </p:sp>
      <p:sp>
        <p:nvSpPr>
          <p:cNvPr id="6" name="TextBox 5"/>
          <p:cNvSpPr txBox="1"/>
          <p:nvPr/>
        </p:nvSpPr>
        <p:spPr>
          <a:xfrm>
            <a:off x="4389120" y="2468880"/>
            <a:ext cx="7772400" cy="1478280"/>
          </a:xfrm>
          <a:prstGeom prst="rect">
            <a:avLst/>
          </a:prstGeom>
          <a:noFill/>
        </p:spPr>
        <p:txBody>
          <a:bodyPr wrap="square">
            <a:spAutoFit/>
          </a:bodyPr>
          <a:lstStyle/>
          <a:p>
            <a:pPr>
              <a:defRPr sz="4400" b="1">
                <a:solidFill>
                  <a:srgbClr val="1E293B"/>
                </a:solidFill>
                <a:latin typeface="Calibri"/>
              </a:defRPr>
            </a:pPr>
            <a:r>
              <a:t>Type-specific transformation matrices</a:t>
            </a:r>
          </a:p>
        </p:txBody>
      </p:sp>
      <p:sp>
        <p:nvSpPr>
          <p:cNvPr id="7" name="Rectangle 6"/>
          <p:cNvSpPr/>
          <p:nvPr/>
        </p:nvSpPr>
        <p:spPr>
          <a:xfrm>
            <a:off x="4389120" y="3992880"/>
            <a:ext cx="128016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4102608"/>
            <a:ext cx="7772400" cy="457200"/>
          </a:xfrm>
          <a:prstGeom prst="rect">
            <a:avLst/>
          </a:prstGeom>
          <a:noFill/>
        </p:spPr>
        <p:txBody>
          <a:bodyPr wrap="none">
            <a:spAutoFit/>
          </a:bodyPr>
          <a:lstStyle/>
          <a:p>
            <a:pPr>
              <a:defRPr sz="2400">
                <a:solidFill>
                  <a:srgbClr val="64748B"/>
                </a:solidFill>
                <a:latin typeface="Calibri"/>
              </a:defRPr>
            </a:pPr>
            <a:r>
              <a:t>Advanced Architectural Optimization and Evaluation</a:t>
            </a:r>
          </a:p>
        </p:txBody>
      </p:sp>
      <p:sp>
        <p:nvSpPr>
          <p:cNvPr id="9" name="Rectangle 8"/>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1" name="TextBox 10"/>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98</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Type-specific transformation matrices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2491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A critical component in modeling heterogeneous social networks is</a:t>
            </a:r>
          </a:p>
          <a:p>
            <a:pPr>
              <a:lnSpc>
                <a:spcPct val="135000"/>
              </a:lnSpc>
              <a:spcAft>
                <a:spcPts val="1000"/>
              </a:spcAft>
              <a:defRPr sz="1600">
                <a:solidFill>
                  <a:srgbClr val="1E293B"/>
                </a:solidFill>
                <a:latin typeface="Calibri"/>
              </a:defRPr>
            </a:pPr>
            <a:r>
              <a:rPr>
                <a:solidFill>
                  <a:srgbClr val="3B82F6"/>
                </a:solidFill>
              </a:rPr>
              <a:t>• the use of type-specific transformation matrices, denoted as M φi</a:t>
            </a:r>
          </a:p>
          <a:p>
            <a:pPr>
              <a:lnSpc>
                <a:spcPct val="135000"/>
              </a:lnSpc>
              <a:spcAft>
                <a:spcPts val="1000"/>
              </a:spcAft>
              <a:defRPr sz="1600">
                <a:solidFill>
                  <a:srgbClr val="1E293B"/>
                </a:solidFill>
                <a:latin typeface="Calibri"/>
              </a:defRPr>
            </a:pPr>
            <a:r>
              <a:rPr>
                <a:solidFill>
                  <a:srgbClr val="3B82F6"/>
                </a:solidFill>
              </a:rPr>
              <a:t>• k.</a:t>
            </a:r>
          </a:p>
          <a:p>
            <a:pPr>
              <a:lnSpc>
                <a:spcPct val="135000"/>
              </a:lnSpc>
              <a:spcAft>
                <a:spcPts val="1000"/>
              </a:spcAft>
              <a:defRPr sz="1600">
                <a:solidFill>
                  <a:srgbClr val="1E293B"/>
                </a:solidFill>
                <a:latin typeface="Calibri"/>
              </a:defRPr>
            </a:pPr>
            <a:r>
              <a:rPr>
                <a:solidFill>
                  <a:srgbClr val="3B82F6"/>
                </a:solidFill>
              </a:rPr>
              <a:t>• Because social networks contain diverse node types (e.g., users,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99</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Type-specific transformation matrices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news articles, posts) and edge types, a uniform projection is</a:t>
            </a:r>
          </a:p>
          <a:p>
            <a:pPr>
              <a:lnSpc>
                <a:spcPct val="135000"/>
              </a:lnSpc>
              <a:spcAft>
                <a:spcPts val="1000"/>
              </a:spcAft>
              <a:defRPr sz="1600">
                <a:solidFill>
                  <a:srgbClr val="1E293B"/>
                </a:solidFill>
                <a:latin typeface="Calibri"/>
              </a:defRPr>
            </a:pPr>
            <a:r>
              <a:rPr>
                <a:solidFill>
                  <a:srgbClr val="3B82F6"/>
                </a:solidFill>
              </a:rPr>
              <a:t>• insufficient.</a:t>
            </a:r>
          </a:p>
          <a:p>
            <a:pPr>
              <a:lnSpc>
                <a:spcPct val="135000"/>
              </a:lnSpc>
              <a:spcAft>
                <a:spcPts val="1000"/>
              </a:spcAft>
              <a:defRPr sz="1600">
                <a:solidFill>
                  <a:srgbClr val="1E293B"/>
                </a:solidFill>
                <a:latin typeface="Calibri"/>
              </a:defRPr>
            </a:pPr>
            <a:r>
              <a:rPr>
                <a:solidFill>
                  <a:srgbClr val="3B82F6"/>
                </a:solidFill>
              </a:rPr>
              <a:t>• These matrices project the embedding of attribute type i from</a:t>
            </a:r>
          </a:p>
          <a:p>
            <a:pPr>
              <a:lnSpc>
                <a:spcPct val="135000"/>
              </a:lnSpc>
              <a:spcAft>
                <a:spcPts val="1000"/>
              </a:spcAft>
              <a:defRPr sz="1600">
                <a:solidFill>
                  <a:srgbClr val="1E293B"/>
                </a:solidFill>
                <a:latin typeface="Calibri"/>
              </a:defRPr>
            </a:pPr>
            <a:r>
              <a:rPr>
                <a:solidFill>
                  <a:srgbClr val="3B82F6"/>
                </a:solidFill>
              </a:rPr>
              <a:t>• node type k into a unified dimension size d.</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100</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Type-specific transformation matrices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This ensures that heterogeneous features—which may have different</a:t>
            </a:r>
          </a:p>
          <a:p>
            <a:pPr>
              <a:lnSpc>
                <a:spcPct val="135000"/>
              </a:lnSpc>
              <a:spcAft>
                <a:spcPts val="1000"/>
              </a:spcAft>
              <a:defRPr sz="1600">
                <a:solidFill>
                  <a:srgbClr val="1E293B"/>
                </a:solidFill>
                <a:latin typeface="Calibri"/>
              </a:defRPr>
            </a:pPr>
            <a:r>
              <a:rPr>
                <a:solidFill>
                  <a:srgbClr val="3B82F6"/>
                </a:solidFill>
              </a:rPr>
              <a:t>• initial dimensions—are mapped into a common latent space where</a:t>
            </a:r>
          </a:p>
          <a:p>
            <a:pPr>
              <a:lnSpc>
                <a:spcPct val="135000"/>
              </a:lnSpc>
              <a:spcAft>
                <a:spcPts val="1000"/>
              </a:spcAft>
              <a:defRPr sz="1600">
                <a:solidFill>
                  <a:srgbClr val="1E293B"/>
                </a:solidFill>
                <a:latin typeface="Calibri"/>
              </a:defRPr>
            </a:pPr>
            <a:r>
              <a:rPr>
                <a:solidFill>
                  <a:srgbClr val="3B82F6"/>
                </a:solidFill>
              </a:rPr>
              <a:t>• they can be compared and aggregated.</a:t>
            </a:r>
          </a:p>
          <a:p>
            <a:pPr>
              <a:lnSpc>
                <a:spcPct val="135000"/>
              </a:lnSpc>
              <a:spcAft>
                <a:spcPts val="1000"/>
              </a:spcAft>
              <a:defRPr sz="1600">
                <a:solidFill>
                  <a:srgbClr val="1E293B"/>
                </a:solidFill>
                <a:latin typeface="Calibri"/>
              </a:defRPr>
            </a:pPr>
            <a:r>
              <a:rPr>
                <a:solidFill>
                  <a:srgbClr val="3B82F6"/>
                </a:solidFill>
              </a:rPr>
              <a:t>• By applying these matrices, the model can effectively handle the</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101</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Type-specific transformation matrices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heterogeneity of nodes and edges, allowing the attention</a:t>
            </a:r>
          </a:p>
          <a:p>
            <a:pPr>
              <a:lnSpc>
                <a:spcPct val="135000"/>
              </a:lnSpc>
              <a:spcAft>
                <a:spcPts val="1000"/>
              </a:spcAft>
              <a:defRPr sz="1600">
                <a:solidFill>
                  <a:srgbClr val="1E293B"/>
                </a:solidFill>
                <a:latin typeface="Calibri"/>
              </a:defRPr>
            </a:pPr>
            <a:r>
              <a:rPr>
                <a:solidFill>
                  <a:srgbClr val="3B82F6"/>
                </a:solidFill>
              </a:rPr>
              <a:t>• mechanism to operate on a consistent feature space.</a:t>
            </a:r>
          </a:p>
          <a:p>
            <a:pPr>
              <a:lnSpc>
                <a:spcPct val="135000"/>
              </a:lnSpc>
              <a:spcAft>
                <a:spcPts val="1000"/>
              </a:spcAft>
              <a:defRPr sz="1600">
                <a:solidFill>
                  <a:srgbClr val="1E293B"/>
                </a:solidFill>
                <a:latin typeface="Calibri"/>
              </a:defRPr>
            </a:pPr>
            <a:r>
              <a:rPr>
                <a:solidFill>
                  <a:srgbClr val="3B82F6"/>
                </a:solidFill>
              </a:rPr>
              <a:t>• This is essential for the HetTransformer to maintain the</a:t>
            </a:r>
          </a:p>
          <a:p>
            <a:pPr>
              <a:lnSpc>
                <a:spcPct val="135000"/>
              </a:lnSpc>
              <a:spcAft>
                <a:spcPts val="1000"/>
              </a:spcAft>
              <a:defRPr sz="1600">
                <a:solidFill>
                  <a:srgbClr val="1E293B"/>
                </a:solidFill>
                <a:latin typeface="Calibri"/>
              </a:defRPr>
            </a:pPr>
            <a:r>
              <a:rPr>
                <a:solidFill>
                  <a:srgbClr val="3B82F6"/>
                </a:solidFill>
              </a:rPr>
              <a:t>• integrity of node-specific information while performing global</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102</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Type-specific transformation matrices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structural aggregation.</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103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Example: Type-specific transformation matrices</a:t>
            </a:r>
          </a:p>
        </p:txBody>
      </p:sp>
      <p:sp>
        <p:nvSpPr>
          <p:cNvPr id="5" name="Rectangle 4"/>
          <p:cNvSpPr/>
          <p:nvPr/>
        </p:nvSpPr>
        <p:spPr>
          <a:xfrm>
            <a:off x="548640" y="1346200"/>
            <a:ext cx="9144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492504"/>
            <a:ext cx="10874959" cy="186410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92504"/>
            <a:ext cx="64008" cy="1864105"/>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2232"/>
            <a:ext cx="1828800" cy="228600"/>
          </a:xfrm>
          <a:prstGeom prst="rect">
            <a:avLst/>
          </a:prstGeom>
          <a:noFill/>
        </p:spPr>
        <p:txBody>
          <a:bodyPr wrap="none">
            <a:spAutoFit/>
          </a:bodyPr>
          <a:lstStyle/>
          <a:p>
            <a:pPr>
              <a:defRPr sz="1100" b="1">
                <a:solidFill>
                  <a:srgbClr val="F59E0B"/>
                </a:solidFill>
                <a:latin typeface="Calibri"/>
              </a:defRPr>
            </a:pPr>
            <a:r>
              <a:t>EXAMPLE</a:t>
            </a:r>
          </a:p>
        </p:txBody>
      </p:sp>
      <p:sp>
        <p:nvSpPr>
          <p:cNvPr id="9" name="TextBox 8"/>
          <p:cNvSpPr txBox="1"/>
          <p:nvPr/>
        </p:nvSpPr>
        <p:spPr>
          <a:xfrm>
            <a:off x="868680" y="1839976"/>
            <a:ext cx="10545775" cy="4572000"/>
          </a:xfrm>
          <a:prstGeom prst="rect">
            <a:avLst/>
          </a:prstGeom>
          <a:noFill/>
        </p:spPr>
        <p:txBody>
          <a:bodyPr wrap="square">
            <a:spAutoFit/>
          </a:bodyPr>
          <a:lstStyle/>
          <a:p>
            <a:pPr>
              <a:lnSpc>
                <a:spcPct val="135000"/>
              </a:lnSpc>
              <a:spcAft>
                <a:spcPts val="1000"/>
              </a:spcAft>
              <a:defRPr sz="1600" i="1">
                <a:solidFill>
                  <a:srgbClr val="1E293B"/>
                </a:solidFill>
                <a:latin typeface="Calibri"/>
              </a:defRPr>
            </a:pPr>
            <a:r>
              <a:t>Implementation notes specify that the embedding size of attribute type i from node type k (dik) is projected to a unified dimension size d using these type-specific matrices, which is a foundational step in the HetTransformer architecture.</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104</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16850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645920" cy="292608"/>
          </a:xfrm>
          <a:prstGeom prst="rect">
            <a:avLst/>
          </a:prstGeom>
          <a:noFill/>
        </p:spPr>
        <p:txBody>
          <a:bodyPr wrap="none">
            <a:spAutoFit/>
          </a:bodyPr>
          <a:lstStyle/>
          <a:p>
            <a:pPr algn="ctr">
              <a:defRPr sz="1100" b="1">
                <a:solidFill>
                  <a:srgbClr val="FFFFFF"/>
                </a:solidFill>
                <a:latin typeface="Calibri"/>
              </a:defRPr>
            </a:pPr>
            <a:r>
              <a:t>Transformation matrices</a:t>
            </a:r>
          </a:p>
        </p:txBody>
      </p:sp>
      <p:sp>
        <p:nvSpPr>
          <p:cNvPr id="9" name="TextBox 8"/>
          <p:cNvSpPr txBox="1"/>
          <p:nvPr/>
        </p:nvSpPr>
        <p:spPr>
          <a:xfrm>
            <a:off x="2331720" y="1157731"/>
            <a:ext cx="3154680" cy="1465580"/>
          </a:xfrm>
          <a:prstGeom prst="rect">
            <a:avLst/>
          </a:prstGeom>
          <a:noFill/>
        </p:spPr>
        <p:txBody>
          <a:bodyPr wrap="square">
            <a:spAutoFit/>
          </a:bodyPr>
          <a:lstStyle/>
          <a:p>
            <a:pPr>
              <a:lnSpc>
                <a:spcPct val="130000"/>
              </a:lnSpc>
              <a:defRPr sz="1400">
                <a:solidFill>
                  <a:srgbClr val="1E293B"/>
                </a:solidFill>
                <a:latin typeface="Calibri"/>
              </a:defRPr>
            </a:pPr>
            <a:r>
              <a:t>Mathematical operators that map vectors from one space to another.</a:t>
            </a:r>
          </a:p>
        </p:txBody>
      </p:sp>
      <p:sp>
        <p:nvSpPr>
          <p:cNvPr id="10" name="Rounded Rectangle 9"/>
          <p:cNvSpPr/>
          <p:nvPr/>
        </p:nvSpPr>
        <p:spPr>
          <a:xfrm>
            <a:off x="5943600" y="1048004"/>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185164"/>
            <a:ext cx="1344168"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203452"/>
            <a:ext cx="1344168" cy="292608"/>
          </a:xfrm>
          <a:prstGeom prst="rect">
            <a:avLst/>
          </a:prstGeom>
          <a:noFill/>
        </p:spPr>
        <p:txBody>
          <a:bodyPr wrap="none">
            <a:spAutoFit/>
          </a:bodyPr>
          <a:lstStyle/>
          <a:p>
            <a:pPr algn="ctr">
              <a:defRPr sz="1100" b="1">
                <a:solidFill>
                  <a:srgbClr val="FFFFFF"/>
                </a:solidFill>
                <a:latin typeface="Calibri"/>
              </a:defRPr>
            </a:pPr>
            <a:r>
              <a:t>Heterogeneity</a:t>
            </a:r>
          </a:p>
        </p:txBody>
      </p:sp>
      <p:sp>
        <p:nvSpPr>
          <p:cNvPr id="13" name="TextBox 12"/>
          <p:cNvSpPr txBox="1"/>
          <p:nvPr/>
        </p:nvSpPr>
        <p:spPr>
          <a:xfrm>
            <a:off x="7424928" y="1157731"/>
            <a:ext cx="3456432" cy="1705610"/>
          </a:xfrm>
          <a:prstGeom prst="rect">
            <a:avLst/>
          </a:prstGeom>
          <a:noFill/>
        </p:spPr>
        <p:txBody>
          <a:bodyPr wrap="square">
            <a:spAutoFit/>
          </a:bodyPr>
          <a:lstStyle/>
          <a:p>
            <a:pPr>
              <a:lnSpc>
                <a:spcPct val="130000"/>
              </a:lnSpc>
              <a:defRPr sz="1400">
                <a:solidFill>
                  <a:srgbClr val="1E293B"/>
                </a:solidFill>
                <a:latin typeface="Calibri"/>
              </a:defRPr>
            </a:pPr>
            <a:r>
              <a:t>The presence of multiple distinct types or classes within a dataset or graph.</a:t>
            </a:r>
          </a:p>
        </p:txBody>
      </p:sp>
      <p:sp>
        <p:nvSpPr>
          <p:cNvPr id="14" name="Rounded Rectangle 13"/>
          <p:cNvSpPr/>
          <p:nvPr/>
        </p:nvSpPr>
        <p:spPr>
          <a:xfrm>
            <a:off x="548640" y="3110229"/>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3247389"/>
            <a:ext cx="1261872"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265677"/>
            <a:ext cx="1261872" cy="292608"/>
          </a:xfrm>
          <a:prstGeom prst="rect">
            <a:avLst/>
          </a:prstGeom>
          <a:noFill/>
        </p:spPr>
        <p:txBody>
          <a:bodyPr wrap="none">
            <a:spAutoFit/>
          </a:bodyPr>
          <a:lstStyle/>
          <a:p>
            <a:pPr algn="ctr">
              <a:defRPr sz="1100" b="1">
                <a:solidFill>
                  <a:srgbClr val="FFFFFF"/>
                </a:solidFill>
                <a:latin typeface="Calibri"/>
              </a:defRPr>
            </a:pPr>
            <a:r>
              <a:t>Latent space</a:t>
            </a:r>
          </a:p>
        </p:txBody>
      </p:sp>
      <p:sp>
        <p:nvSpPr>
          <p:cNvPr id="17" name="TextBox 16"/>
          <p:cNvSpPr txBox="1"/>
          <p:nvPr/>
        </p:nvSpPr>
        <p:spPr>
          <a:xfrm>
            <a:off x="1947672" y="3219958"/>
            <a:ext cx="3538728" cy="1705610"/>
          </a:xfrm>
          <a:prstGeom prst="rect">
            <a:avLst/>
          </a:prstGeom>
          <a:noFill/>
        </p:spPr>
        <p:txBody>
          <a:bodyPr wrap="square">
            <a:spAutoFit/>
          </a:bodyPr>
          <a:lstStyle/>
          <a:p>
            <a:pPr>
              <a:lnSpc>
                <a:spcPct val="130000"/>
              </a:lnSpc>
              <a:defRPr sz="1400">
                <a:solidFill>
                  <a:srgbClr val="1E293B"/>
                </a:solidFill>
                <a:latin typeface="Calibri"/>
              </a:defRPr>
            </a:pPr>
            <a:r>
              <a:t>A compressed, learned representation space where similar items are positioned closer together.</a:t>
            </a:r>
          </a:p>
        </p:txBody>
      </p:sp>
      <p:sp>
        <p:nvSpPr>
          <p:cNvPr id="18" name="Rounded Rectangle 17"/>
          <p:cNvSpPr/>
          <p:nvPr/>
        </p:nvSpPr>
        <p:spPr>
          <a:xfrm>
            <a:off x="5943600" y="3350260"/>
            <a:ext cx="5120640" cy="216509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3487420"/>
            <a:ext cx="1645920"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505708"/>
            <a:ext cx="1645920" cy="292608"/>
          </a:xfrm>
          <a:prstGeom prst="rect">
            <a:avLst/>
          </a:prstGeom>
          <a:noFill/>
        </p:spPr>
        <p:txBody>
          <a:bodyPr wrap="none">
            <a:spAutoFit/>
          </a:bodyPr>
          <a:lstStyle/>
          <a:p>
            <a:pPr algn="ctr">
              <a:defRPr sz="1100" b="1">
                <a:solidFill>
                  <a:srgbClr val="FFFFFF"/>
                </a:solidFill>
                <a:latin typeface="Calibri"/>
              </a:defRPr>
            </a:pPr>
            <a:r>
              <a:t>Feature projection</a:t>
            </a:r>
          </a:p>
        </p:txBody>
      </p:sp>
      <p:sp>
        <p:nvSpPr>
          <p:cNvPr id="21" name="TextBox 20"/>
          <p:cNvSpPr txBox="1"/>
          <p:nvPr/>
        </p:nvSpPr>
        <p:spPr>
          <a:xfrm>
            <a:off x="7726680" y="3459988"/>
            <a:ext cx="3154680" cy="1945640"/>
          </a:xfrm>
          <a:prstGeom prst="rect">
            <a:avLst/>
          </a:prstGeom>
          <a:noFill/>
        </p:spPr>
        <p:txBody>
          <a:bodyPr wrap="square">
            <a:spAutoFit/>
          </a:bodyPr>
          <a:lstStyle/>
          <a:p>
            <a:pPr>
              <a:lnSpc>
                <a:spcPct val="130000"/>
              </a:lnSpc>
              <a:defRPr sz="1400">
                <a:solidFill>
                  <a:srgbClr val="1E293B"/>
                </a:solidFill>
                <a:latin typeface="Calibri"/>
              </a:defRPr>
            </a:pPr>
            <a:r>
              <a:t>The process of mapping features from their original space to a new, often lower-dimensional, space.</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105</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3840480"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3840480" y="0"/>
            <a:ext cx="835121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234440" y="2651760"/>
            <a:ext cx="1280160" cy="1280160"/>
          </a:xfrm>
          <a:prstGeom prst="ellipse">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463040" y="2926080"/>
            <a:ext cx="914400" cy="731520"/>
          </a:xfrm>
          <a:prstGeom prst="rect">
            <a:avLst/>
          </a:prstGeom>
          <a:noFill/>
        </p:spPr>
        <p:txBody>
          <a:bodyPr wrap="none">
            <a:spAutoFit/>
          </a:bodyPr>
          <a:lstStyle/>
          <a:p>
            <a:pPr algn="ctr">
              <a:defRPr sz="4400">
                <a:solidFill>
                  <a:srgbClr val="FFFFFF"/>
                </a:solidFill>
                <a:latin typeface="Calibri"/>
              </a:defRPr>
            </a:pPr>
            <a:r>
              <a:t>§</a:t>
            </a:r>
          </a:p>
        </p:txBody>
      </p:sp>
      <p:sp>
        <p:nvSpPr>
          <p:cNvPr id="6" name="TextBox 5"/>
          <p:cNvSpPr txBox="1"/>
          <p:nvPr/>
        </p:nvSpPr>
        <p:spPr>
          <a:xfrm>
            <a:off x="4389120" y="2468880"/>
            <a:ext cx="7772400" cy="1478280"/>
          </a:xfrm>
          <a:prstGeom prst="rect">
            <a:avLst/>
          </a:prstGeom>
          <a:noFill/>
        </p:spPr>
        <p:txBody>
          <a:bodyPr wrap="square">
            <a:spAutoFit/>
          </a:bodyPr>
          <a:lstStyle/>
          <a:p>
            <a:pPr>
              <a:defRPr sz="4400" b="1">
                <a:solidFill>
                  <a:srgbClr val="1E293B"/>
                </a:solidFill>
                <a:latin typeface="Calibri"/>
              </a:defRPr>
            </a:pPr>
            <a:r>
              <a:t>Performance metrics and experimental validation</a:t>
            </a:r>
          </a:p>
        </p:txBody>
      </p:sp>
      <p:sp>
        <p:nvSpPr>
          <p:cNvPr id="7" name="Rectangle 6"/>
          <p:cNvSpPr/>
          <p:nvPr/>
        </p:nvSpPr>
        <p:spPr>
          <a:xfrm>
            <a:off x="4389120" y="3992880"/>
            <a:ext cx="128016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389120" y="4102608"/>
            <a:ext cx="7772400" cy="457200"/>
          </a:xfrm>
          <a:prstGeom prst="rect">
            <a:avLst/>
          </a:prstGeom>
          <a:noFill/>
        </p:spPr>
        <p:txBody>
          <a:bodyPr wrap="none">
            <a:spAutoFit/>
          </a:bodyPr>
          <a:lstStyle/>
          <a:p>
            <a:pPr>
              <a:defRPr sz="2400">
                <a:solidFill>
                  <a:srgbClr val="64748B"/>
                </a:solidFill>
                <a:latin typeface="Calibri"/>
              </a:defRPr>
            </a:pPr>
            <a:r>
              <a:t>Advanced Architectural Optimization and Evaluation</a:t>
            </a:r>
          </a:p>
        </p:txBody>
      </p:sp>
      <p:sp>
        <p:nvSpPr>
          <p:cNvPr id="9" name="Rectangle 8"/>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1" name="TextBox 10"/>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106</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Performance metrics and experimental validation</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Rigorous evaluation is necessary to validate the effectiveness of</a:t>
            </a:r>
          </a:p>
          <a:p>
            <a:pPr>
              <a:lnSpc>
                <a:spcPct val="135000"/>
              </a:lnSpc>
              <a:spcAft>
                <a:spcPts val="1000"/>
              </a:spcAft>
              <a:defRPr sz="1600">
                <a:solidFill>
                  <a:srgbClr val="1E293B"/>
                </a:solidFill>
                <a:latin typeface="Calibri"/>
              </a:defRPr>
            </a:pPr>
            <a:r>
              <a:rPr>
                <a:solidFill>
                  <a:srgbClr val="3B82F6"/>
                </a:solidFill>
              </a:rPr>
              <a:t>• advanced architectures.</a:t>
            </a:r>
          </a:p>
          <a:p>
            <a:pPr>
              <a:lnSpc>
                <a:spcPct val="135000"/>
              </a:lnSpc>
              <a:spcAft>
                <a:spcPts val="1000"/>
              </a:spcAft>
              <a:defRPr sz="1600">
                <a:solidFill>
                  <a:srgbClr val="1E293B"/>
                </a:solidFill>
                <a:latin typeface="Calibri"/>
              </a:defRPr>
            </a:pPr>
            <a:r>
              <a:rPr>
                <a:solidFill>
                  <a:srgbClr val="3B82F6"/>
                </a:solidFill>
              </a:rPr>
              <a:t>• Beyond simple accuracy, we employ a suite of metrics including</a:t>
            </a:r>
          </a:p>
          <a:p>
            <a:pPr>
              <a:lnSpc>
                <a:spcPct val="135000"/>
              </a:lnSpc>
              <a:spcAft>
                <a:spcPts val="1000"/>
              </a:spcAft>
              <a:defRPr sz="1600">
                <a:solidFill>
                  <a:srgbClr val="1E293B"/>
                </a:solidFill>
                <a:latin typeface="Calibri"/>
              </a:defRPr>
            </a:pPr>
            <a:r>
              <a:rPr>
                <a:solidFill>
                  <a:srgbClr val="3B82F6"/>
                </a:solidFill>
              </a:rPr>
              <a:t>• Precision, Recall, and F1-score to account for class imbalances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107</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Performance metrics and experimental validation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common in fake news datasets.</a:t>
            </a:r>
          </a:p>
          <a:p>
            <a:pPr>
              <a:lnSpc>
                <a:spcPct val="135000"/>
              </a:lnSpc>
              <a:spcAft>
                <a:spcPts val="1000"/>
              </a:spcAft>
              <a:defRPr sz="1600">
                <a:solidFill>
                  <a:srgbClr val="1E293B"/>
                </a:solidFill>
                <a:latin typeface="Calibri"/>
              </a:defRPr>
            </a:pPr>
            <a:r>
              <a:rPr>
                <a:solidFill>
                  <a:srgbClr val="3B82F6"/>
                </a:solidFill>
              </a:rPr>
              <a:t>• To ensure statistical rigor, we utilize the Friedman test to</a:t>
            </a:r>
          </a:p>
          <a:p>
            <a:pPr>
              <a:lnSpc>
                <a:spcPct val="135000"/>
              </a:lnSpc>
              <a:spcAft>
                <a:spcPts val="1000"/>
              </a:spcAft>
              <a:defRPr sz="1600">
                <a:solidFill>
                  <a:srgbClr val="1E293B"/>
                </a:solidFill>
                <a:latin typeface="Calibri"/>
              </a:defRPr>
            </a:pPr>
            <a:r>
              <a:rPr>
                <a:solidFill>
                  <a:srgbClr val="3B82F6"/>
                </a:solidFill>
              </a:rPr>
              <a:t>• compare multiple models across heterogeneous datasets, followed</a:t>
            </a:r>
          </a:p>
          <a:p>
            <a:pPr>
              <a:lnSpc>
                <a:spcPct val="135000"/>
              </a:lnSpc>
              <a:spcAft>
                <a:spcPts val="1000"/>
              </a:spcAft>
              <a:defRPr sz="1600">
                <a:solidFill>
                  <a:srgbClr val="1E293B"/>
                </a:solidFill>
                <a:latin typeface="Calibri"/>
              </a:defRPr>
            </a:pPr>
            <a:r>
              <a:rPr>
                <a:solidFill>
                  <a:srgbClr val="3B82F6"/>
                </a:solidFill>
              </a:rPr>
              <a:t>• by post-hoc Nemenyi tests to identify significant performance</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108</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Performance metrics and experimental validation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differences.</a:t>
            </a:r>
          </a:p>
          <a:p>
            <a:pPr>
              <a:lnSpc>
                <a:spcPct val="135000"/>
              </a:lnSpc>
              <a:spcAft>
                <a:spcPts val="1000"/>
              </a:spcAft>
              <a:defRPr sz="1600">
                <a:solidFill>
                  <a:srgbClr val="1E293B"/>
                </a:solidFill>
                <a:latin typeface="Calibri"/>
              </a:defRPr>
            </a:pPr>
            <a:r>
              <a:rPr>
                <a:solidFill>
                  <a:srgbClr val="3B82F6"/>
                </a:solidFill>
              </a:rPr>
              <a:t>• This validation framework is crucial for assessing generalization</a:t>
            </a:r>
          </a:p>
          <a:p>
            <a:pPr>
              <a:lnSpc>
                <a:spcPct val="135000"/>
              </a:lnSpc>
              <a:spcAft>
                <a:spcPts val="1000"/>
              </a:spcAft>
              <a:defRPr sz="1600">
                <a:solidFill>
                  <a:srgbClr val="1E293B"/>
                </a:solidFill>
                <a:latin typeface="Calibri"/>
              </a:defRPr>
            </a:pPr>
            <a:r>
              <a:rPr>
                <a:solidFill>
                  <a:srgbClr val="3B82F6"/>
                </a:solidFill>
              </a:rPr>
              <a:t>• capabilities, particularly in cross-domain settings where models</a:t>
            </a:r>
          </a:p>
          <a:p>
            <a:pPr>
              <a:lnSpc>
                <a:spcPct val="135000"/>
              </a:lnSpc>
              <a:spcAft>
                <a:spcPts val="1000"/>
              </a:spcAft>
              <a:defRPr sz="1600">
                <a:solidFill>
                  <a:srgbClr val="1E293B"/>
                </a:solidFill>
                <a:latin typeface="Calibri"/>
              </a:defRPr>
            </a:pPr>
            <a:r>
              <a:rPr>
                <a:solidFill>
                  <a:srgbClr val="3B82F6"/>
                </a:solidFill>
              </a:rPr>
              <a:t>• are tested on datasets they were not trained on.</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109</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Performance metrics and experimental validation (continued)</a:t>
            </a:r>
          </a:p>
        </p:txBody>
      </p:sp>
      <p:sp>
        <p:nvSpPr>
          <p:cNvPr id="5" name="Rectangle 4"/>
          <p:cNvSpPr/>
          <p:nvPr/>
        </p:nvSpPr>
        <p:spPr>
          <a:xfrm>
            <a:off x="548640" y="13462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492504"/>
            <a:ext cx="11094415" cy="2143759"/>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6936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a:solidFill>
                  <a:srgbClr val="3B82F6"/>
                </a:solidFill>
              </a:rPr>
              <a:t>• By measuring metrics like the coefficient of variation and gate</a:t>
            </a:r>
          </a:p>
          <a:p>
            <a:pPr>
              <a:lnSpc>
                <a:spcPct val="135000"/>
              </a:lnSpc>
              <a:spcAft>
                <a:spcPts val="1000"/>
              </a:spcAft>
              <a:defRPr sz="1600">
                <a:solidFill>
                  <a:srgbClr val="1E293B"/>
                </a:solidFill>
                <a:latin typeface="Calibri"/>
              </a:defRPr>
            </a:pPr>
            <a:r>
              <a:rPr>
                <a:solidFill>
                  <a:srgbClr val="3B82F6"/>
                </a:solidFill>
              </a:rPr>
              <a:t>• entropy, we can quantify the stability and reliability of the</a:t>
            </a:r>
          </a:p>
          <a:p>
            <a:pPr>
              <a:lnSpc>
                <a:spcPct val="135000"/>
              </a:lnSpc>
              <a:spcAft>
                <a:spcPts val="1000"/>
              </a:spcAft>
              <a:defRPr sz="1600">
                <a:solidFill>
                  <a:srgbClr val="1E293B"/>
                </a:solidFill>
                <a:latin typeface="Calibri"/>
              </a:defRPr>
            </a:pPr>
            <a:r>
              <a:rPr>
                <a:solidFill>
                  <a:srgbClr val="3B82F6"/>
                </a:solidFill>
              </a:rPr>
              <a:t>• detection models, ensuring that the proposed architectural</a:t>
            </a:r>
          </a:p>
          <a:p>
            <a:pPr>
              <a:lnSpc>
                <a:spcPct val="135000"/>
              </a:lnSpc>
              <a:spcAft>
                <a:spcPts val="1000"/>
              </a:spcAft>
              <a:defRPr sz="1600">
                <a:solidFill>
                  <a:srgbClr val="1E293B"/>
                </a:solidFill>
                <a:latin typeface="Calibri"/>
              </a:defRPr>
            </a:pPr>
            <a:r>
              <a:rPr>
                <a:solidFill>
                  <a:srgbClr val="3B82F6"/>
                </a:solidFill>
              </a:rPr>
              <a:t>• improvements translate into real-world performance gains.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110</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1026160"/>
          </a:xfrm>
          <a:prstGeom prst="rect">
            <a:avLst/>
          </a:prstGeom>
          <a:noFill/>
        </p:spPr>
        <p:txBody>
          <a:bodyPr wrap="square">
            <a:spAutoFit/>
          </a:bodyPr>
          <a:lstStyle/>
          <a:p>
            <a:pPr>
              <a:defRPr sz="2800" b="1">
                <a:solidFill>
                  <a:srgbClr val="1E293B"/>
                </a:solidFill>
                <a:latin typeface="Calibri"/>
              </a:defRPr>
            </a:pPr>
            <a:r>
              <a:t>Example: Performance metrics and experimental validation</a:t>
            </a:r>
          </a:p>
        </p:txBody>
      </p:sp>
      <p:sp>
        <p:nvSpPr>
          <p:cNvPr id="5" name="Rectangle 4"/>
          <p:cNvSpPr/>
          <p:nvPr/>
        </p:nvSpPr>
        <p:spPr>
          <a:xfrm>
            <a:off x="548640" y="1346200"/>
            <a:ext cx="91440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58368" y="1492504"/>
            <a:ext cx="10874959" cy="1864105"/>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1492504"/>
            <a:ext cx="64008" cy="1864105"/>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602232"/>
            <a:ext cx="1828800" cy="228600"/>
          </a:xfrm>
          <a:prstGeom prst="rect">
            <a:avLst/>
          </a:prstGeom>
          <a:noFill/>
        </p:spPr>
        <p:txBody>
          <a:bodyPr wrap="none">
            <a:spAutoFit/>
          </a:bodyPr>
          <a:lstStyle/>
          <a:p>
            <a:pPr>
              <a:defRPr sz="1100" b="1">
                <a:solidFill>
                  <a:srgbClr val="F59E0B"/>
                </a:solidFill>
                <a:latin typeface="Calibri"/>
              </a:defRPr>
            </a:pPr>
            <a:r>
              <a:t>EXAMPLE</a:t>
            </a:r>
          </a:p>
        </p:txBody>
      </p:sp>
      <p:sp>
        <p:nvSpPr>
          <p:cNvPr id="9" name="TextBox 8"/>
          <p:cNvSpPr txBox="1"/>
          <p:nvPr/>
        </p:nvSpPr>
        <p:spPr>
          <a:xfrm>
            <a:off x="868680" y="1839976"/>
            <a:ext cx="10545775" cy="4572000"/>
          </a:xfrm>
          <a:prstGeom prst="rect">
            <a:avLst/>
          </a:prstGeom>
          <a:noFill/>
        </p:spPr>
        <p:txBody>
          <a:bodyPr wrap="square">
            <a:spAutoFit/>
          </a:bodyPr>
          <a:lstStyle/>
          <a:p>
            <a:pPr>
              <a:lnSpc>
                <a:spcPct val="135000"/>
              </a:lnSpc>
              <a:spcAft>
                <a:spcPts val="1000"/>
              </a:spcAft>
              <a:defRPr sz="1600" i="1">
                <a:solidFill>
                  <a:srgbClr val="1E293B"/>
                </a:solidFill>
                <a:latin typeface="Calibri"/>
              </a:defRPr>
            </a:pPr>
            <a:r>
              <a:t>The study confirms statistical significance via the Friedman Test (p &lt; 0.05) and post-hoc Nemenyi test, providing a robust empirical basis for claiming that models like MERMAID and HetTransformer outperform traditional approaches.</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111</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Key Terms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5120640" cy="192506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1344168"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1344168" cy="292608"/>
          </a:xfrm>
          <a:prstGeom prst="rect">
            <a:avLst/>
          </a:prstGeom>
          <a:noFill/>
        </p:spPr>
        <p:txBody>
          <a:bodyPr wrap="none">
            <a:spAutoFit/>
          </a:bodyPr>
          <a:lstStyle/>
          <a:p>
            <a:pPr algn="ctr">
              <a:defRPr sz="1100" b="1">
                <a:solidFill>
                  <a:srgbClr val="FFFFFF"/>
                </a:solidFill>
                <a:latin typeface="Calibri"/>
              </a:defRPr>
            </a:pPr>
            <a:r>
              <a:t>Friedman test</a:t>
            </a:r>
          </a:p>
        </p:txBody>
      </p:sp>
      <p:sp>
        <p:nvSpPr>
          <p:cNvPr id="9" name="TextBox 8"/>
          <p:cNvSpPr txBox="1"/>
          <p:nvPr/>
        </p:nvSpPr>
        <p:spPr>
          <a:xfrm>
            <a:off x="2029968" y="1157731"/>
            <a:ext cx="3456432" cy="1705610"/>
          </a:xfrm>
          <a:prstGeom prst="rect">
            <a:avLst/>
          </a:prstGeom>
          <a:noFill/>
        </p:spPr>
        <p:txBody>
          <a:bodyPr wrap="square">
            <a:spAutoFit/>
          </a:bodyPr>
          <a:lstStyle/>
          <a:p>
            <a:pPr>
              <a:lnSpc>
                <a:spcPct val="130000"/>
              </a:lnSpc>
              <a:defRPr sz="1400">
                <a:solidFill>
                  <a:srgbClr val="1E293B"/>
                </a:solidFill>
                <a:latin typeface="Calibri"/>
              </a:defRPr>
            </a:pPr>
            <a:r>
              <a:t>A non-parametric statistical test for comparing multiple algorithms across multiple datasets.</a:t>
            </a:r>
          </a:p>
        </p:txBody>
      </p:sp>
      <p:sp>
        <p:nvSpPr>
          <p:cNvPr id="10" name="Rounded Rectangle 9"/>
          <p:cNvSpPr/>
          <p:nvPr/>
        </p:nvSpPr>
        <p:spPr>
          <a:xfrm>
            <a:off x="5943600" y="1048004"/>
            <a:ext cx="5120640" cy="240512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035040" y="1185164"/>
            <a:ext cx="1261872"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35040" y="1203452"/>
            <a:ext cx="1261872" cy="292608"/>
          </a:xfrm>
          <a:prstGeom prst="rect">
            <a:avLst/>
          </a:prstGeom>
          <a:noFill/>
        </p:spPr>
        <p:txBody>
          <a:bodyPr wrap="none">
            <a:spAutoFit/>
          </a:bodyPr>
          <a:lstStyle/>
          <a:p>
            <a:pPr algn="ctr">
              <a:defRPr sz="1100" b="1">
                <a:solidFill>
                  <a:srgbClr val="FFFFFF"/>
                </a:solidFill>
                <a:latin typeface="Calibri"/>
              </a:defRPr>
            </a:pPr>
            <a:r>
              <a:t>Nemenyi test</a:t>
            </a:r>
          </a:p>
        </p:txBody>
      </p:sp>
      <p:sp>
        <p:nvSpPr>
          <p:cNvPr id="13" name="TextBox 12"/>
          <p:cNvSpPr txBox="1"/>
          <p:nvPr/>
        </p:nvSpPr>
        <p:spPr>
          <a:xfrm>
            <a:off x="7342632" y="1157731"/>
            <a:ext cx="3538728" cy="2185669"/>
          </a:xfrm>
          <a:prstGeom prst="rect">
            <a:avLst/>
          </a:prstGeom>
          <a:noFill/>
        </p:spPr>
        <p:txBody>
          <a:bodyPr wrap="square">
            <a:spAutoFit/>
          </a:bodyPr>
          <a:lstStyle/>
          <a:p>
            <a:pPr>
              <a:lnSpc>
                <a:spcPct val="130000"/>
              </a:lnSpc>
              <a:defRPr sz="1400">
                <a:solidFill>
                  <a:srgbClr val="1E293B"/>
                </a:solidFill>
                <a:latin typeface="Calibri"/>
              </a:defRPr>
            </a:pPr>
            <a:r>
              <a:t>A post-hoc statistical test used to determine which specific pairs of models differ significantly after a Friedman test.</a:t>
            </a:r>
          </a:p>
        </p:txBody>
      </p:sp>
      <p:sp>
        <p:nvSpPr>
          <p:cNvPr id="14" name="Rounded Rectangle 13"/>
          <p:cNvSpPr/>
          <p:nvPr/>
        </p:nvSpPr>
        <p:spPr>
          <a:xfrm>
            <a:off x="548640" y="2870200"/>
            <a:ext cx="5120640" cy="16850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3007360"/>
            <a:ext cx="932688"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025648"/>
            <a:ext cx="932688" cy="292608"/>
          </a:xfrm>
          <a:prstGeom prst="rect">
            <a:avLst/>
          </a:prstGeom>
          <a:noFill/>
        </p:spPr>
        <p:txBody>
          <a:bodyPr wrap="none">
            <a:spAutoFit/>
          </a:bodyPr>
          <a:lstStyle/>
          <a:p>
            <a:pPr algn="ctr">
              <a:defRPr sz="1100" b="1">
                <a:solidFill>
                  <a:srgbClr val="FFFFFF"/>
                </a:solidFill>
                <a:latin typeface="Calibri"/>
              </a:defRPr>
            </a:pPr>
            <a:r>
              <a:t>F1-score</a:t>
            </a:r>
          </a:p>
        </p:txBody>
      </p:sp>
      <p:sp>
        <p:nvSpPr>
          <p:cNvPr id="17" name="TextBox 16"/>
          <p:cNvSpPr txBox="1"/>
          <p:nvPr/>
        </p:nvSpPr>
        <p:spPr>
          <a:xfrm>
            <a:off x="1618488" y="2979928"/>
            <a:ext cx="3867912" cy="1465580"/>
          </a:xfrm>
          <a:prstGeom prst="rect">
            <a:avLst/>
          </a:prstGeom>
          <a:noFill/>
        </p:spPr>
        <p:txBody>
          <a:bodyPr wrap="square">
            <a:spAutoFit/>
          </a:bodyPr>
          <a:lstStyle/>
          <a:p>
            <a:pPr>
              <a:lnSpc>
                <a:spcPct val="130000"/>
              </a:lnSpc>
              <a:defRPr sz="1400">
                <a:solidFill>
                  <a:srgbClr val="1E293B"/>
                </a:solidFill>
                <a:latin typeface="Calibri"/>
              </a:defRPr>
            </a:pPr>
            <a:r>
              <a:t>The harmonic mean of precision and recall, balancing both metrics.</a:t>
            </a:r>
          </a:p>
        </p:txBody>
      </p:sp>
      <p:sp>
        <p:nvSpPr>
          <p:cNvPr id="18" name="Rounded Rectangle 17"/>
          <p:cNvSpPr/>
          <p:nvPr/>
        </p:nvSpPr>
        <p:spPr>
          <a:xfrm>
            <a:off x="5943600" y="2870200"/>
            <a:ext cx="5120640" cy="1685036"/>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035040" y="3007360"/>
            <a:ext cx="1426464" cy="329184"/>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025648"/>
            <a:ext cx="1426464" cy="292608"/>
          </a:xfrm>
          <a:prstGeom prst="rect">
            <a:avLst/>
          </a:prstGeom>
          <a:noFill/>
        </p:spPr>
        <p:txBody>
          <a:bodyPr wrap="none">
            <a:spAutoFit/>
          </a:bodyPr>
          <a:lstStyle/>
          <a:p>
            <a:pPr algn="ctr">
              <a:defRPr sz="1100" b="1">
                <a:solidFill>
                  <a:srgbClr val="FFFFFF"/>
                </a:solidFill>
                <a:latin typeface="Calibri"/>
              </a:defRPr>
            </a:pPr>
            <a:r>
              <a:t>Generalization</a:t>
            </a:r>
          </a:p>
        </p:txBody>
      </p:sp>
      <p:sp>
        <p:nvSpPr>
          <p:cNvPr id="21" name="TextBox 20"/>
          <p:cNvSpPr txBox="1"/>
          <p:nvPr/>
        </p:nvSpPr>
        <p:spPr>
          <a:xfrm>
            <a:off x="7507224" y="2979928"/>
            <a:ext cx="3374136" cy="1465580"/>
          </a:xfrm>
          <a:prstGeom prst="rect">
            <a:avLst/>
          </a:prstGeom>
          <a:noFill/>
        </p:spPr>
        <p:txBody>
          <a:bodyPr wrap="square">
            <a:spAutoFit/>
          </a:bodyPr>
          <a:lstStyle/>
          <a:p>
            <a:pPr>
              <a:lnSpc>
                <a:spcPct val="130000"/>
              </a:lnSpc>
              <a:defRPr sz="1400">
                <a:solidFill>
                  <a:srgbClr val="1E293B"/>
                </a:solidFill>
                <a:latin typeface="Calibri"/>
              </a:defRPr>
            </a:pPr>
            <a:r>
              <a:t>A model's ability to perform well on unseen data from different distributions.</a:t>
            </a: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112</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Lesson Summary</a:t>
            </a:r>
          </a:p>
        </p:txBody>
      </p:sp>
      <p:sp>
        <p:nvSpPr>
          <p:cNvPr id="5" name="Rectangle 4"/>
          <p:cNvSpPr/>
          <p:nvPr/>
        </p:nvSpPr>
        <p:spPr>
          <a:xfrm>
            <a:off x="548640" y="901700"/>
            <a:ext cx="1097280" cy="365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2889504"/>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249172"/>
            <a:ext cx="438912" cy="43891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276604"/>
            <a:ext cx="438912" cy="384048"/>
          </a:xfrm>
          <a:prstGeom prst="rect">
            <a:avLst/>
          </a:prstGeom>
          <a:noFill/>
        </p:spPr>
        <p:txBody>
          <a:bodyPr wrap="none">
            <a:spAutoFit/>
          </a:bodyPr>
          <a:lstStyle/>
          <a:p>
            <a:pPr algn="ctr">
              <a:defRPr sz="2200">
                <a:solidFill>
                  <a:srgbClr val="FFFFFF"/>
                </a:solidFill>
              </a:defRPr>
            </a:pPr>
            <a:r>
              <a:t>✓</a:t>
            </a:r>
          </a:p>
        </p:txBody>
      </p:sp>
      <p:sp>
        <p:nvSpPr>
          <p:cNvPr id="9" name="TextBox 8"/>
          <p:cNvSpPr txBox="1"/>
          <p:nvPr/>
        </p:nvSpPr>
        <p:spPr>
          <a:xfrm>
            <a:off x="1325880" y="1185164"/>
            <a:ext cx="10134295"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t>This lesson explored advanced architectural strategies for fake news detection, focusing on the integration of pre-trained models with hierarchical, attention-based GNNs.</a:t>
            </a:r>
          </a:p>
          <a:p>
            <a:pPr>
              <a:lnSpc>
                <a:spcPct val="135000"/>
              </a:lnSpc>
              <a:spcAft>
                <a:spcPts val="1000"/>
              </a:spcAft>
              <a:defRPr sz="1600">
                <a:solidFill>
                  <a:srgbClr val="1E293B"/>
                </a:solidFill>
                <a:latin typeface="Calibri"/>
              </a:defRPr>
            </a:pPr>
            <a:r>
              <a:t>We examined how type-specific transformation matrices enable the processing of heterogeneous social network data and how rigorous statistical validation, including the Friedman test, ensures that model performance is both accurate and generalizable across diverse domains.</a:t>
            </a:r>
          </a:p>
        </p:txBody>
      </p:sp>
      <p:sp>
        <p:nvSpPr>
          <p:cNvPr id="10" name="Rectangle 9"/>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2" name="TextBox 11"/>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113</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Check Your Understanding</a:t>
            </a:r>
          </a:p>
        </p:txBody>
      </p:sp>
      <p:sp>
        <p:nvSpPr>
          <p:cNvPr id="5" name="Rectangle 4"/>
          <p:cNvSpPr/>
          <p:nvPr/>
        </p:nvSpPr>
        <p:spPr>
          <a:xfrm>
            <a:off x="548640" y="901700"/>
            <a:ext cx="109728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2887471"/>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2491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b="1">
                <a:solidFill>
                  <a:srgbClr val="3B82F6"/>
                </a:solidFill>
              </a:rPr>
              <a:t>1. How does the use of stratified sampling during fine-tuning help address the domain shift problem identified in the benchmarking study?</a:t>
            </a:r>
          </a:p>
          <a:p>
            <a:pPr>
              <a:lnSpc>
                <a:spcPct val="135000"/>
              </a:lnSpc>
              <a:spcAft>
                <a:spcPts val="1000"/>
              </a:spcAft>
              <a:defRPr sz="1600">
                <a:solidFill>
                  <a:srgbClr val="1E293B"/>
                </a:solidFill>
                <a:latin typeface="Calibri"/>
              </a:defRPr>
            </a:pPr>
            <a:r>
              <a:rPr b="1">
                <a:solidFill>
                  <a:srgbClr val="3B82F6"/>
                </a:solidFill>
              </a:rPr>
              <a:t>2. Why is the Random Walk with Restart (RWR) strategy essential for the hierarchical attention mechanism in the HetTransformer model?</a:t>
            </a:r>
          </a:p>
          <a:p>
            <a:pPr>
              <a:lnSpc>
                <a:spcPct val="135000"/>
              </a:lnSpc>
              <a:spcAft>
                <a:spcPts val="1000"/>
              </a:spcAft>
              <a:defRPr sz="1600">
                <a:solidFill>
                  <a:srgbClr val="1E293B"/>
                </a:solidFill>
                <a:latin typeface="Calibri"/>
              </a:defRPr>
            </a:pPr>
            <a:r>
              <a:rPr b="1">
                <a:solidFill>
                  <a:srgbClr val="3B82F6"/>
                </a:solidFill>
              </a:rPr>
              <a:t>3. What is the primary purpose of using type-specific transformation matrices when dealing with heterogeneous node types?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114</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Check Your Understanding</a:t>
            </a:r>
          </a:p>
        </p:txBody>
      </p:sp>
      <p:sp>
        <p:nvSpPr>
          <p:cNvPr id="5" name="Rectangle 4"/>
          <p:cNvSpPr/>
          <p:nvPr/>
        </p:nvSpPr>
        <p:spPr>
          <a:xfrm>
            <a:off x="548640" y="901700"/>
            <a:ext cx="109728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1828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249172"/>
            <a:ext cx="10692079" cy="4572000"/>
          </a:xfrm>
          <a:prstGeom prst="rect">
            <a:avLst/>
          </a:prstGeom>
          <a:noFill/>
        </p:spPr>
        <p:txBody>
          <a:bodyPr wrap="square">
            <a:spAutoFit/>
          </a:bodyPr>
          <a:lstStyle/>
          <a:p>
            <a:pPr>
              <a:lnSpc>
                <a:spcPct val="135000"/>
              </a:lnSpc>
              <a:spcAft>
                <a:spcPts val="1000"/>
              </a:spcAft>
              <a:defRPr sz="1600">
                <a:solidFill>
                  <a:srgbClr val="1E293B"/>
                </a:solidFill>
                <a:latin typeface="Calibri"/>
              </a:defRPr>
            </a:pPr>
            <a:r>
              <a:rPr b="1">
                <a:solidFill>
                  <a:srgbClr val="3B82F6"/>
                </a:solidFill>
              </a:rPr>
              <a:t>1. Why is the Friedman test preferred over simple accuracy comparisons when evaluating multiple fake news detection models across diverse datasets?</a:t>
            </a:r>
          </a:p>
        </p:txBody>
      </p:sp>
      <p:sp>
        <p:nvSpPr>
          <p:cNvPr id="8" name="Rectangle 7"/>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0" name="TextBox 9"/>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115</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References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1329944"/>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320040" cy="32004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320040" cy="283464"/>
          </a:xfrm>
          <a:prstGeom prst="rect">
            <a:avLst/>
          </a:prstGeom>
          <a:noFill/>
        </p:spPr>
        <p:txBody>
          <a:bodyPr wrap="none">
            <a:spAutoFit/>
          </a:bodyPr>
          <a:lstStyle/>
          <a:p>
            <a:pPr algn="ctr">
              <a:defRPr sz="1200" b="1">
                <a:solidFill>
                  <a:srgbClr val="FFFFFF"/>
                </a:solidFill>
                <a:latin typeface="Calibri"/>
              </a:defRPr>
            </a:pPr>
            <a:r>
              <a:t>1</a:t>
            </a:r>
          </a:p>
        </p:txBody>
      </p:sp>
      <p:sp>
        <p:nvSpPr>
          <p:cNvPr id="9" name="TextBox 8"/>
          <p:cNvSpPr txBox="1"/>
          <p:nvPr/>
        </p:nvSpPr>
        <p:spPr>
          <a:xfrm>
            <a:off x="1051560" y="1139444"/>
            <a:ext cx="10454335" cy="2743200"/>
          </a:xfrm>
          <a:prstGeom prst="rect">
            <a:avLst/>
          </a:prstGeom>
          <a:noFill/>
        </p:spPr>
        <p:txBody>
          <a:bodyPr wrap="square">
            <a:spAutoFit/>
          </a:bodyPr>
          <a:lstStyle/>
          <a:p>
            <a:pPr>
              <a:lnSpc>
                <a:spcPct val="125000"/>
              </a:lnSpc>
              <a:defRPr sz="1600" b="1">
                <a:solidFill>
                  <a:srgbClr val="1E293B"/>
                </a:solidFill>
                <a:latin typeface="Calibri"/>
              </a:defRPr>
            </a:pPr>
            <a:r>
              <a:t>Fake News Detection with Heterogeneous Transformer</a:t>
            </a:r>
          </a:p>
          <a:p>
            <a:pPr>
              <a:lnSpc>
                <a:spcPct val="125000"/>
              </a:lnSpc>
              <a:defRPr sz="1400">
                <a:solidFill>
                  <a:srgbClr val="64748B"/>
                </a:solidFill>
                <a:latin typeface="Calibri"/>
              </a:defRPr>
            </a:pPr>
            <a:r>
              <a:t>Research Team</a:t>
            </a:r>
          </a:p>
          <a:p>
            <a:pPr>
              <a:lnSpc>
                <a:spcPct val="125000"/>
              </a:lnSpc>
              <a:defRPr sz="1400">
                <a:solidFill>
                  <a:srgbClr val="64748B"/>
                </a:solidFill>
                <a:latin typeface="Calibri"/>
              </a:defRPr>
            </a:pPr>
            <a:r>
              <a:t>(2024)</a:t>
            </a:r>
          </a:p>
        </p:txBody>
      </p:sp>
      <p:sp>
        <p:nvSpPr>
          <p:cNvPr id="10" name="Rounded Rectangle 9"/>
          <p:cNvSpPr/>
          <p:nvPr/>
        </p:nvSpPr>
        <p:spPr>
          <a:xfrm>
            <a:off x="548640" y="2487676"/>
            <a:ext cx="11094415" cy="1594104"/>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2624836"/>
            <a:ext cx="320040" cy="32004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643124"/>
            <a:ext cx="320040" cy="283464"/>
          </a:xfrm>
          <a:prstGeom prst="rect">
            <a:avLst/>
          </a:prstGeom>
          <a:noFill/>
        </p:spPr>
        <p:txBody>
          <a:bodyPr wrap="none">
            <a:spAutoFit/>
          </a:bodyPr>
          <a:lstStyle/>
          <a:p>
            <a:pPr algn="ctr">
              <a:defRPr sz="1200" b="1">
                <a:solidFill>
                  <a:srgbClr val="FFFFFF"/>
                </a:solidFill>
                <a:latin typeface="Calibri"/>
              </a:defRPr>
            </a:pPr>
            <a:r>
              <a:t>2</a:t>
            </a:r>
          </a:p>
        </p:txBody>
      </p:sp>
      <p:sp>
        <p:nvSpPr>
          <p:cNvPr id="13" name="TextBox 12"/>
          <p:cNvSpPr txBox="1"/>
          <p:nvPr/>
        </p:nvSpPr>
        <p:spPr>
          <a:xfrm>
            <a:off x="1051560" y="2579116"/>
            <a:ext cx="10454335" cy="2743200"/>
          </a:xfrm>
          <a:prstGeom prst="rect">
            <a:avLst/>
          </a:prstGeom>
          <a:noFill/>
        </p:spPr>
        <p:txBody>
          <a:bodyPr wrap="square">
            <a:spAutoFit/>
          </a:bodyPr>
          <a:lstStyle/>
          <a:p>
            <a:pPr>
              <a:lnSpc>
                <a:spcPct val="125000"/>
              </a:lnSpc>
              <a:defRPr sz="1600" b="1">
                <a:solidFill>
                  <a:srgbClr val="1E293B"/>
                </a:solidFill>
                <a:latin typeface="Calibri"/>
              </a:defRPr>
            </a:pPr>
            <a:r>
              <a:t>An Experimental Comparison of the Most Popular Approaches to Fake News Detection</a:t>
            </a:r>
          </a:p>
          <a:p>
            <a:pPr>
              <a:lnSpc>
                <a:spcPct val="125000"/>
              </a:lnSpc>
              <a:defRPr sz="1400">
                <a:solidFill>
                  <a:srgbClr val="64748B"/>
                </a:solidFill>
                <a:latin typeface="Calibri"/>
              </a:defRPr>
            </a:pPr>
            <a:r>
              <a:t>Various</a:t>
            </a:r>
          </a:p>
          <a:p>
            <a:pPr>
              <a:lnSpc>
                <a:spcPct val="125000"/>
              </a:lnSpc>
              <a:defRPr sz="1400">
                <a:solidFill>
                  <a:srgbClr val="64748B"/>
                </a:solidFill>
                <a:latin typeface="Calibri"/>
              </a:defRPr>
            </a:pPr>
            <a:r>
              <a:t>(2024)</a:t>
            </a:r>
          </a:p>
        </p:txBody>
      </p:sp>
      <p:sp>
        <p:nvSpPr>
          <p:cNvPr id="14" name="Rectangle 13"/>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6" name="TextBox 15"/>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144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320040"/>
            <a:ext cx="11094415" cy="581660"/>
          </a:xfrm>
          <a:prstGeom prst="rect">
            <a:avLst/>
          </a:prstGeom>
          <a:noFill/>
        </p:spPr>
        <p:txBody>
          <a:bodyPr wrap="square">
            <a:spAutoFit/>
          </a:bodyPr>
          <a:lstStyle/>
          <a:p>
            <a:pPr>
              <a:defRPr sz="2800" b="1">
                <a:solidFill>
                  <a:srgbClr val="1E293B"/>
                </a:solidFill>
                <a:latin typeface="Calibri"/>
              </a:defRPr>
            </a:pPr>
            <a:r>
              <a:t>References</a:t>
            </a:r>
          </a:p>
        </p:txBody>
      </p:sp>
      <p:sp>
        <p:nvSpPr>
          <p:cNvPr id="5" name="Rectangle 4"/>
          <p:cNvSpPr/>
          <p:nvPr/>
        </p:nvSpPr>
        <p:spPr>
          <a:xfrm>
            <a:off x="548640" y="901700"/>
            <a:ext cx="914400" cy="36576"/>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048004"/>
            <a:ext cx="11094415" cy="731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40080" y="1185164"/>
            <a:ext cx="320040" cy="32004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1203452"/>
            <a:ext cx="320040" cy="283464"/>
          </a:xfrm>
          <a:prstGeom prst="rect">
            <a:avLst/>
          </a:prstGeom>
          <a:noFill/>
        </p:spPr>
        <p:txBody>
          <a:bodyPr wrap="none">
            <a:spAutoFit/>
          </a:bodyPr>
          <a:lstStyle/>
          <a:p>
            <a:pPr algn="ctr">
              <a:defRPr sz="1200" b="1">
                <a:solidFill>
                  <a:srgbClr val="FFFFFF"/>
                </a:solidFill>
                <a:latin typeface="Calibri"/>
              </a:defRPr>
            </a:pPr>
            <a:r>
              <a:t>1</a:t>
            </a:r>
          </a:p>
        </p:txBody>
      </p:sp>
      <p:sp>
        <p:nvSpPr>
          <p:cNvPr id="9" name="TextBox 8"/>
          <p:cNvSpPr txBox="1"/>
          <p:nvPr/>
        </p:nvSpPr>
        <p:spPr>
          <a:xfrm>
            <a:off x="1051560" y="1139444"/>
            <a:ext cx="10454335" cy="2743200"/>
          </a:xfrm>
          <a:prstGeom prst="rect">
            <a:avLst/>
          </a:prstGeom>
          <a:noFill/>
        </p:spPr>
        <p:txBody>
          <a:bodyPr wrap="square">
            <a:spAutoFit/>
          </a:bodyPr>
          <a:lstStyle/>
          <a:p>
            <a:pPr>
              <a:lnSpc>
                <a:spcPct val="125000"/>
              </a:lnSpc>
              <a:defRPr sz="1600" b="1">
                <a:solidFill>
                  <a:srgbClr val="1E293B"/>
                </a:solidFill>
                <a:latin typeface="Calibri"/>
              </a:defRPr>
            </a:pPr>
          </a:p>
        </p:txBody>
      </p:sp>
      <p:sp>
        <p:nvSpPr>
          <p:cNvPr id="10" name="Rounded Rectangle 9"/>
          <p:cNvSpPr/>
          <p:nvPr/>
        </p:nvSpPr>
        <p:spPr>
          <a:xfrm>
            <a:off x="548640" y="1889252"/>
            <a:ext cx="11094415" cy="731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40080" y="2026412"/>
            <a:ext cx="320040" cy="32004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2044700"/>
            <a:ext cx="320040" cy="283464"/>
          </a:xfrm>
          <a:prstGeom prst="rect">
            <a:avLst/>
          </a:prstGeom>
          <a:noFill/>
        </p:spPr>
        <p:txBody>
          <a:bodyPr wrap="none">
            <a:spAutoFit/>
          </a:bodyPr>
          <a:lstStyle/>
          <a:p>
            <a:pPr algn="ctr">
              <a:defRPr sz="1200" b="1">
                <a:solidFill>
                  <a:srgbClr val="FFFFFF"/>
                </a:solidFill>
                <a:latin typeface="Calibri"/>
              </a:defRPr>
            </a:pPr>
            <a:r>
              <a:t>2</a:t>
            </a:r>
          </a:p>
        </p:txBody>
      </p:sp>
      <p:sp>
        <p:nvSpPr>
          <p:cNvPr id="13" name="TextBox 12"/>
          <p:cNvSpPr txBox="1"/>
          <p:nvPr/>
        </p:nvSpPr>
        <p:spPr>
          <a:xfrm>
            <a:off x="1051560" y="1980692"/>
            <a:ext cx="10454335" cy="2743200"/>
          </a:xfrm>
          <a:prstGeom prst="rect">
            <a:avLst/>
          </a:prstGeom>
          <a:noFill/>
        </p:spPr>
        <p:txBody>
          <a:bodyPr wrap="square">
            <a:spAutoFit/>
          </a:bodyPr>
          <a:lstStyle/>
          <a:p>
            <a:pPr>
              <a:lnSpc>
                <a:spcPct val="125000"/>
              </a:lnSpc>
              <a:defRPr sz="1600" b="1">
                <a:solidFill>
                  <a:srgbClr val="1E293B"/>
                </a:solidFill>
                <a:latin typeface="Calibri"/>
              </a:defRPr>
            </a:pPr>
          </a:p>
        </p:txBody>
      </p:sp>
      <p:sp>
        <p:nvSpPr>
          <p:cNvPr id="14" name="Rounded Rectangle 13"/>
          <p:cNvSpPr/>
          <p:nvPr/>
        </p:nvSpPr>
        <p:spPr>
          <a:xfrm>
            <a:off x="548640" y="2730500"/>
            <a:ext cx="11094415" cy="731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40080" y="2867660"/>
            <a:ext cx="320040" cy="32004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2885948"/>
            <a:ext cx="320040" cy="283464"/>
          </a:xfrm>
          <a:prstGeom prst="rect">
            <a:avLst/>
          </a:prstGeom>
          <a:noFill/>
        </p:spPr>
        <p:txBody>
          <a:bodyPr wrap="none">
            <a:spAutoFit/>
          </a:bodyPr>
          <a:lstStyle/>
          <a:p>
            <a:pPr algn="ctr">
              <a:defRPr sz="1200" b="1">
                <a:solidFill>
                  <a:srgbClr val="FFFFFF"/>
                </a:solidFill>
                <a:latin typeface="Calibri"/>
              </a:defRPr>
            </a:pPr>
            <a:r>
              <a:t>3</a:t>
            </a:r>
          </a:p>
        </p:txBody>
      </p:sp>
      <p:sp>
        <p:nvSpPr>
          <p:cNvPr id="17" name="TextBox 16"/>
          <p:cNvSpPr txBox="1"/>
          <p:nvPr/>
        </p:nvSpPr>
        <p:spPr>
          <a:xfrm>
            <a:off x="1051560" y="2821940"/>
            <a:ext cx="10454335" cy="2743200"/>
          </a:xfrm>
          <a:prstGeom prst="rect">
            <a:avLst/>
          </a:prstGeom>
          <a:noFill/>
        </p:spPr>
        <p:txBody>
          <a:bodyPr wrap="square">
            <a:spAutoFit/>
          </a:bodyPr>
          <a:lstStyle/>
          <a:p>
            <a:pPr>
              <a:lnSpc>
                <a:spcPct val="125000"/>
              </a:lnSpc>
              <a:defRPr sz="1600" b="1">
                <a:solidFill>
                  <a:srgbClr val="1E293B"/>
                </a:solidFill>
                <a:latin typeface="Calibri"/>
              </a:defRPr>
            </a:pPr>
          </a:p>
        </p:txBody>
      </p:sp>
      <p:sp>
        <p:nvSpPr>
          <p:cNvPr id="18" name="Rounded Rectangle 17"/>
          <p:cNvSpPr/>
          <p:nvPr/>
        </p:nvSpPr>
        <p:spPr>
          <a:xfrm>
            <a:off x="548640" y="3571748"/>
            <a:ext cx="11094415" cy="7315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080" y="3708908"/>
            <a:ext cx="320040" cy="320040"/>
          </a:xfrm>
          <a:prstGeom prst="round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727196"/>
            <a:ext cx="320040" cy="283464"/>
          </a:xfrm>
          <a:prstGeom prst="rect">
            <a:avLst/>
          </a:prstGeom>
          <a:noFill/>
        </p:spPr>
        <p:txBody>
          <a:bodyPr wrap="none">
            <a:spAutoFit/>
          </a:bodyPr>
          <a:lstStyle/>
          <a:p>
            <a:pPr algn="ctr">
              <a:defRPr sz="1200" b="1">
                <a:solidFill>
                  <a:srgbClr val="FFFFFF"/>
                </a:solidFill>
                <a:latin typeface="Calibri"/>
              </a:defRPr>
            </a:pPr>
            <a:r>
              <a:t>4</a:t>
            </a:r>
          </a:p>
        </p:txBody>
      </p:sp>
      <p:sp>
        <p:nvSpPr>
          <p:cNvPr id="21" name="TextBox 20"/>
          <p:cNvSpPr txBox="1"/>
          <p:nvPr/>
        </p:nvSpPr>
        <p:spPr>
          <a:xfrm>
            <a:off x="1051560" y="3663188"/>
            <a:ext cx="10454335" cy="2743200"/>
          </a:xfrm>
          <a:prstGeom prst="rect">
            <a:avLst/>
          </a:prstGeom>
          <a:noFill/>
        </p:spPr>
        <p:txBody>
          <a:bodyPr wrap="square">
            <a:spAutoFit/>
          </a:bodyPr>
          <a:lstStyle/>
          <a:p>
            <a:pPr>
              <a:lnSpc>
                <a:spcPct val="125000"/>
              </a:lnSpc>
              <a:defRPr sz="1600" b="1">
                <a:solidFill>
                  <a:srgbClr val="1E293B"/>
                </a:solidFill>
                <a:latin typeface="Calibri"/>
              </a:defRPr>
            </a:pPr>
          </a:p>
        </p:txBody>
      </p:sp>
      <p:sp>
        <p:nvSpPr>
          <p:cNvPr id="22" name="Rectangle 21"/>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24" name="TextBox 23"/>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117</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E40A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229600" y="914400"/>
            <a:ext cx="2743200" cy="2743200"/>
          </a:xfrm>
          <a:prstGeom prst="ellipse">
            <a:avLst/>
          </a:prstGeom>
          <a:solidFill>
            <a:srgbClr val="93C5F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01200" y="4114800"/>
            <a:ext cx="1828800" cy="1828800"/>
          </a:xfrm>
          <a:prstGeom prst="ellipse">
            <a:avLst/>
          </a:prstGeom>
          <a:solidFill>
            <a:srgbClr val="E0F2F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371600" y="2286000"/>
            <a:ext cx="6400800" cy="914400"/>
          </a:xfrm>
          <a:prstGeom prst="rect">
            <a:avLst/>
          </a:prstGeom>
          <a:noFill/>
        </p:spPr>
        <p:txBody>
          <a:bodyPr wrap="none">
            <a:spAutoFit/>
          </a:bodyPr>
          <a:lstStyle/>
          <a:p>
            <a:pPr>
              <a:defRPr sz="5600" b="1">
                <a:solidFill>
                  <a:srgbClr val="FFFFFF"/>
                </a:solidFill>
                <a:latin typeface="Calibri"/>
              </a:defRPr>
            </a:pPr>
            <a:r>
              <a:t>Thank You</a:t>
            </a:r>
          </a:p>
        </p:txBody>
      </p:sp>
      <p:sp>
        <p:nvSpPr>
          <p:cNvPr id="6" name="Rectangle 5"/>
          <p:cNvSpPr/>
          <p:nvPr/>
        </p:nvSpPr>
        <p:spPr>
          <a:xfrm>
            <a:off x="1371600" y="3200400"/>
            <a:ext cx="128016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3383280"/>
            <a:ext cx="6400800" cy="457200"/>
          </a:xfrm>
          <a:prstGeom prst="rect">
            <a:avLst/>
          </a:prstGeom>
          <a:noFill/>
        </p:spPr>
        <p:txBody>
          <a:bodyPr wrap="none">
            <a:spAutoFit/>
          </a:bodyPr>
          <a:lstStyle/>
          <a:p>
            <a:pPr>
              <a:defRPr sz="2400">
                <a:solidFill>
                  <a:srgbClr val="FFFFFF"/>
                </a:solidFill>
                <a:latin typeface="Calibri"/>
              </a:defRPr>
            </a:pPr>
            <a:r>
              <a:t>Questions?</a:t>
            </a:r>
          </a:p>
        </p:txBody>
      </p:sp>
      <p:sp>
        <p:nvSpPr>
          <p:cNvPr id="8" name="TextBox 7"/>
          <p:cNvSpPr txBox="1"/>
          <p:nvPr/>
        </p:nvSpPr>
        <p:spPr>
          <a:xfrm>
            <a:off x="1371600" y="4023360"/>
            <a:ext cx="6400800" cy="365760"/>
          </a:xfrm>
          <a:prstGeom prst="rect">
            <a:avLst/>
          </a:prstGeom>
          <a:noFill/>
        </p:spPr>
        <p:txBody>
          <a:bodyPr wrap="none">
            <a:spAutoFit/>
          </a:bodyPr>
          <a:lstStyle/>
          <a:p>
            <a:pPr>
              <a:defRPr sz="1400" i="1">
                <a:solidFill>
                  <a:srgbClr val="FFFFFF"/>
                </a:solidFill>
                <a:latin typeface="Calibri"/>
              </a:defRPr>
            </a:pPr>
            <a:r>
              <a:t>Advanced Fake News Detection: From Transformer Architectures to Social Network Dynamics</a:t>
            </a:r>
          </a:p>
        </p:txBody>
      </p:sp>
      <p:sp>
        <p:nvSpPr>
          <p:cNvPr id="9" name="Rectangle 8"/>
          <p:cNvSpPr/>
          <p:nvPr/>
        </p:nvSpPr>
        <p:spPr>
          <a:xfrm>
            <a:off x="0" y="6574536"/>
            <a:ext cx="12191695" cy="9144"/>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6629400"/>
            <a:ext cx="5486400" cy="182880"/>
          </a:xfrm>
          <a:prstGeom prst="rect">
            <a:avLst/>
          </a:prstGeom>
          <a:noFill/>
        </p:spPr>
        <p:txBody>
          <a:bodyPr wrap="none">
            <a:spAutoFit/>
          </a:bodyPr>
          <a:lstStyle/>
          <a:p>
            <a:pPr>
              <a:defRPr sz="1000">
                <a:solidFill>
                  <a:srgbClr val="64748B"/>
                </a:solidFill>
                <a:latin typeface="Calibri"/>
              </a:defRPr>
            </a:pPr>
            <a:r>
              <a:t>Advanced Fake News Detection: From Transformer Architectures to Social Network Dynamics</a:t>
            </a:r>
          </a:p>
        </p:txBody>
      </p:sp>
      <p:sp>
        <p:nvSpPr>
          <p:cNvPr id="11" name="TextBox 10"/>
          <p:cNvSpPr txBox="1"/>
          <p:nvPr/>
        </p:nvSpPr>
        <p:spPr>
          <a:xfrm>
            <a:off x="11277295" y="6629400"/>
            <a:ext cx="548640" cy="182880"/>
          </a:xfrm>
          <a:prstGeom prst="rect">
            <a:avLst/>
          </a:prstGeom>
          <a:noFill/>
        </p:spPr>
        <p:txBody>
          <a:bodyPr wrap="none">
            <a:spAutoFit/>
          </a:bodyPr>
          <a:lstStyle/>
          <a:p>
            <a:pPr algn="r">
              <a:defRPr sz="1000" b="1">
                <a:solidFill>
                  <a:srgbClr val="64748B"/>
                </a:solidFill>
                <a:latin typeface="Calibri"/>
              </a:defRPr>
            </a:pPr>
            <a:r>
              <a:t>118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