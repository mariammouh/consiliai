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0" y="2286000"/>
            <a:ext cx="3657600" cy="36576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0" y="1097280"/>
            <a:ext cx="731520" cy="7315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7315200" cy="365760"/>
          </a:xfrm>
          <a:prstGeom prst="rect">
            <a:avLst/>
          </a:prstGeom>
          <a:noFill/>
        </p:spPr>
        <p:txBody>
          <a:bodyPr wrap="none">
            <a:spAutoFit/>
          </a:bodyPr>
          <a:lstStyle/>
          <a:p>
            <a:pPr>
              <a:defRPr sz="1400" b="1">
                <a:solidFill>
                  <a:srgbClr val="3B82F6"/>
                </a:solidFill>
                <a:latin typeface="Calibri"/>
              </a:defRPr>
            </a:pPr>
            <a:r>
              <a:t>ADVANCED FAKE NEWS DETECTION: FROM TRANSFORMER ARCHITECTURES TO SOCIAL NETWORK DYNAMICS</a:t>
            </a:r>
          </a:p>
        </p:txBody>
      </p:sp>
      <p:sp>
        <p:nvSpPr>
          <p:cNvPr id="7" name="TextBox 6"/>
          <p:cNvSpPr txBox="1"/>
          <p:nvPr/>
        </p:nvSpPr>
        <p:spPr>
          <a:xfrm>
            <a:off x="548640" y="2377440"/>
            <a:ext cx="8229600" cy="1706879"/>
          </a:xfrm>
          <a:prstGeom prst="rect">
            <a:avLst/>
          </a:prstGeom>
          <a:noFill/>
        </p:spPr>
        <p:txBody>
          <a:bodyPr wrap="square">
            <a:spAutoFit/>
          </a:bodyPr>
          <a:lstStyle/>
          <a:p>
            <a:pPr>
              <a:defRPr sz="5000" b="1">
                <a:solidFill>
                  <a:srgbClr val="1E293B"/>
                </a:solidFill>
                <a:latin typeface="Calibri"/>
              </a:defRPr>
            </a:pPr>
            <a:r>
              <a:t>Advanced Architectural Optimization and Evaluation</a:t>
            </a:r>
          </a:p>
        </p:txBody>
      </p:sp>
      <p:sp>
        <p:nvSpPr>
          <p:cNvPr id="8" name="Rectangle 7"/>
          <p:cNvSpPr/>
          <p:nvPr/>
        </p:nvSpPr>
        <p:spPr>
          <a:xfrm>
            <a:off x="548640" y="403860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175760"/>
            <a:ext cx="7315200" cy="457200"/>
          </a:xfrm>
          <a:prstGeom prst="rect">
            <a:avLst/>
          </a:prstGeom>
          <a:noFill/>
        </p:spPr>
        <p:txBody>
          <a:bodyPr wrap="none">
            <a:spAutoFit/>
          </a:bodyPr>
          <a:lstStyle/>
          <a:p>
            <a:pPr>
              <a:defRPr sz="2400">
                <a:solidFill>
                  <a:srgbClr val="64748B"/>
                </a:solidFill>
                <a:latin typeface="Calibri"/>
              </a:defRPr>
            </a:pPr>
            <a:r>
              <a:t>Advanced Architectural Optimization and Evaluation</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Learning Objectives</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3624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276604"/>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304036"/>
            <a:ext cx="384048" cy="347472"/>
          </a:xfrm>
          <a:prstGeom prst="rect">
            <a:avLst/>
          </a:prstGeom>
          <a:noFill/>
        </p:spPr>
        <p:txBody>
          <a:bodyPr wrap="none">
            <a:spAutoFit/>
          </a:bodyPr>
          <a:lstStyle/>
          <a:p>
            <a:pPr algn="ctr">
              <a:defRPr sz="1600" b="1">
                <a:solidFill>
                  <a:srgbClr val="FFFFFF"/>
                </a:solidFill>
                <a:latin typeface="Calibri"/>
              </a:defRPr>
            </a:pPr>
            <a:r>
              <a:t>1</a:t>
            </a:r>
          </a:p>
        </p:txBody>
      </p:sp>
      <p:sp>
        <p:nvSpPr>
          <p:cNvPr id="9" name="TextBox 8"/>
          <p:cNvSpPr txBox="1"/>
          <p:nvPr/>
        </p:nvSpPr>
        <p:spPr>
          <a:xfrm>
            <a:off x="1143000" y="1185164"/>
            <a:ext cx="4389120" cy="1088135"/>
          </a:xfrm>
          <a:prstGeom prst="rect">
            <a:avLst/>
          </a:prstGeom>
          <a:noFill/>
        </p:spPr>
        <p:txBody>
          <a:bodyPr wrap="square">
            <a:spAutoFit/>
          </a:bodyPr>
          <a:lstStyle/>
          <a:p>
            <a:pPr>
              <a:defRPr sz="1600">
                <a:solidFill>
                  <a:srgbClr val="1E293B"/>
                </a:solidFill>
                <a:latin typeface="Calibri"/>
              </a:defRPr>
            </a:pPr>
            <a:r>
              <a:t>Understand the limitations of text-only fake news detection models.</a:t>
            </a:r>
          </a:p>
        </p:txBody>
      </p:sp>
      <p:sp>
        <p:nvSpPr>
          <p:cNvPr id="10" name="Rounded Rectangle 9"/>
          <p:cNvSpPr/>
          <p:nvPr/>
        </p:nvSpPr>
        <p:spPr>
          <a:xfrm>
            <a:off x="5989320" y="1048004"/>
            <a:ext cx="5120640" cy="16367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99048" y="1276604"/>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8" y="1304036"/>
            <a:ext cx="384048" cy="347472"/>
          </a:xfrm>
          <a:prstGeom prst="rect">
            <a:avLst/>
          </a:prstGeom>
          <a:noFill/>
        </p:spPr>
        <p:txBody>
          <a:bodyPr wrap="none">
            <a:spAutoFit/>
          </a:bodyPr>
          <a:lstStyle/>
          <a:p>
            <a:pPr algn="ctr">
              <a:defRPr sz="1600" b="1">
                <a:solidFill>
                  <a:srgbClr val="FFFFFF"/>
                </a:solidFill>
                <a:latin typeface="Calibri"/>
              </a:defRPr>
            </a:pPr>
            <a:r>
              <a:t>2</a:t>
            </a:r>
          </a:p>
        </p:txBody>
      </p:sp>
      <p:sp>
        <p:nvSpPr>
          <p:cNvPr id="13" name="TextBox 12"/>
          <p:cNvSpPr txBox="1"/>
          <p:nvPr/>
        </p:nvSpPr>
        <p:spPr>
          <a:xfrm>
            <a:off x="6583680" y="1185164"/>
            <a:ext cx="4389120" cy="1362455"/>
          </a:xfrm>
          <a:prstGeom prst="rect">
            <a:avLst/>
          </a:prstGeom>
          <a:noFill/>
        </p:spPr>
        <p:txBody>
          <a:bodyPr wrap="square">
            <a:spAutoFit/>
          </a:bodyPr>
          <a:lstStyle/>
          <a:p>
            <a:pPr>
              <a:defRPr sz="1600">
                <a:solidFill>
                  <a:srgbClr val="1E293B"/>
                </a:solidFill>
                <a:latin typeface="Calibri"/>
              </a:defRPr>
            </a:pPr>
            <a:r>
              <a:t>Analyze how heterogeneous graph structures and social context improve detection accuracy.</a:t>
            </a:r>
          </a:p>
        </p:txBody>
      </p:sp>
      <p:sp>
        <p:nvSpPr>
          <p:cNvPr id="14" name="Rounded Rectangle 13"/>
          <p:cNvSpPr/>
          <p:nvPr/>
        </p:nvSpPr>
        <p:spPr>
          <a:xfrm>
            <a:off x="548640" y="2867660"/>
            <a:ext cx="5120640" cy="16367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096260"/>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123692"/>
            <a:ext cx="384048" cy="347472"/>
          </a:xfrm>
          <a:prstGeom prst="rect">
            <a:avLst/>
          </a:prstGeom>
          <a:noFill/>
        </p:spPr>
        <p:txBody>
          <a:bodyPr wrap="none">
            <a:spAutoFit/>
          </a:bodyPr>
          <a:lstStyle/>
          <a:p>
            <a:pPr algn="ctr">
              <a:defRPr sz="1600" b="1">
                <a:solidFill>
                  <a:srgbClr val="FFFFFF"/>
                </a:solidFill>
                <a:latin typeface="Calibri"/>
              </a:defRPr>
            </a:pPr>
            <a:r>
              <a:t>3</a:t>
            </a:r>
          </a:p>
        </p:txBody>
      </p:sp>
      <p:sp>
        <p:nvSpPr>
          <p:cNvPr id="17" name="TextBox 16"/>
          <p:cNvSpPr txBox="1"/>
          <p:nvPr/>
        </p:nvSpPr>
        <p:spPr>
          <a:xfrm>
            <a:off x="1143000" y="3004820"/>
            <a:ext cx="4389120" cy="1362455"/>
          </a:xfrm>
          <a:prstGeom prst="rect">
            <a:avLst/>
          </a:prstGeom>
          <a:noFill/>
        </p:spPr>
        <p:txBody>
          <a:bodyPr wrap="square">
            <a:spAutoFit/>
          </a:bodyPr>
          <a:lstStyle/>
          <a:p>
            <a:pPr>
              <a:defRPr sz="1600">
                <a:solidFill>
                  <a:srgbClr val="1E293B"/>
                </a:solidFill>
                <a:latin typeface="Calibri"/>
              </a:defRPr>
            </a:pPr>
            <a:r>
              <a:t>Evaluate the generalization capabilities of Transformer-based models across different datasets.</a:t>
            </a:r>
          </a:p>
        </p:txBody>
      </p:sp>
      <p:sp>
        <p:nvSpPr>
          <p:cNvPr id="18" name="Rounded Rectangle 17"/>
          <p:cNvSpPr/>
          <p:nvPr/>
        </p:nvSpPr>
        <p:spPr>
          <a:xfrm>
            <a:off x="5989320" y="2867660"/>
            <a:ext cx="5120640" cy="16367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099048" y="3096260"/>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8" y="3123692"/>
            <a:ext cx="384048" cy="347472"/>
          </a:xfrm>
          <a:prstGeom prst="rect">
            <a:avLst/>
          </a:prstGeom>
          <a:noFill/>
        </p:spPr>
        <p:txBody>
          <a:bodyPr wrap="none">
            <a:spAutoFit/>
          </a:bodyPr>
          <a:lstStyle/>
          <a:p>
            <a:pPr algn="ctr">
              <a:defRPr sz="1600" b="1">
                <a:solidFill>
                  <a:srgbClr val="FFFFFF"/>
                </a:solidFill>
                <a:latin typeface="Calibri"/>
              </a:defRPr>
            </a:pPr>
            <a:r>
              <a:t>4</a:t>
            </a:r>
          </a:p>
        </p:txBody>
      </p:sp>
      <p:sp>
        <p:nvSpPr>
          <p:cNvPr id="21" name="TextBox 20"/>
          <p:cNvSpPr txBox="1"/>
          <p:nvPr/>
        </p:nvSpPr>
        <p:spPr>
          <a:xfrm>
            <a:off x="6583680" y="3004820"/>
            <a:ext cx="4389120" cy="1362455"/>
          </a:xfrm>
          <a:prstGeom prst="rect">
            <a:avLst/>
          </a:prstGeom>
          <a:noFill/>
        </p:spPr>
        <p:txBody>
          <a:bodyPr wrap="square">
            <a:spAutoFit/>
          </a:bodyPr>
          <a:lstStyle/>
          <a:p>
            <a:pPr>
              <a:defRPr sz="1600">
                <a:solidFill>
                  <a:srgbClr val="1E293B"/>
                </a:solidFill>
                <a:latin typeface="Calibri"/>
              </a:defRPr>
            </a:pPr>
            <a:r>
              <a:t>Critically assess the robustness of current models against modern misinformation threats.</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Module Context</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3545738" cy="30693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048004"/>
            <a:ext cx="3545738"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185164"/>
            <a:ext cx="3179978" cy="320040"/>
          </a:xfrm>
          <a:prstGeom prst="rect">
            <a:avLst/>
          </a:prstGeom>
          <a:noFill/>
        </p:spPr>
        <p:txBody>
          <a:bodyPr wrap="none">
            <a:spAutoFit/>
          </a:bodyPr>
          <a:lstStyle/>
          <a:p>
            <a:pPr>
              <a:defRPr sz="1100" b="1">
                <a:solidFill>
                  <a:srgbClr val="F59E0B"/>
                </a:solidFill>
                <a:latin typeface="Calibri"/>
              </a:defRPr>
            </a:pPr>
            <a:r>
              <a:t>PROBLEM</a:t>
            </a:r>
          </a:p>
        </p:txBody>
      </p:sp>
      <p:sp>
        <p:nvSpPr>
          <p:cNvPr id="9" name="TextBox 8"/>
          <p:cNvSpPr txBox="1"/>
          <p:nvPr/>
        </p:nvSpPr>
        <p:spPr>
          <a:xfrm>
            <a:off x="749808" y="1505204"/>
            <a:ext cx="3179978" cy="2429255"/>
          </a:xfrm>
          <a:prstGeom prst="rect">
            <a:avLst/>
          </a:prstGeom>
          <a:noFill/>
        </p:spPr>
        <p:txBody>
          <a:bodyPr wrap="square">
            <a:spAutoFit/>
          </a:bodyPr>
          <a:lstStyle/>
          <a:p>
            <a:pPr>
              <a:lnSpc>
                <a:spcPct val="130000"/>
              </a:lnSpc>
              <a:defRPr sz="1600">
                <a:solidFill>
                  <a:srgbClr val="1E293B"/>
                </a:solidFill>
                <a:latin typeface="Calibri"/>
              </a:defRPr>
            </a:pPr>
            <a:r>
              <a:t>The need for robust, scalable, and accurate classification models that can handle complex propagation patterns.</a:t>
            </a:r>
          </a:p>
        </p:txBody>
      </p:sp>
      <p:sp>
        <p:nvSpPr>
          <p:cNvPr id="10" name="Rounded Rectangle 9"/>
          <p:cNvSpPr/>
          <p:nvPr/>
        </p:nvSpPr>
        <p:spPr>
          <a:xfrm>
            <a:off x="4322978" y="1048004"/>
            <a:ext cx="3545738" cy="279501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2978" y="1048004"/>
            <a:ext cx="3545738"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4146" y="1185164"/>
            <a:ext cx="3179978" cy="320040"/>
          </a:xfrm>
          <a:prstGeom prst="rect">
            <a:avLst/>
          </a:prstGeom>
          <a:noFill/>
        </p:spPr>
        <p:txBody>
          <a:bodyPr wrap="none">
            <a:spAutoFit/>
          </a:bodyPr>
          <a:lstStyle/>
          <a:p>
            <a:pPr>
              <a:defRPr sz="1100" b="1">
                <a:solidFill>
                  <a:srgbClr val="10B981"/>
                </a:solidFill>
                <a:latin typeface="Calibri"/>
              </a:defRPr>
            </a:pPr>
            <a:r>
              <a:t>SOLUTION</a:t>
            </a:r>
          </a:p>
        </p:txBody>
      </p:sp>
      <p:sp>
        <p:nvSpPr>
          <p:cNvPr id="13" name="TextBox 12"/>
          <p:cNvSpPr txBox="1"/>
          <p:nvPr/>
        </p:nvSpPr>
        <p:spPr>
          <a:xfrm>
            <a:off x="4524146" y="1505204"/>
            <a:ext cx="3179978" cy="2154936"/>
          </a:xfrm>
          <a:prstGeom prst="rect">
            <a:avLst/>
          </a:prstGeom>
          <a:noFill/>
        </p:spPr>
        <p:txBody>
          <a:bodyPr wrap="square">
            <a:spAutoFit/>
          </a:bodyPr>
          <a:lstStyle/>
          <a:p>
            <a:pPr>
              <a:lnSpc>
                <a:spcPct val="130000"/>
              </a:lnSpc>
              <a:defRPr sz="1600">
                <a:solidFill>
                  <a:srgbClr val="1E293B"/>
                </a:solidFill>
                <a:latin typeface="Calibri"/>
              </a:defRPr>
            </a:pPr>
            <a:r>
              <a:t>Fine-tuning pre-trained models and implementing hierarchical, attention-based graph neural networks.</a:t>
            </a:r>
          </a:p>
        </p:txBody>
      </p:sp>
      <p:sp>
        <p:nvSpPr>
          <p:cNvPr id="14" name="Rounded Rectangle 13"/>
          <p:cNvSpPr/>
          <p:nvPr/>
        </p:nvSpPr>
        <p:spPr>
          <a:xfrm>
            <a:off x="8097316" y="1048004"/>
            <a:ext cx="354573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048004"/>
            <a:ext cx="3545738"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8484" y="1185164"/>
            <a:ext cx="3179978" cy="320040"/>
          </a:xfrm>
          <a:prstGeom prst="rect">
            <a:avLst/>
          </a:prstGeom>
          <a:noFill/>
        </p:spPr>
        <p:txBody>
          <a:bodyPr wrap="none">
            <a:spAutoFit/>
          </a:bodyPr>
          <a:lstStyle/>
          <a:p>
            <a:pPr>
              <a:defRPr sz="1100" b="1">
                <a:solidFill>
                  <a:srgbClr val="3B82F6"/>
                </a:solidFill>
                <a:latin typeface="Calibri"/>
              </a:defRPr>
            </a:pPr>
            <a:r>
              <a:t>DIFFICULTY</a:t>
            </a:r>
          </a:p>
        </p:txBody>
      </p:sp>
      <p:sp>
        <p:nvSpPr>
          <p:cNvPr id="17" name="TextBox 16"/>
          <p:cNvSpPr txBox="1"/>
          <p:nvPr/>
        </p:nvSpPr>
        <p:spPr>
          <a:xfrm>
            <a:off x="8298484" y="1505204"/>
            <a:ext cx="3179978" cy="1371600"/>
          </a:xfrm>
          <a:prstGeom prst="rect">
            <a:avLst/>
          </a:prstGeom>
          <a:noFill/>
        </p:spPr>
        <p:txBody>
          <a:bodyPr wrap="square">
            <a:spAutoFit/>
          </a:bodyPr>
          <a:lstStyle/>
          <a:p>
            <a:pPr>
              <a:lnSpc>
                <a:spcPct val="130000"/>
              </a:lnSpc>
              <a:defRPr sz="1600">
                <a:solidFill>
                  <a:srgbClr val="1E293B"/>
                </a:solidFill>
                <a:latin typeface="Calibri"/>
              </a:defRPr>
            </a:pPr>
            <a:r>
              <a:t>advanced</a:t>
            </a:r>
          </a:p>
        </p:txBody>
      </p:sp>
      <p:sp>
        <p:nvSpPr>
          <p:cNvPr id="18" name="Rectangle 1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0" name="TextBox 1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Fine-tuning pre-trained models (BERT, RoBERTa, T5)</a:t>
            </a:r>
          </a:p>
        </p:txBody>
      </p:sp>
      <p:sp>
        <p:nvSpPr>
          <p:cNvPr id="7" name="Rectangle 6"/>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9" name="TextBox 8"/>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Fine-tuning pre-trained models (BERT, RoBERTa, T5)</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Building on the foundational benchmarking of BERT-based models,</a:t>
            </a:r>
          </a:p>
          <a:p>
            <a:pPr>
              <a:lnSpc>
                <a:spcPct val="135000"/>
              </a:lnSpc>
              <a:spcAft>
                <a:spcPts val="1000"/>
              </a:spcAft>
              <a:defRPr sz="1600">
                <a:solidFill>
                  <a:srgbClr val="1E293B"/>
                </a:solidFill>
                <a:latin typeface="Calibri"/>
              </a:defRPr>
            </a:pPr>
            <a:r>
              <a:rPr>
                <a:solidFill>
                  <a:srgbClr val="3B82F6"/>
                </a:solidFill>
              </a:rPr>
              <a:t>• advanced optimization requires moving beyond standard fine-tuning</a:t>
            </a:r>
          </a:p>
          <a:p>
            <a:pPr>
              <a:lnSpc>
                <a:spcPct val="135000"/>
              </a:lnSpc>
              <a:spcAft>
                <a:spcPts val="1000"/>
              </a:spcAft>
              <a:defRPr sz="1600">
                <a:solidFill>
                  <a:srgbClr val="1E293B"/>
                </a:solidFill>
                <a:latin typeface="Calibri"/>
              </a:defRPr>
            </a:pPr>
            <a:r>
              <a:rPr>
                <a:solidFill>
                  <a:srgbClr val="3B82F6"/>
                </a:solidFill>
              </a:rPr>
              <a:t>• to address the specific nuances of fake news propagation.</a:t>
            </a:r>
          </a:p>
          <a:p>
            <a:pPr>
              <a:lnSpc>
                <a:spcPct val="135000"/>
              </a:lnSpc>
              <a:spcAft>
                <a:spcPts val="1000"/>
              </a:spcAft>
              <a:defRPr sz="1600">
                <a:solidFill>
                  <a:srgbClr val="1E293B"/>
                </a:solidFill>
                <a:latin typeface="Calibri"/>
              </a:defRPr>
            </a:pPr>
            <a:r>
              <a:rPr>
                <a:solidFill>
                  <a:srgbClr val="3B82F6"/>
                </a:solidFill>
              </a:rPr>
              <a:t>• While standard fine-tuning adapts pre-trained weights to a target</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Fine-tuning pre-trained models (BERT, RoBERTa, T5)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domain, the challenge lies in the domain shift problem where</a:t>
            </a:r>
          </a:p>
          <a:p>
            <a:pPr>
              <a:lnSpc>
                <a:spcPct val="135000"/>
              </a:lnSpc>
              <a:spcAft>
                <a:spcPts val="1000"/>
              </a:spcAft>
              <a:defRPr sz="1600">
                <a:solidFill>
                  <a:srgbClr val="1E293B"/>
                </a:solidFill>
                <a:latin typeface="Calibri"/>
              </a:defRPr>
            </a:pPr>
            <a:r>
              <a:rPr>
                <a:solidFill>
                  <a:srgbClr val="3B82F6"/>
                </a:solidFill>
              </a:rPr>
              <a:t>• models trained on one dataset fail to generalize to others.</a:t>
            </a:r>
          </a:p>
          <a:p>
            <a:pPr>
              <a:lnSpc>
                <a:spcPct val="135000"/>
              </a:lnSpc>
              <a:spcAft>
                <a:spcPts val="1000"/>
              </a:spcAft>
              <a:defRPr sz="1600">
                <a:solidFill>
                  <a:srgbClr val="1E293B"/>
                </a:solidFill>
                <a:latin typeface="Calibri"/>
              </a:defRPr>
            </a:pPr>
            <a:r>
              <a:rPr>
                <a:solidFill>
                  <a:srgbClr val="3B82F6"/>
                </a:solidFill>
              </a:rPr>
              <a:t>• Advanced implementation involves leveraging Huggingface</a:t>
            </a:r>
          </a:p>
          <a:p>
            <a:pPr>
              <a:lnSpc>
                <a:spcPct val="135000"/>
              </a:lnSpc>
              <a:spcAft>
                <a:spcPts val="1000"/>
              </a:spcAft>
              <a:defRPr sz="1600">
                <a:solidFill>
                  <a:srgbClr val="1E293B"/>
                </a:solidFill>
                <a:latin typeface="Calibri"/>
              </a:defRPr>
            </a:pPr>
            <a:r>
              <a:rPr>
                <a:solidFill>
                  <a:srgbClr val="3B82F6"/>
                </a:solidFill>
              </a:rPr>
              <a:t>• frameworks to perform stochastic optimization on large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Fine-tuning pre-trained models (BERT, RoBERTa, T5)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pre-trained models like BERT, RoBERTa, and T5.</a:t>
            </a:r>
          </a:p>
          <a:p>
            <a:pPr>
              <a:lnSpc>
                <a:spcPct val="135000"/>
              </a:lnSpc>
              <a:spcAft>
                <a:spcPts val="1000"/>
              </a:spcAft>
              <a:defRPr sz="1600">
                <a:solidFill>
                  <a:srgbClr val="1E293B"/>
                </a:solidFill>
                <a:latin typeface="Calibri"/>
              </a:defRPr>
            </a:pPr>
            <a:r>
              <a:rPr>
                <a:solidFill>
                  <a:srgbClr val="3B82F6"/>
                </a:solidFill>
              </a:rPr>
              <a:t>• By treating these models as feature extractors or end-to-end</a:t>
            </a:r>
          </a:p>
          <a:p>
            <a:pPr>
              <a:lnSpc>
                <a:spcPct val="135000"/>
              </a:lnSpc>
              <a:spcAft>
                <a:spcPts val="1000"/>
              </a:spcAft>
              <a:defRPr sz="1600">
                <a:solidFill>
                  <a:srgbClr val="1E293B"/>
                </a:solidFill>
                <a:latin typeface="Calibri"/>
              </a:defRPr>
            </a:pPr>
            <a:r>
              <a:rPr>
                <a:solidFill>
                  <a:srgbClr val="3B82F6"/>
                </a:solidFill>
              </a:rPr>
              <a:t>• classifiers, we can capture complex semantic patterns.</a:t>
            </a:r>
          </a:p>
          <a:p>
            <a:pPr>
              <a:lnSpc>
                <a:spcPct val="135000"/>
              </a:lnSpc>
              <a:spcAft>
                <a:spcPts val="1000"/>
              </a:spcAft>
              <a:defRPr sz="1600">
                <a:solidFill>
                  <a:srgbClr val="1E293B"/>
                </a:solidFill>
                <a:latin typeface="Calibri"/>
              </a:defRPr>
            </a:pPr>
            <a:r>
              <a:rPr>
                <a:solidFill>
                  <a:srgbClr val="3B82F6"/>
                </a:solidFill>
              </a:rPr>
              <a:t>• However, the effectiveness of these models is highly dependent on</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Fine-tuning pre-trained models (BERT, RoBERTa, T5)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the quality of the input embeddings and the specific fine-tuning</a:t>
            </a:r>
          </a:p>
          <a:p>
            <a:pPr>
              <a:lnSpc>
                <a:spcPct val="135000"/>
              </a:lnSpc>
              <a:spcAft>
                <a:spcPts val="1000"/>
              </a:spcAft>
              <a:defRPr sz="1600">
                <a:solidFill>
                  <a:srgbClr val="1E293B"/>
                </a:solidFill>
                <a:latin typeface="Calibri"/>
              </a:defRPr>
            </a:pPr>
            <a:r>
              <a:rPr>
                <a:solidFill>
                  <a:srgbClr val="3B82F6"/>
                </a:solidFill>
              </a:rPr>
              <a:t>• strategy, such as stratified sampling in few-shot scenarios,</a:t>
            </a:r>
          </a:p>
          <a:p>
            <a:pPr>
              <a:lnSpc>
                <a:spcPct val="135000"/>
              </a:lnSpc>
              <a:spcAft>
                <a:spcPts val="1000"/>
              </a:spcAft>
              <a:defRPr sz="1600">
                <a:solidFill>
                  <a:srgbClr val="1E293B"/>
                </a:solidFill>
                <a:latin typeface="Calibri"/>
              </a:defRPr>
            </a:pPr>
            <a:r>
              <a:rPr>
                <a:solidFill>
                  <a:srgbClr val="3B82F6"/>
                </a:solidFill>
              </a:rPr>
              <a:t>• which helps mitigate the performance degradation observed when</a:t>
            </a:r>
          </a:p>
          <a:p>
            <a:pPr>
              <a:lnSpc>
                <a:spcPct val="135000"/>
              </a:lnSpc>
              <a:spcAft>
                <a:spcPts val="1000"/>
              </a:spcAft>
              <a:defRPr sz="1600">
                <a:solidFill>
                  <a:srgbClr val="1E293B"/>
                </a:solidFill>
                <a:latin typeface="Calibri"/>
              </a:defRPr>
            </a:pPr>
            <a:r>
              <a:rPr>
                <a:solidFill>
                  <a:srgbClr val="3B82F6"/>
                </a:solidFill>
              </a:rPr>
              <a:t>• models encounter heterogeneous data distributions.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Fine-tuning pre-trained models (BERT, RoBERTa, T5)</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241274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241274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Experimental benchmarks demonstrate that BERT exhibits statistically significant performance differences compared to traditional CNN and BiLSTM architectures, while DeBERTa shows significant improvements over NB, CNN, and BiLSTM, confirming that the choice of pre-trained architecture is critical for robust detection.</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179576"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179576" cy="292608"/>
          </a:xfrm>
          <a:prstGeom prst="rect">
            <a:avLst/>
          </a:prstGeom>
          <a:noFill/>
        </p:spPr>
        <p:txBody>
          <a:bodyPr wrap="none">
            <a:spAutoFit/>
          </a:bodyPr>
          <a:lstStyle/>
          <a:p>
            <a:pPr algn="ctr">
              <a:defRPr sz="1100" b="1">
                <a:solidFill>
                  <a:srgbClr val="FFFFFF"/>
                </a:solidFill>
                <a:latin typeface="Calibri"/>
              </a:defRPr>
            </a:pPr>
            <a:r>
              <a:t>Fine-tuning</a:t>
            </a:r>
          </a:p>
        </p:txBody>
      </p:sp>
      <p:sp>
        <p:nvSpPr>
          <p:cNvPr id="9" name="TextBox 8"/>
          <p:cNvSpPr txBox="1"/>
          <p:nvPr/>
        </p:nvSpPr>
        <p:spPr>
          <a:xfrm>
            <a:off x="1865376" y="1157731"/>
            <a:ext cx="3621024" cy="1945640"/>
          </a:xfrm>
          <a:prstGeom prst="rect">
            <a:avLst/>
          </a:prstGeom>
          <a:noFill/>
        </p:spPr>
        <p:txBody>
          <a:bodyPr wrap="square">
            <a:spAutoFit/>
          </a:bodyPr>
          <a:lstStyle/>
          <a:p>
            <a:pPr>
              <a:lnSpc>
                <a:spcPct val="130000"/>
              </a:lnSpc>
              <a:defRPr sz="1400">
                <a:solidFill>
                  <a:srgbClr val="1E293B"/>
                </a:solidFill>
                <a:latin typeface="Calibri"/>
              </a:defRPr>
            </a:pPr>
            <a:r>
              <a:t>Adapting a pre-trained model to a specific downstream task by updating its weights on task-specific data.</a:t>
            </a:r>
          </a:p>
        </p:txBody>
      </p:sp>
      <p:sp>
        <p:nvSpPr>
          <p:cNvPr id="10" name="Rounded Rectangle 9"/>
          <p:cNvSpPr/>
          <p:nvPr/>
        </p:nvSpPr>
        <p:spPr>
          <a:xfrm>
            <a:off x="594360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261872"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261872" cy="292608"/>
          </a:xfrm>
          <a:prstGeom prst="rect">
            <a:avLst/>
          </a:prstGeom>
          <a:noFill/>
        </p:spPr>
        <p:txBody>
          <a:bodyPr wrap="none">
            <a:spAutoFit/>
          </a:bodyPr>
          <a:lstStyle/>
          <a:p>
            <a:pPr algn="ctr">
              <a:defRPr sz="1100" b="1">
                <a:solidFill>
                  <a:srgbClr val="FFFFFF"/>
                </a:solidFill>
                <a:latin typeface="Calibri"/>
              </a:defRPr>
            </a:pPr>
            <a:r>
              <a:t>Domain shift</a:t>
            </a:r>
          </a:p>
        </p:txBody>
      </p:sp>
      <p:sp>
        <p:nvSpPr>
          <p:cNvPr id="13" name="TextBox 12"/>
          <p:cNvSpPr txBox="1"/>
          <p:nvPr/>
        </p:nvSpPr>
        <p:spPr>
          <a:xfrm>
            <a:off x="7342632" y="1157731"/>
            <a:ext cx="3538728" cy="1945640"/>
          </a:xfrm>
          <a:prstGeom prst="rect">
            <a:avLst/>
          </a:prstGeom>
          <a:noFill/>
        </p:spPr>
        <p:txBody>
          <a:bodyPr wrap="square">
            <a:spAutoFit/>
          </a:bodyPr>
          <a:lstStyle/>
          <a:p>
            <a:pPr>
              <a:lnSpc>
                <a:spcPct val="130000"/>
              </a:lnSpc>
              <a:defRPr sz="1400">
                <a:solidFill>
                  <a:srgbClr val="1E293B"/>
                </a:solidFill>
                <a:latin typeface="Calibri"/>
              </a:defRPr>
            </a:pPr>
            <a:r>
              <a:t>Performance degradation when a model encounters data from a different distribution than its training set.</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645920" cy="292608"/>
          </a:xfrm>
          <a:prstGeom prst="rect">
            <a:avLst/>
          </a:prstGeom>
          <a:noFill/>
        </p:spPr>
        <p:txBody>
          <a:bodyPr wrap="none">
            <a:spAutoFit/>
          </a:bodyPr>
          <a:lstStyle/>
          <a:p>
            <a:pPr algn="ctr">
              <a:defRPr sz="1100" b="1">
                <a:solidFill>
                  <a:srgbClr val="FFFFFF"/>
                </a:solidFill>
                <a:latin typeface="Calibri"/>
              </a:defRPr>
            </a:pPr>
            <a:r>
              <a:t>Stochastic optimization</a:t>
            </a:r>
          </a:p>
        </p:txBody>
      </p:sp>
      <p:sp>
        <p:nvSpPr>
          <p:cNvPr id="17" name="TextBox 16"/>
          <p:cNvSpPr txBox="1"/>
          <p:nvPr/>
        </p:nvSpPr>
        <p:spPr>
          <a:xfrm>
            <a:off x="233172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Optimization methods that use randomness, such as stochastic gradient descent, to update model weights.</a:t>
            </a:r>
          </a:p>
        </p:txBody>
      </p:sp>
      <p:sp>
        <p:nvSpPr>
          <p:cNvPr id="18" name="Rounded Rectangle 17"/>
          <p:cNvSpPr/>
          <p:nvPr/>
        </p:nvSpPr>
        <p:spPr>
          <a:xfrm>
            <a:off x="5943600" y="3350260"/>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487420"/>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505708"/>
            <a:ext cx="1645920" cy="292608"/>
          </a:xfrm>
          <a:prstGeom prst="rect">
            <a:avLst/>
          </a:prstGeom>
          <a:noFill/>
        </p:spPr>
        <p:txBody>
          <a:bodyPr wrap="none">
            <a:spAutoFit/>
          </a:bodyPr>
          <a:lstStyle/>
          <a:p>
            <a:pPr algn="ctr">
              <a:defRPr sz="1100" b="1">
                <a:solidFill>
                  <a:srgbClr val="FFFFFF"/>
                </a:solidFill>
                <a:latin typeface="Calibri"/>
              </a:defRPr>
            </a:pPr>
            <a:r>
              <a:t>Stratified sampling</a:t>
            </a:r>
          </a:p>
        </p:txBody>
      </p:sp>
      <p:sp>
        <p:nvSpPr>
          <p:cNvPr id="21" name="TextBox 20"/>
          <p:cNvSpPr txBox="1"/>
          <p:nvPr/>
        </p:nvSpPr>
        <p:spPr>
          <a:xfrm>
            <a:off x="7726680" y="3459988"/>
            <a:ext cx="3154680" cy="1945640"/>
          </a:xfrm>
          <a:prstGeom prst="rect">
            <a:avLst/>
          </a:prstGeom>
          <a:noFill/>
        </p:spPr>
        <p:txBody>
          <a:bodyPr wrap="square">
            <a:spAutoFit/>
          </a:bodyPr>
          <a:lstStyle/>
          <a:p>
            <a:pPr>
              <a:lnSpc>
                <a:spcPct val="130000"/>
              </a:lnSpc>
              <a:defRPr sz="1400">
                <a:solidFill>
                  <a:srgbClr val="1E293B"/>
                </a:solidFill>
                <a:latin typeface="Calibri"/>
              </a:defRPr>
            </a:pPr>
            <a:r>
              <a:t>A sampling technique that ensures each subgroup or class is proportionally represented in the training data.</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1478280"/>
          </a:xfrm>
          <a:prstGeom prst="rect">
            <a:avLst/>
          </a:prstGeom>
          <a:noFill/>
        </p:spPr>
        <p:txBody>
          <a:bodyPr wrap="square">
            <a:spAutoFit/>
          </a:bodyPr>
          <a:lstStyle/>
          <a:p>
            <a:pPr>
              <a:defRPr sz="4400" b="1">
                <a:solidFill>
                  <a:srgbClr val="1E293B"/>
                </a:solidFill>
                <a:latin typeface="Calibri"/>
              </a:defRPr>
            </a:pPr>
            <a:r>
              <a:t>Hierarchical attention-based GNNs</a:t>
            </a:r>
          </a:p>
        </p:txBody>
      </p:sp>
      <p:sp>
        <p:nvSpPr>
          <p:cNvPr id="7" name="Rectangle 6"/>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9" name="TextBox 8"/>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Hierarchical attention-based GNNs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To overcome the limitations of existing graph models that</a:t>
            </a:r>
          </a:p>
          <a:p>
            <a:pPr>
              <a:lnSpc>
                <a:spcPct val="135000"/>
              </a:lnSpc>
              <a:spcAft>
                <a:spcPts val="1000"/>
              </a:spcAft>
              <a:defRPr sz="1600">
                <a:solidFill>
                  <a:srgbClr val="1E293B"/>
                </a:solidFill>
                <a:latin typeface="Calibri"/>
              </a:defRPr>
            </a:pPr>
            <a:r>
              <a:rPr>
                <a:solidFill>
                  <a:srgbClr val="3B82F6"/>
                </a:solidFill>
              </a:rPr>
              <a:t>• struggle with complex propagation patterns, we implement</a:t>
            </a:r>
          </a:p>
          <a:p>
            <a:pPr>
              <a:lnSpc>
                <a:spcPct val="135000"/>
              </a:lnSpc>
              <a:spcAft>
                <a:spcPts val="1000"/>
              </a:spcAft>
              <a:defRPr sz="1600">
                <a:solidFill>
                  <a:srgbClr val="1E293B"/>
                </a:solidFill>
                <a:latin typeface="Calibri"/>
              </a:defRPr>
            </a:pPr>
            <a:r>
              <a:rPr>
                <a:solidFill>
                  <a:srgbClr val="3B82F6"/>
                </a:solidFill>
              </a:rPr>
              <a:t>• hierarchical, attention-based Graph Neural Networks (GNNs).</a:t>
            </a:r>
          </a:p>
          <a:p>
            <a:pPr>
              <a:lnSpc>
                <a:spcPct val="135000"/>
              </a:lnSpc>
              <a:spcAft>
                <a:spcPts val="1000"/>
              </a:spcAft>
              <a:defRPr sz="1600">
                <a:solidFill>
                  <a:srgbClr val="1E293B"/>
                </a:solidFill>
                <a:latin typeface="Calibri"/>
              </a:defRPr>
            </a:pPr>
            <a:r>
              <a:rPr>
                <a:solidFill>
                  <a:srgbClr val="3B82F6"/>
                </a:solidFill>
              </a:rPr>
              <a:t>• This approach utilizes an encoder-decoder Transformer structure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Hierarchical attention-based GNNs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to aggregate structural representations from social networks.</a:t>
            </a:r>
          </a:p>
          <a:p>
            <a:pPr>
              <a:lnSpc>
                <a:spcPct val="135000"/>
              </a:lnSpc>
              <a:spcAft>
                <a:spcPts val="1000"/>
              </a:spcAft>
              <a:defRPr sz="1600">
                <a:solidFill>
                  <a:srgbClr val="1E293B"/>
                </a:solidFill>
                <a:latin typeface="Calibri"/>
              </a:defRPr>
            </a:pPr>
            <a:r>
              <a:rPr>
                <a:solidFill>
                  <a:srgbClr val="3B82F6"/>
                </a:solidFill>
              </a:rPr>
              <a:t>• Unlike flat graph models, this hierarchical design allows the</a:t>
            </a:r>
          </a:p>
          <a:p>
            <a:pPr>
              <a:lnSpc>
                <a:spcPct val="135000"/>
              </a:lnSpc>
              <a:spcAft>
                <a:spcPts val="1000"/>
              </a:spcAft>
              <a:defRPr sz="1600">
                <a:solidFill>
                  <a:srgbClr val="1E293B"/>
                </a:solidFill>
                <a:latin typeface="Calibri"/>
              </a:defRPr>
            </a:pPr>
            <a:r>
              <a:rPr>
                <a:solidFill>
                  <a:srgbClr val="3B82F6"/>
                </a:solidFill>
              </a:rPr>
              <a:t>• system to model local multi-modal semantics alongside global</a:t>
            </a:r>
          </a:p>
          <a:p>
            <a:pPr>
              <a:lnSpc>
                <a:spcPct val="135000"/>
              </a:lnSpc>
              <a:spcAft>
                <a:spcPts val="1000"/>
              </a:spcAft>
              <a:defRPr sz="1600">
                <a:solidFill>
                  <a:srgbClr val="1E293B"/>
                </a:solidFill>
                <a:latin typeface="Calibri"/>
              </a:defRPr>
            </a:pPr>
            <a:r>
              <a:rPr>
                <a:solidFill>
                  <a:srgbClr val="3B82F6"/>
                </a:solidFill>
              </a:rPr>
              <a:t>• structural representations.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Hierarchical attention-based GNNs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By employing a Random Walk with Restart (RWR) strategy, the model</a:t>
            </a:r>
          </a:p>
          <a:p>
            <a:pPr>
              <a:lnSpc>
                <a:spcPct val="135000"/>
              </a:lnSpc>
              <a:spcAft>
                <a:spcPts val="1000"/>
              </a:spcAft>
              <a:defRPr sz="1600">
                <a:solidFill>
                  <a:srgbClr val="1E293B"/>
                </a:solidFill>
                <a:latin typeface="Calibri"/>
              </a:defRPr>
            </a:pPr>
            <a:r>
              <a:rPr>
                <a:solidFill>
                  <a:srgbClr val="3B82F6"/>
                </a:solidFill>
              </a:rPr>
              <a:t>• effectively samples neighbors to determine the order of</a:t>
            </a:r>
          </a:p>
          <a:p>
            <a:pPr>
              <a:lnSpc>
                <a:spcPct val="135000"/>
              </a:lnSpc>
              <a:spcAft>
                <a:spcPts val="1000"/>
              </a:spcAft>
              <a:defRPr sz="1600">
                <a:solidFill>
                  <a:srgbClr val="1E293B"/>
                </a:solidFill>
                <a:latin typeface="Calibri"/>
              </a:defRPr>
            </a:pPr>
            <a:r>
              <a:rPr>
                <a:solidFill>
                  <a:srgbClr val="3B82F6"/>
                </a:solidFill>
              </a:rPr>
              <a:t>• information flow, ensuring that the most relevant structural</a:t>
            </a:r>
          </a:p>
          <a:p>
            <a:pPr>
              <a:lnSpc>
                <a:spcPct val="135000"/>
              </a:lnSpc>
              <a:spcAft>
                <a:spcPts val="1000"/>
              </a:spcAft>
              <a:defRPr sz="1600">
                <a:solidFill>
                  <a:srgbClr val="1E293B"/>
                </a:solidFill>
                <a:latin typeface="Calibri"/>
              </a:defRPr>
            </a:pPr>
            <a:r>
              <a:rPr>
                <a:solidFill>
                  <a:srgbClr val="3B82F6"/>
                </a:solidFill>
              </a:rPr>
              <a:t>• context is prioritized.</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Hierarchical attention-based GNNs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This hierarchical attention mechanism enables the model to</a:t>
            </a:r>
          </a:p>
          <a:p>
            <a:pPr>
              <a:lnSpc>
                <a:spcPct val="135000"/>
              </a:lnSpc>
              <a:spcAft>
                <a:spcPts val="1000"/>
              </a:spcAft>
              <a:defRPr sz="1600">
                <a:solidFill>
                  <a:srgbClr val="1E293B"/>
                </a:solidFill>
                <a:latin typeface="Calibri"/>
              </a:defRPr>
            </a:pPr>
            <a:r>
              <a:rPr>
                <a:solidFill>
                  <a:srgbClr val="3B82F6"/>
                </a:solidFill>
              </a:rPr>
              <a:t>• distinguish between real and fake news by capturing the</a:t>
            </a:r>
          </a:p>
          <a:p>
            <a:pPr>
              <a:lnSpc>
                <a:spcPct val="135000"/>
              </a:lnSpc>
              <a:spcAft>
                <a:spcPts val="1000"/>
              </a:spcAft>
              <a:defRPr sz="1600">
                <a:solidFill>
                  <a:srgbClr val="1E293B"/>
                </a:solidFill>
                <a:latin typeface="Calibri"/>
              </a:defRPr>
            </a:pPr>
            <a:r>
              <a:rPr>
                <a:solidFill>
                  <a:srgbClr val="3B82F6"/>
                </a:solidFill>
              </a:rPr>
              <a:t>• propagation dynamics that are often lost in simpler graph</a:t>
            </a:r>
          </a:p>
          <a:p>
            <a:pPr>
              <a:lnSpc>
                <a:spcPct val="135000"/>
              </a:lnSpc>
              <a:spcAft>
                <a:spcPts val="1000"/>
              </a:spcAft>
              <a:defRPr sz="1600">
                <a:solidFill>
                  <a:srgbClr val="1E293B"/>
                </a:solidFill>
                <a:latin typeface="Calibri"/>
              </a:defRPr>
            </a:pPr>
            <a:r>
              <a:rPr>
                <a:solidFill>
                  <a:srgbClr val="3B82F6"/>
                </a:solidFill>
              </a:rPr>
              <a:t>• representations, effectively bridging the gap between</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Hierarchical attention-based GNNs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content-based semantics and network-based structural features.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Hierarchical attention-based GNNs</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21384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213842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HetTransformer model utilizes this hierarchical structure to integrate multi-modal content semantics with global structural representations, which is a key advancement over previous models like HMGNN or GLAN that were constrained by rigid meta-path structures.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4051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50876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508760" cy="292608"/>
          </a:xfrm>
          <a:prstGeom prst="rect">
            <a:avLst/>
          </a:prstGeom>
          <a:noFill/>
        </p:spPr>
        <p:txBody>
          <a:bodyPr wrap="none">
            <a:spAutoFit/>
          </a:bodyPr>
          <a:lstStyle/>
          <a:p>
            <a:pPr algn="ctr">
              <a:defRPr sz="1100" b="1">
                <a:solidFill>
                  <a:srgbClr val="FFFFFF"/>
                </a:solidFill>
                <a:latin typeface="Calibri"/>
              </a:defRPr>
            </a:pPr>
            <a:r>
              <a:t>Encoder-decoder</a:t>
            </a:r>
          </a:p>
        </p:txBody>
      </p:sp>
      <p:sp>
        <p:nvSpPr>
          <p:cNvPr id="9" name="TextBox 8"/>
          <p:cNvSpPr txBox="1"/>
          <p:nvPr/>
        </p:nvSpPr>
        <p:spPr>
          <a:xfrm>
            <a:off x="2194560" y="1157731"/>
            <a:ext cx="3291840" cy="2185669"/>
          </a:xfrm>
          <a:prstGeom prst="rect">
            <a:avLst/>
          </a:prstGeom>
          <a:noFill/>
        </p:spPr>
        <p:txBody>
          <a:bodyPr wrap="square">
            <a:spAutoFit/>
          </a:bodyPr>
          <a:lstStyle/>
          <a:p>
            <a:pPr>
              <a:lnSpc>
                <a:spcPct val="130000"/>
              </a:lnSpc>
              <a:defRPr sz="1400">
                <a:solidFill>
                  <a:srgbClr val="1E293B"/>
                </a:solidFill>
                <a:latin typeface="Calibri"/>
              </a:defRPr>
            </a:pPr>
            <a:r>
              <a:t>A neural network architecture with separate encoding and decoding components for processing and generating representations.</a:t>
            </a:r>
          </a:p>
        </p:txBody>
      </p:sp>
      <p:sp>
        <p:nvSpPr>
          <p:cNvPr id="10" name="Rounded Rectangle 9"/>
          <p:cNvSpPr/>
          <p:nvPr/>
        </p:nvSpPr>
        <p:spPr>
          <a:xfrm>
            <a:off x="5943600" y="1048004"/>
            <a:ext cx="5120640" cy="24051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645920" cy="292608"/>
          </a:xfrm>
          <a:prstGeom prst="rect">
            <a:avLst/>
          </a:prstGeom>
          <a:noFill/>
        </p:spPr>
        <p:txBody>
          <a:bodyPr wrap="none">
            <a:spAutoFit/>
          </a:bodyPr>
          <a:lstStyle/>
          <a:p>
            <a:pPr algn="ctr">
              <a:defRPr sz="1100" b="1">
                <a:solidFill>
                  <a:srgbClr val="FFFFFF"/>
                </a:solidFill>
                <a:latin typeface="Calibri"/>
              </a:defRPr>
            </a:pPr>
            <a:r>
              <a:t>Random Walk with Restart</a:t>
            </a:r>
          </a:p>
        </p:txBody>
      </p:sp>
      <p:sp>
        <p:nvSpPr>
          <p:cNvPr id="13" name="TextBox 12"/>
          <p:cNvSpPr txBox="1"/>
          <p:nvPr/>
        </p:nvSpPr>
        <p:spPr>
          <a:xfrm>
            <a:off x="7726680" y="1157731"/>
            <a:ext cx="3154680" cy="2185669"/>
          </a:xfrm>
          <a:prstGeom prst="rect">
            <a:avLst/>
          </a:prstGeom>
          <a:noFill/>
        </p:spPr>
        <p:txBody>
          <a:bodyPr wrap="square">
            <a:spAutoFit/>
          </a:bodyPr>
          <a:lstStyle/>
          <a:p>
            <a:pPr>
              <a:lnSpc>
                <a:spcPct val="130000"/>
              </a:lnSpc>
              <a:defRPr sz="1400">
                <a:solidFill>
                  <a:srgbClr val="1E293B"/>
                </a:solidFill>
                <a:latin typeface="Calibri"/>
              </a:defRPr>
            </a:pPr>
            <a:r>
              <a:t>A graph algorithm that measures node proximity by performing random walks with periodic returns to the source node.</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645920" cy="292608"/>
          </a:xfrm>
          <a:prstGeom prst="rect">
            <a:avLst/>
          </a:prstGeom>
          <a:noFill/>
        </p:spPr>
        <p:txBody>
          <a:bodyPr wrap="none">
            <a:spAutoFit/>
          </a:bodyPr>
          <a:lstStyle/>
          <a:p>
            <a:pPr algn="ctr">
              <a:defRPr sz="1100" b="1">
                <a:solidFill>
                  <a:srgbClr val="FFFFFF"/>
                </a:solidFill>
                <a:latin typeface="Calibri"/>
              </a:defRPr>
            </a:pPr>
            <a:r>
              <a:t>Propagation patterns</a:t>
            </a:r>
          </a:p>
        </p:txBody>
      </p:sp>
      <p:sp>
        <p:nvSpPr>
          <p:cNvPr id="17" name="TextBox 16"/>
          <p:cNvSpPr txBox="1"/>
          <p:nvPr/>
        </p:nvSpPr>
        <p:spPr>
          <a:xfrm>
            <a:off x="233172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The characteristic ways in which information spreads through a network over time.</a:t>
            </a:r>
          </a:p>
        </p:txBody>
      </p:sp>
      <p:sp>
        <p:nvSpPr>
          <p:cNvPr id="18" name="Rounded Rectangle 17"/>
          <p:cNvSpPr/>
          <p:nvPr/>
        </p:nvSpPr>
        <p:spPr>
          <a:xfrm>
            <a:off x="5943600" y="2870200"/>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007360"/>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025648"/>
            <a:ext cx="1645920" cy="292608"/>
          </a:xfrm>
          <a:prstGeom prst="rect">
            <a:avLst/>
          </a:prstGeom>
          <a:noFill/>
        </p:spPr>
        <p:txBody>
          <a:bodyPr wrap="none">
            <a:spAutoFit/>
          </a:bodyPr>
          <a:lstStyle/>
          <a:p>
            <a:pPr algn="ctr">
              <a:defRPr sz="1100" b="1">
                <a:solidFill>
                  <a:srgbClr val="FFFFFF"/>
                </a:solidFill>
                <a:latin typeface="Calibri"/>
              </a:defRPr>
            </a:pPr>
            <a:r>
              <a:t>Structural representation</a:t>
            </a:r>
          </a:p>
        </p:txBody>
      </p:sp>
      <p:sp>
        <p:nvSpPr>
          <p:cNvPr id="21" name="TextBox 20"/>
          <p:cNvSpPr txBox="1"/>
          <p:nvPr/>
        </p:nvSpPr>
        <p:spPr>
          <a:xfrm>
            <a:off x="7726680" y="2979928"/>
            <a:ext cx="3154680" cy="1465580"/>
          </a:xfrm>
          <a:prstGeom prst="rect">
            <a:avLst/>
          </a:prstGeom>
          <a:noFill/>
        </p:spPr>
        <p:txBody>
          <a:bodyPr wrap="square">
            <a:spAutoFit/>
          </a:bodyPr>
          <a:lstStyle/>
          <a:p>
            <a:pPr>
              <a:lnSpc>
                <a:spcPct val="130000"/>
              </a:lnSpc>
              <a:defRPr sz="1400">
                <a:solidFill>
                  <a:srgbClr val="1E293B"/>
                </a:solidFill>
                <a:latin typeface="Calibri"/>
              </a:defRPr>
            </a:pPr>
            <a:r>
              <a:t>A mathematical encoding of the connectivity and topology of a graph.</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1478280"/>
          </a:xfrm>
          <a:prstGeom prst="rect">
            <a:avLst/>
          </a:prstGeom>
          <a:noFill/>
        </p:spPr>
        <p:txBody>
          <a:bodyPr wrap="square">
            <a:spAutoFit/>
          </a:bodyPr>
          <a:lstStyle/>
          <a:p>
            <a:pPr>
              <a:defRPr sz="4400" b="1">
                <a:solidFill>
                  <a:srgbClr val="1E293B"/>
                </a:solidFill>
                <a:latin typeface="Calibri"/>
              </a:defRPr>
            </a:pPr>
            <a:r>
              <a:t>Type-specific transformation matrices</a:t>
            </a:r>
          </a:p>
        </p:txBody>
      </p:sp>
      <p:sp>
        <p:nvSpPr>
          <p:cNvPr id="7" name="Rectangle 6"/>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9" name="TextBox 8"/>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Type-specific transformation matrices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A critical component in modeling heterogeneous social networks is</a:t>
            </a:r>
          </a:p>
          <a:p>
            <a:pPr>
              <a:lnSpc>
                <a:spcPct val="135000"/>
              </a:lnSpc>
              <a:spcAft>
                <a:spcPts val="1000"/>
              </a:spcAft>
              <a:defRPr sz="1600">
                <a:solidFill>
                  <a:srgbClr val="1E293B"/>
                </a:solidFill>
                <a:latin typeface="Calibri"/>
              </a:defRPr>
            </a:pPr>
            <a:r>
              <a:rPr>
                <a:solidFill>
                  <a:srgbClr val="3B82F6"/>
                </a:solidFill>
              </a:rPr>
              <a:t>• the use of type-specific transformation matrices, denoted as M φi</a:t>
            </a:r>
          </a:p>
          <a:p>
            <a:pPr>
              <a:lnSpc>
                <a:spcPct val="135000"/>
              </a:lnSpc>
              <a:spcAft>
                <a:spcPts val="1000"/>
              </a:spcAft>
              <a:defRPr sz="1600">
                <a:solidFill>
                  <a:srgbClr val="1E293B"/>
                </a:solidFill>
                <a:latin typeface="Calibri"/>
              </a:defRPr>
            </a:pPr>
            <a:r>
              <a:rPr>
                <a:solidFill>
                  <a:srgbClr val="3B82F6"/>
                </a:solidFill>
              </a:rPr>
              <a:t>• k.</a:t>
            </a:r>
          </a:p>
          <a:p>
            <a:pPr>
              <a:lnSpc>
                <a:spcPct val="135000"/>
              </a:lnSpc>
              <a:spcAft>
                <a:spcPts val="1000"/>
              </a:spcAft>
              <a:defRPr sz="1600">
                <a:solidFill>
                  <a:srgbClr val="1E293B"/>
                </a:solidFill>
                <a:latin typeface="Calibri"/>
              </a:defRPr>
            </a:pPr>
            <a:r>
              <a:rPr>
                <a:solidFill>
                  <a:srgbClr val="3B82F6"/>
                </a:solidFill>
              </a:rPr>
              <a:t>• Because social networks contain diverse node types (e.g., users,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Type-specific transformation matrices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news articles, posts) and edge types, a uniform projection is</a:t>
            </a:r>
          </a:p>
          <a:p>
            <a:pPr>
              <a:lnSpc>
                <a:spcPct val="135000"/>
              </a:lnSpc>
              <a:spcAft>
                <a:spcPts val="1000"/>
              </a:spcAft>
              <a:defRPr sz="1600">
                <a:solidFill>
                  <a:srgbClr val="1E293B"/>
                </a:solidFill>
                <a:latin typeface="Calibri"/>
              </a:defRPr>
            </a:pPr>
            <a:r>
              <a:rPr>
                <a:solidFill>
                  <a:srgbClr val="3B82F6"/>
                </a:solidFill>
              </a:rPr>
              <a:t>• insufficient.</a:t>
            </a:r>
          </a:p>
          <a:p>
            <a:pPr>
              <a:lnSpc>
                <a:spcPct val="135000"/>
              </a:lnSpc>
              <a:spcAft>
                <a:spcPts val="1000"/>
              </a:spcAft>
              <a:defRPr sz="1600">
                <a:solidFill>
                  <a:srgbClr val="1E293B"/>
                </a:solidFill>
                <a:latin typeface="Calibri"/>
              </a:defRPr>
            </a:pPr>
            <a:r>
              <a:rPr>
                <a:solidFill>
                  <a:srgbClr val="3B82F6"/>
                </a:solidFill>
              </a:rPr>
              <a:t>• These matrices project the embedding of attribute type i from</a:t>
            </a:r>
          </a:p>
          <a:p>
            <a:pPr>
              <a:lnSpc>
                <a:spcPct val="135000"/>
              </a:lnSpc>
              <a:spcAft>
                <a:spcPts val="1000"/>
              </a:spcAft>
              <a:defRPr sz="1600">
                <a:solidFill>
                  <a:srgbClr val="1E293B"/>
                </a:solidFill>
                <a:latin typeface="Calibri"/>
              </a:defRPr>
            </a:pPr>
            <a:r>
              <a:rPr>
                <a:solidFill>
                  <a:srgbClr val="3B82F6"/>
                </a:solidFill>
              </a:rPr>
              <a:t>• node type k into a unified dimension size d.</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Type-specific transformation matrices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This ensures that heterogeneous features—which may have different</a:t>
            </a:r>
          </a:p>
          <a:p>
            <a:pPr>
              <a:lnSpc>
                <a:spcPct val="135000"/>
              </a:lnSpc>
              <a:spcAft>
                <a:spcPts val="1000"/>
              </a:spcAft>
              <a:defRPr sz="1600">
                <a:solidFill>
                  <a:srgbClr val="1E293B"/>
                </a:solidFill>
                <a:latin typeface="Calibri"/>
              </a:defRPr>
            </a:pPr>
            <a:r>
              <a:rPr>
                <a:solidFill>
                  <a:srgbClr val="3B82F6"/>
                </a:solidFill>
              </a:rPr>
              <a:t>• initial dimensions—are mapped into a common latent space where</a:t>
            </a:r>
          </a:p>
          <a:p>
            <a:pPr>
              <a:lnSpc>
                <a:spcPct val="135000"/>
              </a:lnSpc>
              <a:spcAft>
                <a:spcPts val="1000"/>
              </a:spcAft>
              <a:defRPr sz="1600">
                <a:solidFill>
                  <a:srgbClr val="1E293B"/>
                </a:solidFill>
                <a:latin typeface="Calibri"/>
              </a:defRPr>
            </a:pPr>
            <a:r>
              <a:rPr>
                <a:solidFill>
                  <a:srgbClr val="3B82F6"/>
                </a:solidFill>
              </a:rPr>
              <a:t>• they can be compared and aggregated.</a:t>
            </a:r>
          </a:p>
          <a:p>
            <a:pPr>
              <a:lnSpc>
                <a:spcPct val="135000"/>
              </a:lnSpc>
              <a:spcAft>
                <a:spcPts val="1000"/>
              </a:spcAft>
              <a:defRPr sz="1600">
                <a:solidFill>
                  <a:srgbClr val="1E293B"/>
                </a:solidFill>
                <a:latin typeface="Calibri"/>
              </a:defRPr>
            </a:pPr>
            <a:r>
              <a:rPr>
                <a:solidFill>
                  <a:srgbClr val="3B82F6"/>
                </a:solidFill>
              </a:rPr>
              <a:t>• By applying these matrices, the model can effectively handle the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Type-specific transformation matrices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heterogeneity of nodes and edges, allowing the attention</a:t>
            </a:r>
          </a:p>
          <a:p>
            <a:pPr>
              <a:lnSpc>
                <a:spcPct val="135000"/>
              </a:lnSpc>
              <a:spcAft>
                <a:spcPts val="1000"/>
              </a:spcAft>
              <a:defRPr sz="1600">
                <a:solidFill>
                  <a:srgbClr val="1E293B"/>
                </a:solidFill>
                <a:latin typeface="Calibri"/>
              </a:defRPr>
            </a:pPr>
            <a:r>
              <a:rPr>
                <a:solidFill>
                  <a:srgbClr val="3B82F6"/>
                </a:solidFill>
              </a:rPr>
              <a:t>• mechanism to operate on a consistent feature space.</a:t>
            </a:r>
          </a:p>
          <a:p>
            <a:pPr>
              <a:lnSpc>
                <a:spcPct val="135000"/>
              </a:lnSpc>
              <a:spcAft>
                <a:spcPts val="1000"/>
              </a:spcAft>
              <a:defRPr sz="1600">
                <a:solidFill>
                  <a:srgbClr val="1E293B"/>
                </a:solidFill>
                <a:latin typeface="Calibri"/>
              </a:defRPr>
            </a:pPr>
            <a:r>
              <a:rPr>
                <a:solidFill>
                  <a:srgbClr val="3B82F6"/>
                </a:solidFill>
              </a:rPr>
              <a:t>• This is essential for the HetTransformer to maintain the</a:t>
            </a:r>
          </a:p>
          <a:p>
            <a:pPr>
              <a:lnSpc>
                <a:spcPct val="135000"/>
              </a:lnSpc>
              <a:spcAft>
                <a:spcPts val="1000"/>
              </a:spcAft>
              <a:defRPr sz="1600">
                <a:solidFill>
                  <a:srgbClr val="1E293B"/>
                </a:solidFill>
                <a:latin typeface="Calibri"/>
              </a:defRPr>
            </a:pPr>
            <a:r>
              <a:rPr>
                <a:solidFill>
                  <a:srgbClr val="3B82F6"/>
                </a:solidFill>
              </a:rPr>
              <a:t>• integrity of node-specific information while performing global</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Type-specific transformation matrices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structural aggregation.</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Type-specific transformation matrices</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Implementation notes specify that the embedding size of attribute type i from node type k (dik) is projected to a unified dimension size d using these type-specific matrices, which is a foundational step in the HetTransformer architecture.</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Transformation matrices</a:t>
            </a:r>
          </a:p>
        </p:txBody>
      </p:sp>
      <p:sp>
        <p:nvSpPr>
          <p:cNvPr id="9" name="TextBox 8"/>
          <p:cNvSpPr txBox="1"/>
          <p:nvPr/>
        </p:nvSpPr>
        <p:spPr>
          <a:xfrm>
            <a:off x="2331720" y="1157731"/>
            <a:ext cx="3154680" cy="1465580"/>
          </a:xfrm>
          <a:prstGeom prst="rect">
            <a:avLst/>
          </a:prstGeom>
          <a:noFill/>
        </p:spPr>
        <p:txBody>
          <a:bodyPr wrap="square">
            <a:spAutoFit/>
          </a:bodyPr>
          <a:lstStyle/>
          <a:p>
            <a:pPr>
              <a:lnSpc>
                <a:spcPct val="130000"/>
              </a:lnSpc>
              <a:defRPr sz="1400">
                <a:solidFill>
                  <a:srgbClr val="1E293B"/>
                </a:solidFill>
                <a:latin typeface="Calibri"/>
              </a:defRPr>
            </a:pPr>
            <a:r>
              <a:t>Mathematical operators that map vectors from one space to another.</a:t>
            </a:r>
          </a:p>
        </p:txBody>
      </p:sp>
      <p:sp>
        <p:nvSpPr>
          <p:cNvPr id="10" name="Rounded Rectangle 9"/>
          <p:cNvSpPr/>
          <p:nvPr/>
        </p:nvSpPr>
        <p:spPr>
          <a:xfrm>
            <a:off x="594360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34416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344168" cy="292608"/>
          </a:xfrm>
          <a:prstGeom prst="rect">
            <a:avLst/>
          </a:prstGeom>
          <a:noFill/>
        </p:spPr>
        <p:txBody>
          <a:bodyPr wrap="none">
            <a:spAutoFit/>
          </a:bodyPr>
          <a:lstStyle/>
          <a:p>
            <a:pPr algn="ctr">
              <a:defRPr sz="1100" b="1">
                <a:solidFill>
                  <a:srgbClr val="FFFFFF"/>
                </a:solidFill>
                <a:latin typeface="Calibri"/>
              </a:defRPr>
            </a:pPr>
            <a:r>
              <a:t>Heterogeneity</a:t>
            </a:r>
          </a:p>
        </p:txBody>
      </p:sp>
      <p:sp>
        <p:nvSpPr>
          <p:cNvPr id="13" name="TextBox 12"/>
          <p:cNvSpPr txBox="1"/>
          <p:nvPr/>
        </p:nvSpPr>
        <p:spPr>
          <a:xfrm>
            <a:off x="7424928" y="1157731"/>
            <a:ext cx="3456432" cy="1705610"/>
          </a:xfrm>
          <a:prstGeom prst="rect">
            <a:avLst/>
          </a:prstGeom>
          <a:noFill/>
        </p:spPr>
        <p:txBody>
          <a:bodyPr wrap="square">
            <a:spAutoFit/>
          </a:bodyPr>
          <a:lstStyle/>
          <a:p>
            <a:pPr>
              <a:lnSpc>
                <a:spcPct val="130000"/>
              </a:lnSpc>
              <a:defRPr sz="1400">
                <a:solidFill>
                  <a:srgbClr val="1E293B"/>
                </a:solidFill>
                <a:latin typeface="Calibri"/>
              </a:defRPr>
            </a:pPr>
            <a:r>
              <a:t>The presence of multiple distinct types or classes within a dataset or graph.</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261872"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261872" cy="292608"/>
          </a:xfrm>
          <a:prstGeom prst="rect">
            <a:avLst/>
          </a:prstGeom>
          <a:noFill/>
        </p:spPr>
        <p:txBody>
          <a:bodyPr wrap="none">
            <a:spAutoFit/>
          </a:bodyPr>
          <a:lstStyle/>
          <a:p>
            <a:pPr algn="ctr">
              <a:defRPr sz="1100" b="1">
                <a:solidFill>
                  <a:srgbClr val="FFFFFF"/>
                </a:solidFill>
                <a:latin typeface="Calibri"/>
              </a:defRPr>
            </a:pPr>
            <a:r>
              <a:t>Latent space</a:t>
            </a:r>
          </a:p>
        </p:txBody>
      </p:sp>
      <p:sp>
        <p:nvSpPr>
          <p:cNvPr id="17" name="TextBox 16"/>
          <p:cNvSpPr txBox="1"/>
          <p:nvPr/>
        </p:nvSpPr>
        <p:spPr>
          <a:xfrm>
            <a:off x="1947672" y="3219958"/>
            <a:ext cx="3538728" cy="1705610"/>
          </a:xfrm>
          <a:prstGeom prst="rect">
            <a:avLst/>
          </a:prstGeom>
          <a:noFill/>
        </p:spPr>
        <p:txBody>
          <a:bodyPr wrap="square">
            <a:spAutoFit/>
          </a:bodyPr>
          <a:lstStyle/>
          <a:p>
            <a:pPr>
              <a:lnSpc>
                <a:spcPct val="130000"/>
              </a:lnSpc>
              <a:defRPr sz="1400">
                <a:solidFill>
                  <a:srgbClr val="1E293B"/>
                </a:solidFill>
                <a:latin typeface="Calibri"/>
              </a:defRPr>
            </a:pPr>
            <a:r>
              <a:t>A compressed, learned representation space where similar items are positioned closer together.</a:t>
            </a:r>
          </a:p>
        </p:txBody>
      </p:sp>
      <p:sp>
        <p:nvSpPr>
          <p:cNvPr id="18" name="Rounded Rectangle 17"/>
          <p:cNvSpPr/>
          <p:nvPr/>
        </p:nvSpPr>
        <p:spPr>
          <a:xfrm>
            <a:off x="5943600" y="3350260"/>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487420"/>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505708"/>
            <a:ext cx="1645920" cy="292608"/>
          </a:xfrm>
          <a:prstGeom prst="rect">
            <a:avLst/>
          </a:prstGeom>
          <a:noFill/>
        </p:spPr>
        <p:txBody>
          <a:bodyPr wrap="none">
            <a:spAutoFit/>
          </a:bodyPr>
          <a:lstStyle/>
          <a:p>
            <a:pPr algn="ctr">
              <a:defRPr sz="1100" b="1">
                <a:solidFill>
                  <a:srgbClr val="FFFFFF"/>
                </a:solidFill>
                <a:latin typeface="Calibri"/>
              </a:defRPr>
            </a:pPr>
            <a:r>
              <a:t>Feature projection</a:t>
            </a:r>
          </a:p>
        </p:txBody>
      </p:sp>
      <p:sp>
        <p:nvSpPr>
          <p:cNvPr id="21" name="TextBox 20"/>
          <p:cNvSpPr txBox="1"/>
          <p:nvPr/>
        </p:nvSpPr>
        <p:spPr>
          <a:xfrm>
            <a:off x="7726680" y="3459988"/>
            <a:ext cx="3154680" cy="1945640"/>
          </a:xfrm>
          <a:prstGeom prst="rect">
            <a:avLst/>
          </a:prstGeom>
          <a:noFill/>
        </p:spPr>
        <p:txBody>
          <a:bodyPr wrap="square">
            <a:spAutoFit/>
          </a:bodyPr>
          <a:lstStyle/>
          <a:p>
            <a:pPr>
              <a:lnSpc>
                <a:spcPct val="130000"/>
              </a:lnSpc>
              <a:defRPr sz="1400">
                <a:solidFill>
                  <a:srgbClr val="1E293B"/>
                </a:solidFill>
                <a:latin typeface="Calibri"/>
              </a:defRPr>
            </a:pPr>
            <a:r>
              <a:t>The process of mapping features from their original space to a new, often lower-dimensional, space.</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1478280"/>
          </a:xfrm>
          <a:prstGeom prst="rect">
            <a:avLst/>
          </a:prstGeom>
          <a:noFill/>
        </p:spPr>
        <p:txBody>
          <a:bodyPr wrap="square">
            <a:spAutoFit/>
          </a:bodyPr>
          <a:lstStyle/>
          <a:p>
            <a:pPr>
              <a:defRPr sz="4400" b="1">
                <a:solidFill>
                  <a:srgbClr val="1E293B"/>
                </a:solidFill>
                <a:latin typeface="Calibri"/>
              </a:defRPr>
            </a:pPr>
            <a:r>
              <a:t>Performance metrics and experimental validation</a:t>
            </a:r>
          </a:p>
        </p:txBody>
      </p:sp>
      <p:sp>
        <p:nvSpPr>
          <p:cNvPr id="7" name="Rectangle 6"/>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9" name="TextBox 8"/>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Performance metrics and experimental validation</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Rigorous evaluation is necessary to validate the effectiveness of</a:t>
            </a:r>
          </a:p>
          <a:p>
            <a:pPr>
              <a:lnSpc>
                <a:spcPct val="135000"/>
              </a:lnSpc>
              <a:spcAft>
                <a:spcPts val="1000"/>
              </a:spcAft>
              <a:defRPr sz="1600">
                <a:solidFill>
                  <a:srgbClr val="1E293B"/>
                </a:solidFill>
                <a:latin typeface="Calibri"/>
              </a:defRPr>
            </a:pPr>
            <a:r>
              <a:rPr>
                <a:solidFill>
                  <a:srgbClr val="3B82F6"/>
                </a:solidFill>
              </a:rPr>
              <a:t>• advanced architectures.</a:t>
            </a:r>
          </a:p>
          <a:p>
            <a:pPr>
              <a:lnSpc>
                <a:spcPct val="135000"/>
              </a:lnSpc>
              <a:spcAft>
                <a:spcPts val="1000"/>
              </a:spcAft>
              <a:defRPr sz="1600">
                <a:solidFill>
                  <a:srgbClr val="1E293B"/>
                </a:solidFill>
                <a:latin typeface="Calibri"/>
              </a:defRPr>
            </a:pPr>
            <a:r>
              <a:rPr>
                <a:solidFill>
                  <a:srgbClr val="3B82F6"/>
                </a:solidFill>
              </a:rPr>
              <a:t>• Beyond simple accuracy, we employ a suite of metrics including</a:t>
            </a:r>
          </a:p>
          <a:p>
            <a:pPr>
              <a:lnSpc>
                <a:spcPct val="135000"/>
              </a:lnSpc>
              <a:spcAft>
                <a:spcPts val="1000"/>
              </a:spcAft>
              <a:defRPr sz="1600">
                <a:solidFill>
                  <a:srgbClr val="1E293B"/>
                </a:solidFill>
                <a:latin typeface="Calibri"/>
              </a:defRPr>
            </a:pPr>
            <a:r>
              <a:rPr>
                <a:solidFill>
                  <a:srgbClr val="3B82F6"/>
                </a:solidFill>
              </a:rPr>
              <a:t>• Precision, Recall, and F1-score to account for class imbalances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Performance metrics and experimental validation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common in fake news datasets.</a:t>
            </a:r>
          </a:p>
          <a:p>
            <a:pPr>
              <a:lnSpc>
                <a:spcPct val="135000"/>
              </a:lnSpc>
              <a:spcAft>
                <a:spcPts val="1000"/>
              </a:spcAft>
              <a:defRPr sz="1600">
                <a:solidFill>
                  <a:srgbClr val="1E293B"/>
                </a:solidFill>
                <a:latin typeface="Calibri"/>
              </a:defRPr>
            </a:pPr>
            <a:r>
              <a:rPr>
                <a:solidFill>
                  <a:srgbClr val="3B82F6"/>
                </a:solidFill>
              </a:rPr>
              <a:t>• To ensure statistical rigor, we utilize the Friedman test to</a:t>
            </a:r>
          </a:p>
          <a:p>
            <a:pPr>
              <a:lnSpc>
                <a:spcPct val="135000"/>
              </a:lnSpc>
              <a:spcAft>
                <a:spcPts val="1000"/>
              </a:spcAft>
              <a:defRPr sz="1600">
                <a:solidFill>
                  <a:srgbClr val="1E293B"/>
                </a:solidFill>
                <a:latin typeface="Calibri"/>
              </a:defRPr>
            </a:pPr>
            <a:r>
              <a:rPr>
                <a:solidFill>
                  <a:srgbClr val="3B82F6"/>
                </a:solidFill>
              </a:rPr>
              <a:t>• compare multiple models across heterogeneous datasets, followed</a:t>
            </a:r>
          </a:p>
          <a:p>
            <a:pPr>
              <a:lnSpc>
                <a:spcPct val="135000"/>
              </a:lnSpc>
              <a:spcAft>
                <a:spcPts val="1000"/>
              </a:spcAft>
              <a:defRPr sz="1600">
                <a:solidFill>
                  <a:srgbClr val="1E293B"/>
                </a:solidFill>
                <a:latin typeface="Calibri"/>
              </a:defRPr>
            </a:pPr>
            <a:r>
              <a:rPr>
                <a:solidFill>
                  <a:srgbClr val="3B82F6"/>
                </a:solidFill>
              </a:rPr>
              <a:t>• by post-hoc Nemenyi tests to identify significant performance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Performance metrics and experimental validation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differences.</a:t>
            </a:r>
          </a:p>
          <a:p>
            <a:pPr>
              <a:lnSpc>
                <a:spcPct val="135000"/>
              </a:lnSpc>
              <a:spcAft>
                <a:spcPts val="1000"/>
              </a:spcAft>
              <a:defRPr sz="1600">
                <a:solidFill>
                  <a:srgbClr val="1E293B"/>
                </a:solidFill>
                <a:latin typeface="Calibri"/>
              </a:defRPr>
            </a:pPr>
            <a:r>
              <a:rPr>
                <a:solidFill>
                  <a:srgbClr val="3B82F6"/>
                </a:solidFill>
              </a:rPr>
              <a:t>• This validation framework is crucial for assessing generalization</a:t>
            </a:r>
          </a:p>
          <a:p>
            <a:pPr>
              <a:lnSpc>
                <a:spcPct val="135000"/>
              </a:lnSpc>
              <a:spcAft>
                <a:spcPts val="1000"/>
              </a:spcAft>
              <a:defRPr sz="1600">
                <a:solidFill>
                  <a:srgbClr val="1E293B"/>
                </a:solidFill>
                <a:latin typeface="Calibri"/>
              </a:defRPr>
            </a:pPr>
            <a:r>
              <a:rPr>
                <a:solidFill>
                  <a:srgbClr val="3B82F6"/>
                </a:solidFill>
              </a:rPr>
              <a:t>• capabilities, particularly in cross-domain settings where models</a:t>
            </a:r>
          </a:p>
          <a:p>
            <a:pPr>
              <a:lnSpc>
                <a:spcPct val="135000"/>
              </a:lnSpc>
              <a:spcAft>
                <a:spcPts val="1000"/>
              </a:spcAft>
              <a:defRPr sz="1600">
                <a:solidFill>
                  <a:srgbClr val="1E293B"/>
                </a:solidFill>
                <a:latin typeface="Calibri"/>
              </a:defRPr>
            </a:pPr>
            <a:r>
              <a:rPr>
                <a:solidFill>
                  <a:srgbClr val="3B82F6"/>
                </a:solidFill>
              </a:rPr>
              <a:t>• are tested on datasets they were not trained on.</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Performance metrics and experimental validation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By measuring metrics like the coefficient of variation and gate</a:t>
            </a:r>
          </a:p>
          <a:p>
            <a:pPr>
              <a:lnSpc>
                <a:spcPct val="135000"/>
              </a:lnSpc>
              <a:spcAft>
                <a:spcPts val="1000"/>
              </a:spcAft>
              <a:defRPr sz="1600">
                <a:solidFill>
                  <a:srgbClr val="1E293B"/>
                </a:solidFill>
                <a:latin typeface="Calibri"/>
              </a:defRPr>
            </a:pPr>
            <a:r>
              <a:rPr>
                <a:solidFill>
                  <a:srgbClr val="3B82F6"/>
                </a:solidFill>
              </a:rPr>
              <a:t>• entropy, we can quantify the stability and reliability of the</a:t>
            </a:r>
          </a:p>
          <a:p>
            <a:pPr>
              <a:lnSpc>
                <a:spcPct val="135000"/>
              </a:lnSpc>
              <a:spcAft>
                <a:spcPts val="1000"/>
              </a:spcAft>
              <a:defRPr sz="1600">
                <a:solidFill>
                  <a:srgbClr val="1E293B"/>
                </a:solidFill>
                <a:latin typeface="Calibri"/>
              </a:defRPr>
            </a:pPr>
            <a:r>
              <a:rPr>
                <a:solidFill>
                  <a:srgbClr val="3B82F6"/>
                </a:solidFill>
              </a:rPr>
              <a:t>• detection models, ensuring that the proposed architectural</a:t>
            </a:r>
          </a:p>
          <a:p>
            <a:pPr>
              <a:lnSpc>
                <a:spcPct val="135000"/>
              </a:lnSpc>
              <a:spcAft>
                <a:spcPts val="1000"/>
              </a:spcAft>
              <a:defRPr sz="1600">
                <a:solidFill>
                  <a:srgbClr val="1E293B"/>
                </a:solidFill>
                <a:latin typeface="Calibri"/>
              </a:defRPr>
            </a:pPr>
            <a:r>
              <a:rPr>
                <a:solidFill>
                  <a:srgbClr val="3B82F6"/>
                </a:solidFill>
              </a:rPr>
              <a:t>• improvements translate into real-world performance gains.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Performance metrics and experimental validation</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study confirms statistical significance via the Friedman Test (p &lt; 0.05) and post-hoc Nemenyi test, providing a robust empirical basis for claiming that models like MERMAID and HetTransformer outperform traditional approaches.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34416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344168" cy="292608"/>
          </a:xfrm>
          <a:prstGeom prst="rect">
            <a:avLst/>
          </a:prstGeom>
          <a:noFill/>
        </p:spPr>
        <p:txBody>
          <a:bodyPr wrap="none">
            <a:spAutoFit/>
          </a:bodyPr>
          <a:lstStyle/>
          <a:p>
            <a:pPr algn="ctr">
              <a:defRPr sz="1100" b="1">
                <a:solidFill>
                  <a:srgbClr val="FFFFFF"/>
                </a:solidFill>
                <a:latin typeface="Calibri"/>
              </a:defRPr>
            </a:pPr>
            <a:r>
              <a:t>Friedman test</a:t>
            </a:r>
          </a:p>
        </p:txBody>
      </p:sp>
      <p:sp>
        <p:nvSpPr>
          <p:cNvPr id="9" name="TextBox 8"/>
          <p:cNvSpPr txBox="1"/>
          <p:nvPr/>
        </p:nvSpPr>
        <p:spPr>
          <a:xfrm>
            <a:off x="2029968" y="1157731"/>
            <a:ext cx="3456432" cy="1705610"/>
          </a:xfrm>
          <a:prstGeom prst="rect">
            <a:avLst/>
          </a:prstGeom>
          <a:noFill/>
        </p:spPr>
        <p:txBody>
          <a:bodyPr wrap="square">
            <a:spAutoFit/>
          </a:bodyPr>
          <a:lstStyle/>
          <a:p>
            <a:pPr>
              <a:lnSpc>
                <a:spcPct val="130000"/>
              </a:lnSpc>
              <a:defRPr sz="1400">
                <a:solidFill>
                  <a:srgbClr val="1E293B"/>
                </a:solidFill>
                <a:latin typeface="Calibri"/>
              </a:defRPr>
            </a:pPr>
            <a:r>
              <a:t>A non-parametric statistical test for comparing multiple algorithms across multiple datasets.</a:t>
            </a:r>
          </a:p>
        </p:txBody>
      </p:sp>
      <p:sp>
        <p:nvSpPr>
          <p:cNvPr id="10" name="Rounded Rectangle 9"/>
          <p:cNvSpPr/>
          <p:nvPr/>
        </p:nvSpPr>
        <p:spPr>
          <a:xfrm>
            <a:off x="5943600" y="1048004"/>
            <a:ext cx="5120640" cy="24051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261872"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261872" cy="292608"/>
          </a:xfrm>
          <a:prstGeom prst="rect">
            <a:avLst/>
          </a:prstGeom>
          <a:noFill/>
        </p:spPr>
        <p:txBody>
          <a:bodyPr wrap="none">
            <a:spAutoFit/>
          </a:bodyPr>
          <a:lstStyle/>
          <a:p>
            <a:pPr algn="ctr">
              <a:defRPr sz="1100" b="1">
                <a:solidFill>
                  <a:srgbClr val="FFFFFF"/>
                </a:solidFill>
                <a:latin typeface="Calibri"/>
              </a:defRPr>
            </a:pPr>
            <a:r>
              <a:t>Nemenyi test</a:t>
            </a:r>
          </a:p>
        </p:txBody>
      </p:sp>
      <p:sp>
        <p:nvSpPr>
          <p:cNvPr id="13" name="TextBox 12"/>
          <p:cNvSpPr txBox="1"/>
          <p:nvPr/>
        </p:nvSpPr>
        <p:spPr>
          <a:xfrm>
            <a:off x="7342632" y="1157731"/>
            <a:ext cx="3538728" cy="2185669"/>
          </a:xfrm>
          <a:prstGeom prst="rect">
            <a:avLst/>
          </a:prstGeom>
          <a:noFill/>
        </p:spPr>
        <p:txBody>
          <a:bodyPr wrap="square">
            <a:spAutoFit/>
          </a:bodyPr>
          <a:lstStyle/>
          <a:p>
            <a:pPr>
              <a:lnSpc>
                <a:spcPct val="130000"/>
              </a:lnSpc>
              <a:defRPr sz="1400">
                <a:solidFill>
                  <a:srgbClr val="1E293B"/>
                </a:solidFill>
                <a:latin typeface="Calibri"/>
              </a:defRPr>
            </a:pPr>
            <a:r>
              <a:t>A post-hoc statistical test used to determine which specific pairs of models differ significantly after a Friedman test.</a:t>
            </a:r>
          </a:p>
        </p:txBody>
      </p:sp>
      <p:sp>
        <p:nvSpPr>
          <p:cNvPr id="14" name="Rounded Rectangle 13"/>
          <p:cNvSpPr/>
          <p:nvPr/>
        </p:nvSpPr>
        <p:spPr>
          <a:xfrm>
            <a:off x="548640" y="2870200"/>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007360"/>
            <a:ext cx="93268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025648"/>
            <a:ext cx="932688" cy="292608"/>
          </a:xfrm>
          <a:prstGeom prst="rect">
            <a:avLst/>
          </a:prstGeom>
          <a:noFill/>
        </p:spPr>
        <p:txBody>
          <a:bodyPr wrap="none">
            <a:spAutoFit/>
          </a:bodyPr>
          <a:lstStyle/>
          <a:p>
            <a:pPr algn="ctr">
              <a:defRPr sz="1100" b="1">
                <a:solidFill>
                  <a:srgbClr val="FFFFFF"/>
                </a:solidFill>
                <a:latin typeface="Calibri"/>
              </a:defRPr>
            </a:pPr>
            <a:r>
              <a:t>F1-score</a:t>
            </a:r>
          </a:p>
        </p:txBody>
      </p:sp>
      <p:sp>
        <p:nvSpPr>
          <p:cNvPr id="17" name="TextBox 16"/>
          <p:cNvSpPr txBox="1"/>
          <p:nvPr/>
        </p:nvSpPr>
        <p:spPr>
          <a:xfrm>
            <a:off x="1618488" y="2979928"/>
            <a:ext cx="3867912" cy="1465580"/>
          </a:xfrm>
          <a:prstGeom prst="rect">
            <a:avLst/>
          </a:prstGeom>
          <a:noFill/>
        </p:spPr>
        <p:txBody>
          <a:bodyPr wrap="square">
            <a:spAutoFit/>
          </a:bodyPr>
          <a:lstStyle/>
          <a:p>
            <a:pPr>
              <a:lnSpc>
                <a:spcPct val="130000"/>
              </a:lnSpc>
              <a:defRPr sz="1400">
                <a:solidFill>
                  <a:srgbClr val="1E293B"/>
                </a:solidFill>
                <a:latin typeface="Calibri"/>
              </a:defRPr>
            </a:pPr>
            <a:r>
              <a:t>The harmonic mean of precision and recall, balancing both metrics.</a:t>
            </a:r>
          </a:p>
        </p:txBody>
      </p:sp>
      <p:sp>
        <p:nvSpPr>
          <p:cNvPr id="18" name="Rounded Rectangle 17"/>
          <p:cNvSpPr/>
          <p:nvPr/>
        </p:nvSpPr>
        <p:spPr>
          <a:xfrm>
            <a:off x="5943600" y="2870200"/>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007360"/>
            <a:ext cx="1426464"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025648"/>
            <a:ext cx="1426464" cy="292608"/>
          </a:xfrm>
          <a:prstGeom prst="rect">
            <a:avLst/>
          </a:prstGeom>
          <a:noFill/>
        </p:spPr>
        <p:txBody>
          <a:bodyPr wrap="none">
            <a:spAutoFit/>
          </a:bodyPr>
          <a:lstStyle/>
          <a:p>
            <a:pPr algn="ctr">
              <a:defRPr sz="1100" b="1">
                <a:solidFill>
                  <a:srgbClr val="FFFFFF"/>
                </a:solidFill>
                <a:latin typeface="Calibri"/>
              </a:defRPr>
            </a:pPr>
            <a:r>
              <a:t>Generalization</a:t>
            </a:r>
          </a:p>
        </p:txBody>
      </p:sp>
      <p:sp>
        <p:nvSpPr>
          <p:cNvPr id="21" name="TextBox 20"/>
          <p:cNvSpPr txBox="1"/>
          <p:nvPr/>
        </p:nvSpPr>
        <p:spPr>
          <a:xfrm>
            <a:off x="7507224" y="2979928"/>
            <a:ext cx="3374136" cy="1465580"/>
          </a:xfrm>
          <a:prstGeom prst="rect">
            <a:avLst/>
          </a:prstGeom>
          <a:noFill/>
        </p:spPr>
        <p:txBody>
          <a:bodyPr wrap="square">
            <a:spAutoFit/>
          </a:bodyPr>
          <a:lstStyle/>
          <a:p>
            <a:pPr>
              <a:lnSpc>
                <a:spcPct val="130000"/>
              </a:lnSpc>
              <a:defRPr sz="1400">
                <a:solidFill>
                  <a:srgbClr val="1E293B"/>
                </a:solidFill>
                <a:latin typeface="Calibri"/>
              </a:defRPr>
            </a:pPr>
            <a:r>
              <a:t>A model's ability to perform well on unseen data from different distributions.</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Lesson Summary</a:t>
            </a:r>
          </a:p>
        </p:txBody>
      </p:sp>
      <p:sp>
        <p:nvSpPr>
          <p:cNvPr id="5" name="Rectangle 4"/>
          <p:cNvSpPr/>
          <p:nvPr/>
        </p:nvSpPr>
        <p:spPr>
          <a:xfrm>
            <a:off x="548640" y="901700"/>
            <a:ext cx="10972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88950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249172"/>
            <a:ext cx="438912" cy="43891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276604"/>
            <a:ext cx="438912" cy="384048"/>
          </a:xfrm>
          <a:prstGeom prst="rect">
            <a:avLst/>
          </a:prstGeom>
          <a:noFill/>
        </p:spPr>
        <p:txBody>
          <a:bodyPr wrap="none">
            <a:spAutoFit/>
          </a:bodyPr>
          <a:lstStyle/>
          <a:p>
            <a:pPr algn="ctr">
              <a:defRPr sz="2200">
                <a:solidFill>
                  <a:srgbClr val="FFFFFF"/>
                </a:solidFill>
              </a:defRPr>
            </a:pPr>
            <a:r>
              <a:t>✓</a:t>
            </a:r>
          </a:p>
        </p:txBody>
      </p:sp>
      <p:sp>
        <p:nvSpPr>
          <p:cNvPr id="9" name="TextBox 8"/>
          <p:cNvSpPr txBox="1"/>
          <p:nvPr/>
        </p:nvSpPr>
        <p:spPr>
          <a:xfrm>
            <a:off x="1325880" y="1185164"/>
            <a:ext cx="10134295"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t>This lesson explored advanced architectural strategies for fake news detection, focusing on the integration of pre-trained models with hierarchical, attention-based GNNs.</a:t>
            </a:r>
          </a:p>
          <a:p>
            <a:pPr>
              <a:lnSpc>
                <a:spcPct val="135000"/>
              </a:lnSpc>
              <a:spcAft>
                <a:spcPts val="1000"/>
              </a:spcAft>
              <a:defRPr sz="1600">
                <a:solidFill>
                  <a:srgbClr val="1E293B"/>
                </a:solidFill>
                <a:latin typeface="Calibri"/>
              </a:defRPr>
            </a:pPr>
            <a:r>
              <a:t>We examined how type-specific transformation matrices enable the processing of heterogeneous social network data and how rigorous statistical validation, including the Friedman test, ensures that model performance is both accurate and generalizable across diverse domains.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Check Your Understanding</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887471"/>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b="1">
                <a:solidFill>
                  <a:srgbClr val="3B82F6"/>
                </a:solidFill>
              </a:rPr>
              <a:t>1. How does the use of stratified sampling during fine-tuning help address the domain shift problem identified in the benchmarking study?</a:t>
            </a:r>
          </a:p>
          <a:p>
            <a:pPr>
              <a:lnSpc>
                <a:spcPct val="135000"/>
              </a:lnSpc>
              <a:spcAft>
                <a:spcPts val="1000"/>
              </a:spcAft>
              <a:defRPr sz="1600">
                <a:solidFill>
                  <a:srgbClr val="1E293B"/>
                </a:solidFill>
                <a:latin typeface="Calibri"/>
              </a:defRPr>
            </a:pPr>
            <a:r>
              <a:rPr b="1">
                <a:solidFill>
                  <a:srgbClr val="3B82F6"/>
                </a:solidFill>
              </a:rPr>
              <a:t>2. Why is the Random Walk with Restart (RWR) strategy essential for the hierarchical attention mechanism in the HetTransformer model?</a:t>
            </a:r>
          </a:p>
          <a:p>
            <a:pPr>
              <a:lnSpc>
                <a:spcPct val="135000"/>
              </a:lnSpc>
              <a:spcAft>
                <a:spcPts val="1000"/>
              </a:spcAft>
              <a:defRPr sz="1600">
                <a:solidFill>
                  <a:srgbClr val="1E293B"/>
                </a:solidFill>
                <a:latin typeface="Calibri"/>
              </a:defRPr>
            </a:pPr>
            <a:r>
              <a:rPr b="1">
                <a:solidFill>
                  <a:srgbClr val="3B82F6"/>
                </a:solidFill>
              </a:rPr>
              <a:t>3. What is the primary purpose of using type-specific transformation matrices when dealing with heterogeneous node types?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Check Your Understanding</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b="1">
                <a:solidFill>
                  <a:srgbClr val="3B82F6"/>
                </a:solidFill>
              </a:rPr>
              <a:t>1. Why is the Friedman test preferred over simple accuracy comparisons when evaluating multiple fake news detection models across diverse datasets?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References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132994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320040" cy="3200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320040" cy="283464"/>
          </a:xfrm>
          <a:prstGeom prst="rect">
            <a:avLst/>
          </a:prstGeom>
          <a:noFill/>
        </p:spPr>
        <p:txBody>
          <a:bodyPr wrap="none">
            <a:spAutoFit/>
          </a:bodyPr>
          <a:lstStyle/>
          <a:p>
            <a:pPr algn="ctr">
              <a:defRPr sz="1200" b="1">
                <a:solidFill>
                  <a:srgbClr val="FFFFFF"/>
                </a:solidFill>
                <a:latin typeface="Calibri"/>
              </a:defRPr>
            </a:pPr>
            <a:r>
              <a:t>1</a:t>
            </a:r>
          </a:p>
        </p:txBody>
      </p:sp>
      <p:sp>
        <p:nvSpPr>
          <p:cNvPr id="9" name="TextBox 8"/>
          <p:cNvSpPr txBox="1"/>
          <p:nvPr/>
        </p:nvSpPr>
        <p:spPr>
          <a:xfrm>
            <a:off x="1051560" y="1139444"/>
            <a:ext cx="10454335" cy="2743200"/>
          </a:xfrm>
          <a:prstGeom prst="rect">
            <a:avLst/>
          </a:prstGeom>
          <a:noFill/>
        </p:spPr>
        <p:txBody>
          <a:bodyPr wrap="square">
            <a:spAutoFit/>
          </a:bodyPr>
          <a:lstStyle/>
          <a:p>
            <a:pPr>
              <a:lnSpc>
                <a:spcPct val="125000"/>
              </a:lnSpc>
              <a:defRPr sz="1600" b="1">
                <a:solidFill>
                  <a:srgbClr val="1E293B"/>
                </a:solidFill>
                <a:latin typeface="Calibri"/>
              </a:defRPr>
            </a:pPr>
            <a:r>
              <a:t>Fake News Detection with Heterogeneous Transformer</a:t>
            </a:r>
          </a:p>
          <a:p>
            <a:pPr>
              <a:lnSpc>
                <a:spcPct val="125000"/>
              </a:lnSpc>
              <a:defRPr sz="1400">
                <a:solidFill>
                  <a:srgbClr val="64748B"/>
                </a:solidFill>
                <a:latin typeface="Calibri"/>
              </a:defRPr>
            </a:pPr>
            <a:r>
              <a:t>Research Team</a:t>
            </a:r>
          </a:p>
          <a:p>
            <a:pPr>
              <a:lnSpc>
                <a:spcPct val="125000"/>
              </a:lnSpc>
              <a:defRPr sz="1400">
                <a:solidFill>
                  <a:srgbClr val="64748B"/>
                </a:solidFill>
                <a:latin typeface="Calibri"/>
              </a:defRPr>
            </a:pPr>
            <a:r>
              <a:t>(2024)</a:t>
            </a:r>
          </a:p>
        </p:txBody>
      </p:sp>
      <p:sp>
        <p:nvSpPr>
          <p:cNvPr id="10" name="Rounded Rectangle 9"/>
          <p:cNvSpPr/>
          <p:nvPr/>
        </p:nvSpPr>
        <p:spPr>
          <a:xfrm>
            <a:off x="548640" y="2487676"/>
            <a:ext cx="11094415" cy="159410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2624836"/>
            <a:ext cx="320040" cy="3200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43124"/>
            <a:ext cx="320040" cy="283464"/>
          </a:xfrm>
          <a:prstGeom prst="rect">
            <a:avLst/>
          </a:prstGeom>
          <a:noFill/>
        </p:spPr>
        <p:txBody>
          <a:bodyPr wrap="none">
            <a:spAutoFit/>
          </a:bodyPr>
          <a:lstStyle/>
          <a:p>
            <a:pPr algn="ctr">
              <a:defRPr sz="1200" b="1">
                <a:solidFill>
                  <a:srgbClr val="FFFFFF"/>
                </a:solidFill>
                <a:latin typeface="Calibri"/>
              </a:defRPr>
            </a:pPr>
            <a:r>
              <a:t>2</a:t>
            </a:r>
          </a:p>
        </p:txBody>
      </p:sp>
      <p:sp>
        <p:nvSpPr>
          <p:cNvPr id="13" name="TextBox 12"/>
          <p:cNvSpPr txBox="1"/>
          <p:nvPr/>
        </p:nvSpPr>
        <p:spPr>
          <a:xfrm>
            <a:off x="1051560" y="2579116"/>
            <a:ext cx="10454335" cy="2743200"/>
          </a:xfrm>
          <a:prstGeom prst="rect">
            <a:avLst/>
          </a:prstGeom>
          <a:noFill/>
        </p:spPr>
        <p:txBody>
          <a:bodyPr wrap="square">
            <a:spAutoFit/>
          </a:bodyPr>
          <a:lstStyle/>
          <a:p>
            <a:pPr>
              <a:lnSpc>
                <a:spcPct val="125000"/>
              </a:lnSpc>
              <a:defRPr sz="1600" b="1">
                <a:solidFill>
                  <a:srgbClr val="1E293B"/>
                </a:solidFill>
                <a:latin typeface="Calibri"/>
              </a:defRPr>
            </a:pPr>
            <a:r>
              <a:t>An Experimental Comparison of the Most Popular Approaches to Fake News Detection</a:t>
            </a:r>
          </a:p>
          <a:p>
            <a:pPr>
              <a:lnSpc>
                <a:spcPct val="125000"/>
              </a:lnSpc>
              <a:defRPr sz="1400">
                <a:solidFill>
                  <a:srgbClr val="64748B"/>
                </a:solidFill>
                <a:latin typeface="Calibri"/>
              </a:defRPr>
            </a:pPr>
            <a:r>
              <a:t>Various</a:t>
            </a:r>
          </a:p>
          <a:p>
            <a:pPr>
              <a:lnSpc>
                <a:spcPct val="125000"/>
              </a:lnSpc>
              <a:defRPr sz="1400">
                <a:solidFill>
                  <a:srgbClr val="64748B"/>
                </a:solidFill>
                <a:latin typeface="Calibri"/>
              </a:defRPr>
            </a:pPr>
            <a:r>
              <a:t>(2024)</a:t>
            </a:r>
          </a:p>
        </p:txBody>
      </p:sp>
      <p:sp>
        <p:nvSpPr>
          <p:cNvPr id="14" name="Rectangle 13"/>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6" name="TextBox 15"/>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914400"/>
            <a:ext cx="2743200" cy="2743200"/>
          </a:xfrm>
          <a:prstGeom prst="ellipse">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1200" y="4114800"/>
            <a:ext cx="1828800" cy="1828800"/>
          </a:xfrm>
          <a:prstGeom prst="ellipse">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286000"/>
            <a:ext cx="6400800" cy="914400"/>
          </a:xfrm>
          <a:prstGeom prst="rect">
            <a:avLst/>
          </a:prstGeom>
          <a:noFill/>
        </p:spPr>
        <p:txBody>
          <a:bodyPr wrap="none">
            <a:spAutoFit/>
          </a:bodyPr>
          <a:lstStyle/>
          <a:p>
            <a:pPr>
              <a:defRPr sz="5600" b="1">
                <a:solidFill>
                  <a:srgbClr val="FFFFFF"/>
                </a:solidFill>
                <a:latin typeface="Calibri"/>
              </a:defRPr>
            </a:pPr>
            <a:r>
              <a:t>Thank You</a:t>
            </a:r>
          </a:p>
        </p:txBody>
      </p:sp>
      <p:sp>
        <p:nvSpPr>
          <p:cNvPr id="6" name="Rectangle 5"/>
          <p:cNvSpPr/>
          <p:nvPr/>
        </p:nvSpPr>
        <p:spPr>
          <a:xfrm>
            <a:off x="1371600" y="320040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383280"/>
            <a:ext cx="6400800" cy="457200"/>
          </a:xfrm>
          <a:prstGeom prst="rect">
            <a:avLst/>
          </a:prstGeom>
          <a:noFill/>
        </p:spPr>
        <p:txBody>
          <a:bodyPr wrap="none">
            <a:spAutoFit/>
          </a:bodyPr>
          <a:lstStyle/>
          <a:p>
            <a:pPr>
              <a:defRPr sz="2400">
                <a:solidFill>
                  <a:srgbClr val="FFFFFF"/>
                </a:solidFill>
                <a:latin typeface="Calibri"/>
              </a:defRPr>
            </a:pPr>
            <a:r>
              <a:t>Questions?</a:t>
            </a:r>
          </a:p>
        </p:txBody>
      </p:sp>
      <p:sp>
        <p:nvSpPr>
          <p:cNvPr id="8" name="TextBox 7"/>
          <p:cNvSpPr txBox="1"/>
          <p:nvPr/>
        </p:nvSpPr>
        <p:spPr>
          <a:xfrm>
            <a:off x="1371600" y="4023360"/>
            <a:ext cx="6400800" cy="365760"/>
          </a:xfrm>
          <a:prstGeom prst="rect">
            <a:avLst/>
          </a:prstGeom>
          <a:noFill/>
        </p:spPr>
        <p:txBody>
          <a:bodyPr wrap="none">
            <a:spAutoFit/>
          </a:bodyPr>
          <a:lstStyle/>
          <a:p>
            <a:pPr>
              <a:defRPr sz="1400" i="1">
                <a:solidFill>
                  <a:srgbClr val="FFFFFF"/>
                </a:solidFill>
                <a:latin typeface="Calibri"/>
              </a:defRPr>
            </a:pPr>
            <a:r>
              <a:t>Advanced Fake News Detection: From Transformer Architectures to Social Network Dynamics</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