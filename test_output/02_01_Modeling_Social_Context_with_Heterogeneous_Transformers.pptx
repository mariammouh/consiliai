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0" y="2286000"/>
            <a:ext cx="3657600" cy="36576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0" y="1097280"/>
            <a:ext cx="731520" cy="7315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7315200" cy="365760"/>
          </a:xfrm>
          <a:prstGeom prst="rect">
            <a:avLst/>
          </a:prstGeom>
          <a:noFill/>
        </p:spPr>
        <p:txBody>
          <a:bodyPr wrap="none">
            <a:spAutoFit/>
          </a:bodyPr>
          <a:lstStyle/>
          <a:p>
            <a:pPr>
              <a:defRPr sz="1400" b="1">
                <a:solidFill>
                  <a:srgbClr val="3B82F6"/>
                </a:solidFill>
                <a:latin typeface="Calibri"/>
              </a:defRPr>
            </a:pPr>
            <a:r>
              <a:t>ADVANCED FAKE NEWS DETECTION: FROM TRANSFORMER ARCHITECTURES TO SOCIAL NETWORK DYNAMICS</a:t>
            </a:r>
          </a:p>
        </p:txBody>
      </p:sp>
      <p:sp>
        <p:nvSpPr>
          <p:cNvPr id="7" name="TextBox 6"/>
          <p:cNvSpPr txBox="1"/>
          <p:nvPr/>
        </p:nvSpPr>
        <p:spPr>
          <a:xfrm>
            <a:off x="548640" y="2377440"/>
            <a:ext cx="8229600" cy="2468880"/>
          </a:xfrm>
          <a:prstGeom prst="rect">
            <a:avLst/>
          </a:prstGeom>
          <a:noFill/>
        </p:spPr>
        <p:txBody>
          <a:bodyPr wrap="square">
            <a:spAutoFit/>
          </a:bodyPr>
          <a:lstStyle/>
          <a:p>
            <a:pPr>
              <a:defRPr sz="5000" b="1">
                <a:solidFill>
                  <a:srgbClr val="1E293B"/>
                </a:solidFill>
                <a:latin typeface="Calibri"/>
              </a:defRPr>
            </a:pPr>
            <a:r>
              <a:t>Modeling Social Context with Heterogeneous Transformers</a:t>
            </a:r>
          </a:p>
        </p:txBody>
      </p:sp>
      <p:sp>
        <p:nvSpPr>
          <p:cNvPr id="8" name="Rectangle 7"/>
          <p:cNvSpPr/>
          <p:nvPr/>
        </p:nvSpPr>
        <p:spPr>
          <a:xfrm>
            <a:off x="548640" y="480060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937760"/>
            <a:ext cx="7315200" cy="457200"/>
          </a:xfrm>
          <a:prstGeom prst="rect">
            <a:avLst/>
          </a:prstGeom>
          <a:noFill/>
        </p:spPr>
        <p:txBody>
          <a:bodyPr wrap="none">
            <a:spAutoFit/>
          </a:bodyPr>
          <a:lstStyle/>
          <a:p>
            <a:pPr>
              <a:defRPr sz="2400">
                <a:solidFill>
                  <a:srgbClr val="64748B"/>
                </a:solidFill>
                <a:latin typeface="Calibri"/>
              </a:defRPr>
            </a:pPr>
            <a:r>
              <a:t>Modeling Social Context with Heterogeneous Transformers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Learning Objectives</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36245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276604"/>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304036"/>
            <a:ext cx="384048" cy="347472"/>
          </a:xfrm>
          <a:prstGeom prst="rect">
            <a:avLst/>
          </a:prstGeom>
          <a:noFill/>
        </p:spPr>
        <p:txBody>
          <a:bodyPr wrap="none">
            <a:spAutoFit/>
          </a:bodyPr>
          <a:lstStyle/>
          <a:p>
            <a:pPr algn="ctr">
              <a:defRPr sz="1600" b="1">
                <a:solidFill>
                  <a:srgbClr val="FFFFFF"/>
                </a:solidFill>
                <a:latin typeface="Calibri"/>
              </a:defRPr>
            </a:pPr>
            <a:r>
              <a:t>1</a:t>
            </a:r>
          </a:p>
        </p:txBody>
      </p:sp>
      <p:sp>
        <p:nvSpPr>
          <p:cNvPr id="9" name="TextBox 8"/>
          <p:cNvSpPr txBox="1"/>
          <p:nvPr/>
        </p:nvSpPr>
        <p:spPr>
          <a:xfrm>
            <a:off x="1143000" y="1185164"/>
            <a:ext cx="4389120" cy="1088135"/>
          </a:xfrm>
          <a:prstGeom prst="rect">
            <a:avLst/>
          </a:prstGeom>
          <a:noFill/>
        </p:spPr>
        <p:txBody>
          <a:bodyPr wrap="square">
            <a:spAutoFit/>
          </a:bodyPr>
          <a:lstStyle/>
          <a:p>
            <a:pPr>
              <a:defRPr sz="1600">
                <a:solidFill>
                  <a:srgbClr val="1E293B"/>
                </a:solidFill>
                <a:latin typeface="Calibri"/>
              </a:defRPr>
            </a:pPr>
            <a:r>
              <a:t>Understand the limitations of text-only fake news detection models.</a:t>
            </a:r>
          </a:p>
        </p:txBody>
      </p:sp>
      <p:sp>
        <p:nvSpPr>
          <p:cNvPr id="10" name="Rounded Rectangle 9"/>
          <p:cNvSpPr/>
          <p:nvPr/>
        </p:nvSpPr>
        <p:spPr>
          <a:xfrm>
            <a:off x="5989320" y="1048004"/>
            <a:ext cx="5120640" cy="163677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99048" y="1276604"/>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8" y="1304036"/>
            <a:ext cx="384048" cy="347472"/>
          </a:xfrm>
          <a:prstGeom prst="rect">
            <a:avLst/>
          </a:prstGeom>
          <a:noFill/>
        </p:spPr>
        <p:txBody>
          <a:bodyPr wrap="none">
            <a:spAutoFit/>
          </a:bodyPr>
          <a:lstStyle/>
          <a:p>
            <a:pPr algn="ctr">
              <a:defRPr sz="1600" b="1">
                <a:solidFill>
                  <a:srgbClr val="FFFFFF"/>
                </a:solidFill>
                <a:latin typeface="Calibri"/>
              </a:defRPr>
            </a:pPr>
            <a:r>
              <a:t>2</a:t>
            </a:r>
          </a:p>
        </p:txBody>
      </p:sp>
      <p:sp>
        <p:nvSpPr>
          <p:cNvPr id="13" name="TextBox 12"/>
          <p:cNvSpPr txBox="1"/>
          <p:nvPr/>
        </p:nvSpPr>
        <p:spPr>
          <a:xfrm>
            <a:off x="6583680" y="1185164"/>
            <a:ext cx="4389120" cy="1362455"/>
          </a:xfrm>
          <a:prstGeom prst="rect">
            <a:avLst/>
          </a:prstGeom>
          <a:noFill/>
        </p:spPr>
        <p:txBody>
          <a:bodyPr wrap="square">
            <a:spAutoFit/>
          </a:bodyPr>
          <a:lstStyle/>
          <a:p>
            <a:pPr>
              <a:defRPr sz="1600">
                <a:solidFill>
                  <a:srgbClr val="1E293B"/>
                </a:solidFill>
                <a:latin typeface="Calibri"/>
              </a:defRPr>
            </a:pPr>
            <a:r>
              <a:t>Analyze how heterogeneous graph structures and social context improve detection accuracy.</a:t>
            </a:r>
          </a:p>
        </p:txBody>
      </p:sp>
      <p:sp>
        <p:nvSpPr>
          <p:cNvPr id="14" name="Rounded Rectangle 13"/>
          <p:cNvSpPr/>
          <p:nvPr/>
        </p:nvSpPr>
        <p:spPr>
          <a:xfrm>
            <a:off x="548640" y="2867660"/>
            <a:ext cx="5120640" cy="163677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096260"/>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123692"/>
            <a:ext cx="384048" cy="347472"/>
          </a:xfrm>
          <a:prstGeom prst="rect">
            <a:avLst/>
          </a:prstGeom>
          <a:noFill/>
        </p:spPr>
        <p:txBody>
          <a:bodyPr wrap="none">
            <a:spAutoFit/>
          </a:bodyPr>
          <a:lstStyle/>
          <a:p>
            <a:pPr algn="ctr">
              <a:defRPr sz="1600" b="1">
                <a:solidFill>
                  <a:srgbClr val="FFFFFF"/>
                </a:solidFill>
                <a:latin typeface="Calibri"/>
              </a:defRPr>
            </a:pPr>
            <a:r>
              <a:t>3</a:t>
            </a:r>
          </a:p>
        </p:txBody>
      </p:sp>
      <p:sp>
        <p:nvSpPr>
          <p:cNvPr id="17" name="TextBox 16"/>
          <p:cNvSpPr txBox="1"/>
          <p:nvPr/>
        </p:nvSpPr>
        <p:spPr>
          <a:xfrm>
            <a:off x="1143000" y="3004820"/>
            <a:ext cx="4389120" cy="1362455"/>
          </a:xfrm>
          <a:prstGeom prst="rect">
            <a:avLst/>
          </a:prstGeom>
          <a:noFill/>
        </p:spPr>
        <p:txBody>
          <a:bodyPr wrap="square">
            <a:spAutoFit/>
          </a:bodyPr>
          <a:lstStyle/>
          <a:p>
            <a:pPr>
              <a:defRPr sz="1600">
                <a:solidFill>
                  <a:srgbClr val="1E293B"/>
                </a:solidFill>
                <a:latin typeface="Calibri"/>
              </a:defRPr>
            </a:pPr>
            <a:r>
              <a:t>Evaluate the generalization capabilities of Transformer-based models across different datasets.</a:t>
            </a:r>
          </a:p>
        </p:txBody>
      </p:sp>
      <p:sp>
        <p:nvSpPr>
          <p:cNvPr id="18" name="Rounded Rectangle 17"/>
          <p:cNvSpPr/>
          <p:nvPr/>
        </p:nvSpPr>
        <p:spPr>
          <a:xfrm>
            <a:off x="5989320" y="2867660"/>
            <a:ext cx="5120640" cy="163677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099048" y="3096260"/>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8" y="3123692"/>
            <a:ext cx="384048" cy="347472"/>
          </a:xfrm>
          <a:prstGeom prst="rect">
            <a:avLst/>
          </a:prstGeom>
          <a:noFill/>
        </p:spPr>
        <p:txBody>
          <a:bodyPr wrap="none">
            <a:spAutoFit/>
          </a:bodyPr>
          <a:lstStyle/>
          <a:p>
            <a:pPr algn="ctr">
              <a:defRPr sz="1600" b="1">
                <a:solidFill>
                  <a:srgbClr val="FFFFFF"/>
                </a:solidFill>
                <a:latin typeface="Calibri"/>
              </a:defRPr>
            </a:pPr>
            <a:r>
              <a:t>4</a:t>
            </a:r>
          </a:p>
        </p:txBody>
      </p:sp>
      <p:sp>
        <p:nvSpPr>
          <p:cNvPr id="21" name="TextBox 20"/>
          <p:cNvSpPr txBox="1"/>
          <p:nvPr/>
        </p:nvSpPr>
        <p:spPr>
          <a:xfrm>
            <a:off x="6583680" y="3004820"/>
            <a:ext cx="4389120" cy="1362455"/>
          </a:xfrm>
          <a:prstGeom prst="rect">
            <a:avLst/>
          </a:prstGeom>
          <a:noFill/>
        </p:spPr>
        <p:txBody>
          <a:bodyPr wrap="square">
            <a:spAutoFit/>
          </a:bodyPr>
          <a:lstStyle/>
          <a:p>
            <a:pPr>
              <a:defRPr sz="1600">
                <a:solidFill>
                  <a:srgbClr val="1E293B"/>
                </a:solidFill>
                <a:latin typeface="Calibri"/>
              </a:defRPr>
            </a:pPr>
            <a:r>
              <a:t>Critically assess the robustness of current models against modern misinformation threats.</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Module Context</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3545738" cy="334365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048004"/>
            <a:ext cx="3545738"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185164"/>
            <a:ext cx="3179978" cy="320040"/>
          </a:xfrm>
          <a:prstGeom prst="rect">
            <a:avLst/>
          </a:prstGeom>
          <a:noFill/>
        </p:spPr>
        <p:txBody>
          <a:bodyPr wrap="none">
            <a:spAutoFit/>
          </a:bodyPr>
          <a:lstStyle/>
          <a:p>
            <a:pPr>
              <a:defRPr sz="1100" b="1">
                <a:solidFill>
                  <a:srgbClr val="F59E0B"/>
                </a:solidFill>
                <a:latin typeface="Calibri"/>
              </a:defRPr>
            </a:pPr>
            <a:r>
              <a:t>PROBLEM</a:t>
            </a:r>
          </a:p>
        </p:txBody>
      </p:sp>
      <p:sp>
        <p:nvSpPr>
          <p:cNvPr id="9" name="TextBox 8"/>
          <p:cNvSpPr txBox="1"/>
          <p:nvPr/>
        </p:nvSpPr>
        <p:spPr>
          <a:xfrm>
            <a:off x="749808" y="1505204"/>
            <a:ext cx="3179978" cy="2703575"/>
          </a:xfrm>
          <a:prstGeom prst="rect">
            <a:avLst/>
          </a:prstGeom>
          <a:noFill/>
        </p:spPr>
        <p:txBody>
          <a:bodyPr wrap="square">
            <a:spAutoFit/>
          </a:bodyPr>
          <a:lstStyle/>
          <a:p>
            <a:pPr>
              <a:lnSpc>
                <a:spcPct val="130000"/>
              </a:lnSpc>
              <a:defRPr sz="1600">
                <a:solidFill>
                  <a:srgbClr val="1E293B"/>
                </a:solidFill>
                <a:latin typeface="Calibri"/>
              </a:defRPr>
            </a:pPr>
            <a:r>
              <a:t>The difficulty of distinguishing fake news due to the limitations of existing graph models in capturing structural representation and node heterogeneity.</a:t>
            </a:r>
          </a:p>
        </p:txBody>
      </p:sp>
      <p:sp>
        <p:nvSpPr>
          <p:cNvPr id="10" name="Rounded Rectangle 9"/>
          <p:cNvSpPr/>
          <p:nvPr/>
        </p:nvSpPr>
        <p:spPr>
          <a:xfrm>
            <a:off x="4322978" y="1048004"/>
            <a:ext cx="3545738" cy="361797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2978" y="1048004"/>
            <a:ext cx="3545738"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4146" y="1185164"/>
            <a:ext cx="3179978" cy="320040"/>
          </a:xfrm>
          <a:prstGeom prst="rect">
            <a:avLst/>
          </a:prstGeom>
          <a:noFill/>
        </p:spPr>
        <p:txBody>
          <a:bodyPr wrap="none">
            <a:spAutoFit/>
          </a:bodyPr>
          <a:lstStyle/>
          <a:p>
            <a:pPr>
              <a:defRPr sz="1100" b="1">
                <a:solidFill>
                  <a:srgbClr val="10B981"/>
                </a:solidFill>
                <a:latin typeface="Calibri"/>
              </a:defRPr>
            </a:pPr>
            <a:r>
              <a:t>SOLUTION</a:t>
            </a:r>
          </a:p>
        </p:txBody>
      </p:sp>
      <p:sp>
        <p:nvSpPr>
          <p:cNvPr id="13" name="TextBox 12"/>
          <p:cNvSpPr txBox="1"/>
          <p:nvPr/>
        </p:nvSpPr>
        <p:spPr>
          <a:xfrm>
            <a:off x="4524146" y="1505204"/>
            <a:ext cx="3179978" cy="2977896"/>
          </a:xfrm>
          <a:prstGeom prst="rect">
            <a:avLst/>
          </a:prstGeom>
          <a:noFill/>
        </p:spPr>
        <p:txBody>
          <a:bodyPr wrap="square">
            <a:spAutoFit/>
          </a:bodyPr>
          <a:lstStyle/>
          <a:p>
            <a:pPr>
              <a:lnSpc>
                <a:spcPct val="130000"/>
              </a:lnSpc>
              <a:defRPr sz="1600">
                <a:solidFill>
                  <a:srgbClr val="1E293B"/>
                </a:solidFill>
                <a:latin typeface="Calibri"/>
              </a:defRPr>
            </a:pPr>
            <a:r>
              <a:t>Proposing the HetTransformer model, which uses an encoder-decoder structure to aggregate local multi-modal semantics and global structural representations.</a:t>
            </a:r>
          </a:p>
        </p:txBody>
      </p:sp>
      <p:sp>
        <p:nvSpPr>
          <p:cNvPr id="14" name="Rounded Rectangle 13"/>
          <p:cNvSpPr/>
          <p:nvPr/>
        </p:nvSpPr>
        <p:spPr>
          <a:xfrm>
            <a:off x="8097316" y="1048004"/>
            <a:ext cx="354573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048004"/>
            <a:ext cx="3545738"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8484" y="1185164"/>
            <a:ext cx="3179978" cy="320040"/>
          </a:xfrm>
          <a:prstGeom prst="rect">
            <a:avLst/>
          </a:prstGeom>
          <a:noFill/>
        </p:spPr>
        <p:txBody>
          <a:bodyPr wrap="none">
            <a:spAutoFit/>
          </a:bodyPr>
          <a:lstStyle/>
          <a:p>
            <a:pPr>
              <a:defRPr sz="1100" b="1">
                <a:solidFill>
                  <a:srgbClr val="3B82F6"/>
                </a:solidFill>
                <a:latin typeface="Calibri"/>
              </a:defRPr>
            </a:pPr>
            <a:r>
              <a:t>DIFFICULTY</a:t>
            </a:r>
          </a:p>
        </p:txBody>
      </p:sp>
      <p:sp>
        <p:nvSpPr>
          <p:cNvPr id="17" name="TextBox 16"/>
          <p:cNvSpPr txBox="1"/>
          <p:nvPr/>
        </p:nvSpPr>
        <p:spPr>
          <a:xfrm>
            <a:off x="8298484" y="1505204"/>
            <a:ext cx="3179978" cy="1371600"/>
          </a:xfrm>
          <a:prstGeom prst="rect">
            <a:avLst/>
          </a:prstGeom>
          <a:noFill/>
        </p:spPr>
        <p:txBody>
          <a:bodyPr wrap="square">
            <a:spAutoFit/>
          </a:bodyPr>
          <a:lstStyle/>
          <a:p>
            <a:pPr>
              <a:lnSpc>
                <a:spcPct val="130000"/>
              </a:lnSpc>
              <a:defRPr sz="1600">
                <a:solidFill>
                  <a:srgbClr val="1E293B"/>
                </a:solidFill>
                <a:latin typeface="Calibri"/>
              </a:defRPr>
            </a:pPr>
            <a:r>
              <a:t>intermediate</a:t>
            </a:r>
          </a:p>
        </p:txBody>
      </p:sp>
      <p:sp>
        <p:nvSpPr>
          <p:cNvPr id="18" name="Rectangle 1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0" name="TextBox 1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2148840"/>
          </a:xfrm>
          <a:prstGeom prst="rect">
            <a:avLst/>
          </a:prstGeom>
          <a:noFill/>
        </p:spPr>
        <p:txBody>
          <a:bodyPr wrap="square">
            <a:spAutoFit/>
          </a:bodyPr>
          <a:lstStyle/>
          <a:p>
            <a:pPr>
              <a:defRPr sz="4400" b="1">
                <a:solidFill>
                  <a:srgbClr val="1E293B"/>
                </a:solidFill>
                <a:latin typeface="Calibri"/>
              </a:defRPr>
            </a:pPr>
            <a:r>
              <a:t>Heterogeneous graph structures in social networks</a:t>
            </a:r>
          </a:p>
        </p:txBody>
      </p:sp>
      <p:sp>
        <p:nvSpPr>
          <p:cNvPr id="7" name="Rectangle 6"/>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9" name="TextBox 8"/>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Heterogeneous graph structures in social networks</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Building on the generalization challenges discussed in our</a:t>
            </a:r>
          </a:p>
          <a:p>
            <a:pPr>
              <a:lnSpc>
                <a:spcPct val="135000"/>
              </a:lnSpc>
              <a:spcAft>
                <a:spcPts val="1000"/>
              </a:spcAft>
              <a:defRPr sz="1600">
                <a:solidFill>
                  <a:srgbClr val="1E293B"/>
                </a:solidFill>
                <a:latin typeface="Calibri"/>
              </a:defRPr>
            </a:pPr>
            <a:r>
              <a:rPr>
                <a:solidFill>
                  <a:srgbClr val="3B82F6"/>
                </a:solidFill>
              </a:rPr>
              <a:t>• previous lesson, we now address the limitations of existing graph</a:t>
            </a:r>
          </a:p>
          <a:p>
            <a:pPr>
              <a:lnSpc>
                <a:spcPct val="135000"/>
              </a:lnSpc>
              <a:spcAft>
                <a:spcPts val="1000"/>
              </a:spcAft>
              <a:defRPr sz="1600">
                <a:solidFill>
                  <a:srgbClr val="1E293B"/>
                </a:solidFill>
                <a:latin typeface="Calibri"/>
              </a:defRPr>
            </a:pPr>
            <a:r>
              <a:rPr>
                <a:solidFill>
                  <a:srgbClr val="3B82F6"/>
                </a:solidFill>
              </a:rPr>
              <a:t>• models that struggle with the complex, multi-typed nature of</a:t>
            </a:r>
          </a:p>
          <a:p>
            <a:pPr>
              <a:lnSpc>
                <a:spcPct val="135000"/>
              </a:lnSpc>
              <a:spcAft>
                <a:spcPts val="1000"/>
              </a:spcAft>
              <a:defRPr sz="1600">
                <a:solidFill>
                  <a:srgbClr val="1E293B"/>
                </a:solidFill>
                <a:latin typeface="Calibri"/>
              </a:defRPr>
            </a:pPr>
            <a:r>
              <a:rPr>
                <a:solidFill>
                  <a:srgbClr val="3B82F6"/>
                </a:solidFill>
              </a:rPr>
              <a:t>• social networks.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Heterogeneous graph structures in social networks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Social networks are inherently heterogeneous, containing diverse</a:t>
            </a:r>
          </a:p>
          <a:p>
            <a:pPr>
              <a:lnSpc>
                <a:spcPct val="135000"/>
              </a:lnSpc>
              <a:spcAft>
                <a:spcPts val="1000"/>
              </a:spcAft>
              <a:defRPr sz="1600">
                <a:solidFill>
                  <a:srgbClr val="1E293B"/>
                </a:solidFill>
                <a:latin typeface="Calibri"/>
              </a:defRPr>
            </a:pPr>
            <a:r>
              <a:rPr>
                <a:solidFill>
                  <a:srgbClr val="3B82F6"/>
                </a:solidFill>
              </a:rPr>
              <a:t>• node types (e.g., news, users, posts) and edge types (e.g.,</a:t>
            </a:r>
          </a:p>
          <a:p>
            <a:pPr>
              <a:lnSpc>
                <a:spcPct val="135000"/>
              </a:lnSpc>
              <a:spcAft>
                <a:spcPts val="1000"/>
              </a:spcAft>
              <a:defRPr sz="1600">
                <a:solidFill>
                  <a:srgbClr val="1E293B"/>
                </a:solidFill>
                <a:latin typeface="Calibri"/>
              </a:defRPr>
            </a:pPr>
            <a:r>
              <a:rPr>
                <a:solidFill>
                  <a:srgbClr val="3B82F6"/>
                </a:solidFill>
              </a:rPr>
              <a:t>• 'posted by', 'shared by').</a:t>
            </a:r>
          </a:p>
          <a:p>
            <a:pPr>
              <a:lnSpc>
                <a:spcPct val="135000"/>
              </a:lnSpc>
              <a:spcAft>
                <a:spcPts val="1000"/>
              </a:spcAft>
              <a:defRPr sz="1600">
                <a:solidFill>
                  <a:srgbClr val="1E293B"/>
                </a:solidFill>
                <a:latin typeface="Calibri"/>
              </a:defRPr>
            </a:pPr>
            <a:r>
              <a:rPr>
                <a:solidFill>
                  <a:srgbClr val="3B82F6"/>
                </a:solidFill>
              </a:rPr>
              <a:t>• Traditional graph models often fail because they rely on rigid</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Heterogeneous graph structures in social networks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meta-path structures or struggle to model the full heterogeneity</a:t>
            </a:r>
          </a:p>
          <a:p>
            <a:pPr>
              <a:lnSpc>
                <a:spcPct val="135000"/>
              </a:lnSpc>
              <a:spcAft>
                <a:spcPts val="1000"/>
              </a:spcAft>
              <a:defRPr sz="1600">
                <a:solidFill>
                  <a:srgbClr val="1E293B"/>
                </a:solidFill>
                <a:latin typeface="Calibri"/>
              </a:defRPr>
            </a:pPr>
            <a:r>
              <a:rPr>
                <a:solidFill>
                  <a:srgbClr val="3B82F6"/>
                </a:solidFill>
              </a:rPr>
              <a:t>• of nodes and edges, leading to poor structural representation.</a:t>
            </a:r>
          </a:p>
          <a:p>
            <a:pPr>
              <a:lnSpc>
                <a:spcPct val="135000"/>
              </a:lnSpc>
              <a:spcAft>
                <a:spcPts val="1000"/>
              </a:spcAft>
              <a:defRPr sz="1600">
                <a:solidFill>
                  <a:srgbClr val="1E293B"/>
                </a:solidFill>
                <a:latin typeface="Calibri"/>
              </a:defRPr>
            </a:pPr>
            <a:r>
              <a:rPr>
                <a:solidFill>
                  <a:srgbClr val="3B82F6"/>
                </a:solidFill>
              </a:rPr>
              <a:t>• The HetTransformer approach addresses this by treating the social</a:t>
            </a:r>
          </a:p>
          <a:p>
            <a:pPr>
              <a:lnSpc>
                <a:spcPct val="135000"/>
              </a:lnSpc>
              <a:spcAft>
                <a:spcPts val="1000"/>
              </a:spcAft>
              <a:defRPr sz="1600">
                <a:solidFill>
                  <a:srgbClr val="1E293B"/>
                </a:solidFill>
                <a:latin typeface="Calibri"/>
              </a:defRPr>
            </a:pPr>
            <a:r>
              <a:rPr>
                <a:solidFill>
                  <a:srgbClr val="3B82F6"/>
                </a:solidFill>
              </a:rPr>
              <a:t>• network as a heterogeneous graph where each node type has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Heterogeneous graph structures in social networks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specific transformation matrices.</a:t>
            </a:r>
          </a:p>
          <a:p>
            <a:pPr>
              <a:lnSpc>
                <a:spcPct val="135000"/>
              </a:lnSpc>
              <a:spcAft>
                <a:spcPts val="1000"/>
              </a:spcAft>
              <a:defRPr sz="1600">
                <a:solidFill>
                  <a:srgbClr val="1E293B"/>
                </a:solidFill>
                <a:latin typeface="Calibri"/>
              </a:defRPr>
            </a:pPr>
            <a:r>
              <a:rPr>
                <a:solidFill>
                  <a:srgbClr val="3B82F6"/>
                </a:solidFill>
              </a:rPr>
              <a:t>• By projecting different attribute types into a unified dimension</a:t>
            </a:r>
          </a:p>
          <a:p>
            <a:pPr>
              <a:lnSpc>
                <a:spcPct val="135000"/>
              </a:lnSpc>
              <a:spcAft>
                <a:spcPts val="1000"/>
              </a:spcAft>
              <a:defRPr sz="1600">
                <a:solidFill>
                  <a:srgbClr val="1E293B"/>
                </a:solidFill>
                <a:latin typeface="Calibri"/>
              </a:defRPr>
            </a:pPr>
            <a:r>
              <a:rPr>
                <a:solidFill>
                  <a:srgbClr val="3B82F6"/>
                </a:solidFill>
              </a:rPr>
              <a:t>• size, the model can effectively process the diverse relationships</a:t>
            </a:r>
          </a:p>
          <a:p>
            <a:pPr>
              <a:lnSpc>
                <a:spcPct val="135000"/>
              </a:lnSpc>
              <a:spcAft>
                <a:spcPts val="1000"/>
              </a:spcAft>
              <a:defRPr sz="1600">
                <a:solidFill>
                  <a:srgbClr val="1E293B"/>
                </a:solidFill>
                <a:latin typeface="Calibri"/>
              </a:defRPr>
            </a:pPr>
            <a:r>
              <a:rPr>
                <a:solidFill>
                  <a:srgbClr val="3B82F6"/>
                </a:solidFill>
              </a:rPr>
              <a:t>• that define how fake news propagates, moving beyond the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Heterogeneous graph structures in social networks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constraints of homogeneous graph assumptions.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Heterogeneous graph structures in social networks</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186410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186410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model utilizes type-specific transformation matrices M φi k to project embeddings of different attribute types into a unified dimension size d, allowing the architecture to handle the diverse node and edge types present in real-world social network datasets.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645920" cy="292608"/>
          </a:xfrm>
          <a:prstGeom prst="rect">
            <a:avLst/>
          </a:prstGeom>
          <a:noFill/>
        </p:spPr>
        <p:txBody>
          <a:bodyPr wrap="none">
            <a:spAutoFit/>
          </a:bodyPr>
          <a:lstStyle/>
          <a:p>
            <a:pPr algn="ctr">
              <a:defRPr sz="1100" b="1">
                <a:solidFill>
                  <a:srgbClr val="FFFFFF"/>
                </a:solidFill>
                <a:latin typeface="Calibri"/>
              </a:defRPr>
            </a:pPr>
            <a:r>
              <a:t>Heterogeneous Graph</a:t>
            </a:r>
          </a:p>
        </p:txBody>
      </p:sp>
      <p:sp>
        <p:nvSpPr>
          <p:cNvPr id="9" name="TextBox 8"/>
          <p:cNvSpPr txBox="1"/>
          <p:nvPr/>
        </p:nvSpPr>
        <p:spPr>
          <a:xfrm>
            <a:off x="2331720" y="1157731"/>
            <a:ext cx="3154680" cy="1945640"/>
          </a:xfrm>
          <a:prstGeom prst="rect">
            <a:avLst/>
          </a:prstGeom>
          <a:noFill/>
        </p:spPr>
        <p:txBody>
          <a:bodyPr wrap="square">
            <a:spAutoFit/>
          </a:bodyPr>
          <a:lstStyle/>
          <a:p>
            <a:pPr>
              <a:lnSpc>
                <a:spcPct val="130000"/>
              </a:lnSpc>
              <a:defRPr sz="1400">
                <a:solidFill>
                  <a:srgbClr val="1E293B"/>
                </a:solidFill>
                <a:latin typeface="Calibri"/>
              </a:defRPr>
            </a:pPr>
            <a:r>
              <a:t>A graph containing multiple types of nodes and edges, such as users, posts, and news articles in a social network.</a:t>
            </a:r>
          </a:p>
        </p:txBody>
      </p:sp>
      <p:sp>
        <p:nvSpPr>
          <p:cNvPr id="10" name="Rounded Rectangle 9"/>
          <p:cNvSpPr/>
          <p:nvPr/>
        </p:nvSpPr>
        <p:spPr>
          <a:xfrm>
            <a:off x="594360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645920" cy="292608"/>
          </a:xfrm>
          <a:prstGeom prst="rect">
            <a:avLst/>
          </a:prstGeom>
          <a:noFill/>
        </p:spPr>
        <p:txBody>
          <a:bodyPr wrap="none">
            <a:spAutoFit/>
          </a:bodyPr>
          <a:lstStyle/>
          <a:p>
            <a:pPr algn="ctr">
              <a:defRPr sz="1100" b="1">
                <a:solidFill>
                  <a:srgbClr val="FFFFFF"/>
                </a:solidFill>
                <a:latin typeface="Calibri"/>
              </a:defRPr>
            </a:pPr>
            <a:r>
              <a:t>Node Heterogeneity</a:t>
            </a:r>
          </a:p>
        </p:txBody>
      </p:sp>
      <p:sp>
        <p:nvSpPr>
          <p:cNvPr id="13" name="TextBox 12"/>
          <p:cNvSpPr txBox="1"/>
          <p:nvPr/>
        </p:nvSpPr>
        <p:spPr>
          <a:xfrm>
            <a:off x="7726680" y="1157731"/>
            <a:ext cx="3154680" cy="1705610"/>
          </a:xfrm>
          <a:prstGeom prst="rect">
            <a:avLst/>
          </a:prstGeom>
          <a:noFill/>
        </p:spPr>
        <p:txBody>
          <a:bodyPr wrap="square">
            <a:spAutoFit/>
          </a:bodyPr>
          <a:lstStyle/>
          <a:p>
            <a:pPr>
              <a:lnSpc>
                <a:spcPct val="130000"/>
              </a:lnSpc>
              <a:defRPr sz="1400">
                <a:solidFill>
                  <a:srgbClr val="1E293B"/>
                </a:solidFill>
                <a:latin typeface="Calibri"/>
              </a:defRPr>
            </a:pPr>
            <a:r>
              <a:t>The presence of different node types within a graph, each with distinct attributes and roles.</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645920" cy="292608"/>
          </a:xfrm>
          <a:prstGeom prst="rect">
            <a:avLst/>
          </a:prstGeom>
          <a:noFill/>
        </p:spPr>
        <p:txBody>
          <a:bodyPr wrap="none">
            <a:spAutoFit/>
          </a:bodyPr>
          <a:lstStyle/>
          <a:p>
            <a:pPr algn="ctr">
              <a:defRPr sz="1100" b="1">
                <a:solidFill>
                  <a:srgbClr val="FFFFFF"/>
                </a:solidFill>
                <a:latin typeface="Calibri"/>
              </a:defRPr>
            </a:pPr>
            <a:r>
              <a:t>Transformation Matrix</a:t>
            </a:r>
          </a:p>
        </p:txBody>
      </p:sp>
      <p:sp>
        <p:nvSpPr>
          <p:cNvPr id="17" name="TextBox 16"/>
          <p:cNvSpPr txBox="1"/>
          <p:nvPr/>
        </p:nvSpPr>
        <p:spPr>
          <a:xfrm>
            <a:off x="233172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A mathematical matrix used to project embeddings from one dimension or type to another.</a:t>
            </a:r>
          </a:p>
        </p:txBody>
      </p:sp>
      <p:sp>
        <p:nvSpPr>
          <p:cNvPr id="18" name="Rounded Rectangle 17"/>
          <p:cNvSpPr/>
          <p:nvPr/>
        </p:nvSpPr>
        <p:spPr>
          <a:xfrm>
            <a:off x="594360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265677"/>
            <a:ext cx="1645920" cy="292608"/>
          </a:xfrm>
          <a:prstGeom prst="rect">
            <a:avLst/>
          </a:prstGeom>
          <a:noFill/>
        </p:spPr>
        <p:txBody>
          <a:bodyPr wrap="none">
            <a:spAutoFit/>
          </a:bodyPr>
          <a:lstStyle/>
          <a:p>
            <a:pPr algn="ctr">
              <a:defRPr sz="1100" b="1">
                <a:solidFill>
                  <a:srgbClr val="FFFFFF"/>
                </a:solidFill>
                <a:latin typeface="Calibri"/>
              </a:defRPr>
            </a:pPr>
            <a:r>
              <a:t>Structural Representation</a:t>
            </a:r>
          </a:p>
        </p:txBody>
      </p:sp>
      <p:sp>
        <p:nvSpPr>
          <p:cNvPr id="21" name="TextBox 20"/>
          <p:cNvSpPr txBox="1"/>
          <p:nvPr/>
        </p:nvSpPr>
        <p:spPr>
          <a:xfrm>
            <a:off x="772668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A mathematical encoding of the topology and connectivity patterns within a graph.</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2148840"/>
          </a:xfrm>
          <a:prstGeom prst="rect">
            <a:avLst/>
          </a:prstGeom>
          <a:noFill/>
        </p:spPr>
        <p:txBody>
          <a:bodyPr wrap="square">
            <a:spAutoFit/>
          </a:bodyPr>
          <a:lstStyle/>
          <a:p>
            <a:pPr>
              <a:defRPr sz="4400" b="1">
                <a:solidFill>
                  <a:srgbClr val="1E293B"/>
                </a:solidFill>
                <a:latin typeface="Calibri"/>
              </a:defRPr>
            </a:pPr>
            <a:r>
              <a:t>Encoder-decoder architectures for news content</a:t>
            </a:r>
          </a:p>
        </p:txBody>
      </p:sp>
      <p:sp>
        <p:nvSpPr>
          <p:cNvPr id="7" name="Rectangle 6"/>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9" name="TextBox 8"/>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Encoder-decoder architectures for news content</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To move beyond simple classification, the HetTransformer employs</a:t>
            </a:r>
          </a:p>
          <a:p>
            <a:pPr>
              <a:lnSpc>
                <a:spcPct val="135000"/>
              </a:lnSpc>
              <a:spcAft>
                <a:spcPts val="1000"/>
              </a:spcAft>
              <a:defRPr sz="1600">
                <a:solidFill>
                  <a:srgbClr val="1E293B"/>
                </a:solidFill>
                <a:latin typeface="Calibri"/>
              </a:defRPr>
            </a:pPr>
            <a:r>
              <a:rPr>
                <a:solidFill>
                  <a:srgbClr val="3B82F6"/>
                </a:solidFill>
              </a:rPr>
              <a:t>• an encoder-decoder structure inspired by the Transformer</a:t>
            </a:r>
          </a:p>
          <a:p>
            <a:pPr>
              <a:lnSpc>
                <a:spcPct val="135000"/>
              </a:lnSpc>
              <a:spcAft>
                <a:spcPts val="1000"/>
              </a:spcAft>
              <a:defRPr sz="1600">
                <a:solidFill>
                  <a:srgbClr val="1E293B"/>
                </a:solidFill>
                <a:latin typeface="Calibri"/>
              </a:defRPr>
            </a:pPr>
            <a:r>
              <a:rPr>
                <a:solidFill>
                  <a:srgbClr val="3B82F6"/>
                </a:solidFill>
              </a:rPr>
              <a:t>• architecture.</a:t>
            </a:r>
          </a:p>
          <a:p>
            <a:pPr>
              <a:lnSpc>
                <a:spcPct val="135000"/>
              </a:lnSpc>
              <a:spcAft>
                <a:spcPts val="1000"/>
              </a:spcAft>
              <a:defRPr sz="1600">
                <a:solidFill>
                  <a:srgbClr val="1E293B"/>
                </a:solidFill>
                <a:latin typeface="Calibri"/>
              </a:defRPr>
            </a:pPr>
            <a:r>
              <a:rPr>
                <a:solidFill>
                  <a:srgbClr val="3B82F6"/>
                </a:solidFill>
              </a:rPr>
              <a:t>• In this context, the encoder is responsible for processing the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Encoder-decoder architectures for news content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news content and its associated neighborhood information, while</a:t>
            </a:r>
          </a:p>
          <a:p>
            <a:pPr>
              <a:lnSpc>
                <a:spcPct val="135000"/>
              </a:lnSpc>
              <a:spcAft>
                <a:spcPts val="1000"/>
              </a:spcAft>
              <a:defRPr sz="1600">
                <a:solidFill>
                  <a:srgbClr val="1E293B"/>
                </a:solidFill>
                <a:latin typeface="Calibri"/>
              </a:defRPr>
            </a:pPr>
            <a:r>
              <a:rPr>
                <a:solidFill>
                  <a:srgbClr val="3B82F6"/>
                </a:solidFill>
              </a:rPr>
              <a:t>• the decoder facilitates the final classification task.</a:t>
            </a:r>
          </a:p>
          <a:p>
            <a:pPr>
              <a:lnSpc>
                <a:spcPct val="135000"/>
              </a:lnSpc>
              <a:spcAft>
                <a:spcPts val="1000"/>
              </a:spcAft>
              <a:defRPr sz="1600">
                <a:solidFill>
                  <a:srgbClr val="1E293B"/>
                </a:solidFill>
                <a:latin typeface="Calibri"/>
              </a:defRPr>
            </a:pPr>
            <a:r>
              <a:rPr>
                <a:solidFill>
                  <a:srgbClr val="3B82F6"/>
                </a:solidFill>
              </a:rPr>
              <a:t>• This structure is critical for fake news detection because it</a:t>
            </a:r>
          </a:p>
          <a:p>
            <a:pPr>
              <a:lnSpc>
                <a:spcPct val="135000"/>
              </a:lnSpc>
              <a:spcAft>
                <a:spcPts val="1000"/>
              </a:spcAft>
              <a:defRPr sz="1600">
                <a:solidFill>
                  <a:srgbClr val="1E293B"/>
                </a:solidFill>
                <a:latin typeface="Calibri"/>
              </a:defRPr>
            </a:pPr>
            <a:r>
              <a:rPr>
                <a:solidFill>
                  <a:srgbClr val="3B82F6"/>
                </a:solidFill>
              </a:rPr>
              <a:t>• allows the model to learn a latent representation that captures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Encoder-decoder architectures for news content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both the intrinsic content of the news and the extrinsic</a:t>
            </a:r>
          </a:p>
          <a:p>
            <a:pPr>
              <a:lnSpc>
                <a:spcPct val="135000"/>
              </a:lnSpc>
              <a:spcAft>
                <a:spcPts val="1000"/>
              </a:spcAft>
              <a:defRPr sz="1600">
                <a:solidFill>
                  <a:srgbClr val="1E293B"/>
                </a:solidFill>
                <a:latin typeface="Calibri"/>
              </a:defRPr>
            </a:pPr>
            <a:r>
              <a:rPr>
                <a:solidFill>
                  <a:srgbClr val="3B82F6"/>
                </a:solidFill>
              </a:rPr>
              <a:t>• propagation patterns.</a:t>
            </a:r>
          </a:p>
          <a:p>
            <a:pPr>
              <a:lnSpc>
                <a:spcPct val="135000"/>
              </a:lnSpc>
              <a:spcAft>
                <a:spcPts val="1000"/>
              </a:spcAft>
              <a:defRPr sz="1600">
                <a:solidFill>
                  <a:srgbClr val="1E293B"/>
                </a:solidFill>
                <a:latin typeface="Calibri"/>
              </a:defRPr>
            </a:pPr>
            <a:r>
              <a:rPr>
                <a:solidFill>
                  <a:srgbClr val="3B82F6"/>
                </a:solidFill>
              </a:rPr>
              <a:t>• By leveraging the Transformer's self-attention mechanism, the</a:t>
            </a:r>
          </a:p>
          <a:p>
            <a:pPr>
              <a:lnSpc>
                <a:spcPct val="135000"/>
              </a:lnSpc>
              <a:spcAft>
                <a:spcPts val="1000"/>
              </a:spcAft>
              <a:defRPr sz="1600">
                <a:solidFill>
                  <a:srgbClr val="1E293B"/>
                </a:solidFill>
                <a:latin typeface="Calibri"/>
              </a:defRPr>
            </a:pPr>
            <a:r>
              <a:rPr>
                <a:solidFill>
                  <a:srgbClr val="3B82F6"/>
                </a:solidFill>
              </a:rPr>
              <a:t>• model can weigh the importance of different neighbors and content</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Encoder-decoder architectures for news content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features dynamically.</a:t>
            </a:r>
          </a:p>
          <a:p>
            <a:pPr>
              <a:lnSpc>
                <a:spcPct val="135000"/>
              </a:lnSpc>
              <a:spcAft>
                <a:spcPts val="1000"/>
              </a:spcAft>
              <a:defRPr sz="1600">
                <a:solidFill>
                  <a:srgbClr val="1E293B"/>
                </a:solidFill>
                <a:latin typeface="Calibri"/>
              </a:defRPr>
            </a:pPr>
            <a:r>
              <a:rPr>
                <a:solidFill>
                  <a:srgbClr val="3B82F6"/>
                </a:solidFill>
              </a:rPr>
              <a:t>• This encoder-decoder framework provides a robust mechanism for</a:t>
            </a:r>
          </a:p>
          <a:p>
            <a:pPr>
              <a:lnSpc>
                <a:spcPct val="135000"/>
              </a:lnSpc>
              <a:spcAft>
                <a:spcPts val="1000"/>
              </a:spcAft>
              <a:defRPr sz="1600">
                <a:solidFill>
                  <a:srgbClr val="1E293B"/>
                </a:solidFill>
                <a:latin typeface="Calibri"/>
              </a:defRPr>
            </a:pPr>
            <a:r>
              <a:rPr>
                <a:solidFill>
                  <a:srgbClr val="3B82F6"/>
                </a:solidFill>
              </a:rPr>
              <a:t>• mapping complex, high-dimensional social context into a feature</a:t>
            </a:r>
          </a:p>
          <a:p>
            <a:pPr>
              <a:lnSpc>
                <a:spcPct val="135000"/>
              </a:lnSpc>
              <a:spcAft>
                <a:spcPts val="1000"/>
              </a:spcAft>
              <a:defRPr sz="1600">
                <a:solidFill>
                  <a:srgbClr val="1E293B"/>
                </a:solidFill>
                <a:latin typeface="Calibri"/>
              </a:defRPr>
            </a:pPr>
            <a:r>
              <a:rPr>
                <a:solidFill>
                  <a:srgbClr val="3B82F6"/>
                </a:solidFill>
              </a:rPr>
              <a:t>• space suitable for distinguishing between real and fake news,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Encoder-decoder architectures for news content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addressing the limitations of earlier models that lacked this</a:t>
            </a:r>
          </a:p>
          <a:p>
            <a:pPr>
              <a:lnSpc>
                <a:spcPct val="135000"/>
              </a:lnSpc>
              <a:spcAft>
                <a:spcPts val="1000"/>
              </a:spcAft>
              <a:defRPr sz="1600">
                <a:solidFill>
                  <a:srgbClr val="1E293B"/>
                </a:solidFill>
                <a:latin typeface="Calibri"/>
              </a:defRPr>
            </a:pPr>
            <a:r>
              <a:rPr>
                <a:solidFill>
                  <a:srgbClr val="3B82F6"/>
                </a:solidFill>
              </a:rPr>
              <a:t>• hierarchical depth.</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Encoder-decoder architectures for news content</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186410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186410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implementation utilizes the encoder-decoder structure of the Transformer to classify fake news, where the model learns to aggregate structural representations through hierarchical, attention-based processing of news propagation patterns.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64515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50876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508760" cy="292608"/>
          </a:xfrm>
          <a:prstGeom prst="rect">
            <a:avLst/>
          </a:prstGeom>
          <a:noFill/>
        </p:spPr>
        <p:txBody>
          <a:bodyPr wrap="none">
            <a:spAutoFit/>
          </a:bodyPr>
          <a:lstStyle/>
          <a:p>
            <a:pPr algn="ctr">
              <a:defRPr sz="1100" b="1">
                <a:solidFill>
                  <a:srgbClr val="FFFFFF"/>
                </a:solidFill>
                <a:latin typeface="Calibri"/>
              </a:defRPr>
            </a:pPr>
            <a:r>
              <a:t>Encoder-Decoder</a:t>
            </a:r>
          </a:p>
        </p:txBody>
      </p:sp>
      <p:sp>
        <p:nvSpPr>
          <p:cNvPr id="9" name="TextBox 8"/>
          <p:cNvSpPr txBox="1"/>
          <p:nvPr/>
        </p:nvSpPr>
        <p:spPr>
          <a:xfrm>
            <a:off x="2194560" y="1157731"/>
            <a:ext cx="3291840" cy="2425700"/>
          </a:xfrm>
          <a:prstGeom prst="rect">
            <a:avLst/>
          </a:prstGeom>
          <a:noFill/>
        </p:spPr>
        <p:txBody>
          <a:bodyPr wrap="square">
            <a:spAutoFit/>
          </a:bodyPr>
          <a:lstStyle/>
          <a:p>
            <a:pPr>
              <a:lnSpc>
                <a:spcPct val="130000"/>
              </a:lnSpc>
              <a:defRPr sz="1400">
                <a:solidFill>
                  <a:srgbClr val="1E293B"/>
                </a:solidFill>
                <a:latin typeface="Calibri"/>
              </a:defRPr>
            </a:pPr>
            <a:r>
              <a:t>A neural network architecture where an encoder processes input into a latent representation and a decoder generates output from that representation.</a:t>
            </a:r>
          </a:p>
        </p:txBody>
      </p:sp>
      <p:sp>
        <p:nvSpPr>
          <p:cNvPr id="10" name="Rounded Rectangle 9"/>
          <p:cNvSpPr/>
          <p:nvPr/>
        </p:nvSpPr>
        <p:spPr>
          <a:xfrm>
            <a:off x="5943600" y="1048004"/>
            <a:ext cx="5120640" cy="24051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426464"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426464" cy="292608"/>
          </a:xfrm>
          <a:prstGeom prst="rect">
            <a:avLst/>
          </a:prstGeom>
          <a:noFill/>
        </p:spPr>
        <p:txBody>
          <a:bodyPr wrap="none">
            <a:spAutoFit/>
          </a:bodyPr>
          <a:lstStyle/>
          <a:p>
            <a:pPr algn="ctr">
              <a:defRPr sz="1100" b="1">
                <a:solidFill>
                  <a:srgbClr val="FFFFFF"/>
                </a:solidFill>
                <a:latin typeface="Calibri"/>
              </a:defRPr>
            </a:pPr>
            <a:r>
              <a:t>Self-attention</a:t>
            </a:r>
          </a:p>
        </p:txBody>
      </p:sp>
      <p:sp>
        <p:nvSpPr>
          <p:cNvPr id="13" name="TextBox 12"/>
          <p:cNvSpPr txBox="1"/>
          <p:nvPr/>
        </p:nvSpPr>
        <p:spPr>
          <a:xfrm>
            <a:off x="7507224" y="1157731"/>
            <a:ext cx="3374136" cy="2185669"/>
          </a:xfrm>
          <a:prstGeom prst="rect">
            <a:avLst/>
          </a:prstGeom>
          <a:noFill/>
        </p:spPr>
        <p:txBody>
          <a:bodyPr wrap="square">
            <a:spAutoFit/>
          </a:bodyPr>
          <a:lstStyle/>
          <a:p>
            <a:pPr>
              <a:lnSpc>
                <a:spcPct val="130000"/>
              </a:lnSpc>
              <a:defRPr sz="1400">
                <a:solidFill>
                  <a:srgbClr val="1E293B"/>
                </a:solidFill>
                <a:latin typeface="Calibri"/>
              </a:defRPr>
            </a:pPr>
            <a:r>
              <a:t>A mechanism allowing the model to weigh the importance of different parts of the input sequence when processing each element.</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645920" cy="292608"/>
          </a:xfrm>
          <a:prstGeom prst="rect">
            <a:avLst/>
          </a:prstGeom>
          <a:noFill/>
        </p:spPr>
        <p:txBody>
          <a:bodyPr wrap="none">
            <a:spAutoFit/>
          </a:bodyPr>
          <a:lstStyle/>
          <a:p>
            <a:pPr algn="ctr">
              <a:defRPr sz="1100" b="1">
                <a:solidFill>
                  <a:srgbClr val="FFFFFF"/>
                </a:solidFill>
                <a:latin typeface="Calibri"/>
              </a:defRPr>
            </a:pPr>
            <a:r>
              <a:t>Latent Representation</a:t>
            </a:r>
          </a:p>
        </p:txBody>
      </p:sp>
      <p:sp>
        <p:nvSpPr>
          <p:cNvPr id="17" name="TextBox 16"/>
          <p:cNvSpPr txBox="1"/>
          <p:nvPr/>
        </p:nvSpPr>
        <p:spPr>
          <a:xfrm>
            <a:off x="233172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A compressed, learned feature vector that captures the essential information of the input data.</a:t>
            </a:r>
          </a:p>
        </p:txBody>
      </p:sp>
      <p:sp>
        <p:nvSpPr>
          <p:cNvPr id="18" name="Rounded Rectangle 17"/>
          <p:cNvSpPr/>
          <p:nvPr/>
        </p:nvSpPr>
        <p:spPr>
          <a:xfrm>
            <a:off x="5943600" y="2870200"/>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007360"/>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025648"/>
            <a:ext cx="1645920" cy="292608"/>
          </a:xfrm>
          <a:prstGeom prst="rect">
            <a:avLst/>
          </a:prstGeom>
          <a:noFill/>
        </p:spPr>
        <p:txBody>
          <a:bodyPr wrap="none">
            <a:spAutoFit/>
          </a:bodyPr>
          <a:lstStyle/>
          <a:p>
            <a:pPr algn="ctr">
              <a:defRPr sz="1100" b="1">
                <a:solidFill>
                  <a:srgbClr val="FFFFFF"/>
                </a:solidFill>
                <a:latin typeface="Calibri"/>
              </a:defRPr>
            </a:pPr>
            <a:r>
              <a:t>Hierarchical Processing</a:t>
            </a:r>
          </a:p>
        </p:txBody>
      </p:sp>
      <p:sp>
        <p:nvSpPr>
          <p:cNvPr id="21" name="TextBox 20"/>
          <p:cNvSpPr txBox="1"/>
          <p:nvPr/>
        </p:nvSpPr>
        <p:spPr>
          <a:xfrm>
            <a:off x="7726680" y="2979928"/>
            <a:ext cx="3154680" cy="1465580"/>
          </a:xfrm>
          <a:prstGeom prst="rect">
            <a:avLst/>
          </a:prstGeom>
          <a:noFill/>
        </p:spPr>
        <p:txBody>
          <a:bodyPr wrap="square">
            <a:spAutoFit/>
          </a:bodyPr>
          <a:lstStyle/>
          <a:p>
            <a:pPr>
              <a:lnSpc>
                <a:spcPct val="130000"/>
              </a:lnSpc>
              <a:defRPr sz="1400">
                <a:solidFill>
                  <a:srgbClr val="1E293B"/>
                </a:solidFill>
                <a:latin typeface="Calibri"/>
              </a:defRPr>
            </a:pPr>
            <a:r>
              <a:t>Processing data at multiple levels of abstraction or granularity.</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2148840"/>
          </a:xfrm>
          <a:prstGeom prst="rect">
            <a:avLst/>
          </a:prstGeom>
          <a:noFill/>
        </p:spPr>
        <p:txBody>
          <a:bodyPr wrap="square">
            <a:spAutoFit/>
          </a:bodyPr>
          <a:lstStyle/>
          <a:p>
            <a:pPr>
              <a:defRPr sz="4400" b="1">
                <a:solidFill>
                  <a:srgbClr val="1E293B"/>
                </a:solidFill>
                <a:latin typeface="Calibri"/>
              </a:defRPr>
            </a:pPr>
            <a:r>
              <a:t>Integrating multi-modal semantics with structural embeddings</a:t>
            </a:r>
          </a:p>
        </p:txBody>
      </p:sp>
      <p:sp>
        <p:nvSpPr>
          <p:cNvPr id="7" name="Rectangle 6"/>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9" name="TextBox 8"/>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Integrating multi-modal semantics with structural embeddings</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A core innovation of the HetTransformer is its ability to fuse</a:t>
            </a:r>
          </a:p>
          <a:p>
            <a:pPr>
              <a:lnSpc>
                <a:spcPct val="135000"/>
              </a:lnSpc>
              <a:spcAft>
                <a:spcPts val="1000"/>
              </a:spcAft>
              <a:defRPr sz="1600">
                <a:solidFill>
                  <a:srgbClr val="1E293B"/>
                </a:solidFill>
                <a:latin typeface="Calibri"/>
              </a:defRPr>
            </a:pPr>
            <a:r>
              <a:rPr>
                <a:solidFill>
                  <a:srgbClr val="3B82F6"/>
                </a:solidFill>
              </a:rPr>
              <a:t>• multi-modal semantics (such as text, images, or user metadata)</a:t>
            </a:r>
          </a:p>
          <a:p>
            <a:pPr>
              <a:lnSpc>
                <a:spcPct val="135000"/>
              </a:lnSpc>
              <a:spcAft>
                <a:spcPts val="1000"/>
              </a:spcAft>
              <a:defRPr sz="1600">
                <a:solidFill>
                  <a:srgbClr val="1E293B"/>
                </a:solidFill>
                <a:latin typeface="Calibri"/>
              </a:defRPr>
            </a:pPr>
            <a:r>
              <a:rPr>
                <a:solidFill>
                  <a:srgbClr val="3B82F6"/>
                </a:solidFill>
              </a:rPr>
              <a:t>• with structural embeddings derived from the graph.</a:t>
            </a:r>
          </a:p>
          <a:p>
            <a:pPr>
              <a:lnSpc>
                <a:spcPct val="135000"/>
              </a:lnSpc>
              <a:spcAft>
                <a:spcPts val="1000"/>
              </a:spcAft>
              <a:defRPr sz="1600">
                <a:solidFill>
                  <a:srgbClr val="1E293B"/>
                </a:solidFill>
                <a:latin typeface="Calibri"/>
              </a:defRPr>
            </a:pPr>
            <a:r>
              <a:rPr>
                <a:solidFill>
                  <a:srgbClr val="3B82F6"/>
                </a:solidFill>
              </a:rPr>
              <a:t>• While previous methods often treated content and structure as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Integrating multi-modal semantics with structural embeddings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separate inputs, HetTransformer integrates them by concatenating</a:t>
            </a:r>
          </a:p>
          <a:p>
            <a:pPr>
              <a:lnSpc>
                <a:spcPct val="135000"/>
              </a:lnSpc>
              <a:spcAft>
                <a:spcPts val="1000"/>
              </a:spcAft>
              <a:defRPr sz="1600">
                <a:solidFill>
                  <a:srgbClr val="1E293B"/>
                </a:solidFill>
                <a:latin typeface="Calibri"/>
              </a:defRPr>
            </a:pPr>
            <a:r>
              <a:rPr>
                <a:solidFill>
                  <a:srgbClr val="3B82F6"/>
                </a:solidFill>
              </a:rPr>
              <a:t>• content embeddings with positional and type-specific embeddings.</a:t>
            </a:r>
          </a:p>
          <a:p>
            <a:pPr>
              <a:lnSpc>
                <a:spcPct val="135000"/>
              </a:lnSpc>
              <a:spcAft>
                <a:spcPts val="1000"/>
              </a:spcAft>
              <a:defRPr sz="1600">
                <a:solidFill>
                  <a:srgbClr val="1E293B"/>
                </a:solidFill>
                <a:latin typeface="Calibri"/>
              </a:defRPr>
            </a:pPr>
            <a:r>
              <a:rPr>
                <a:solidFill>
                  <a:srgbClr val="3B82F6"/>
                </a:solidFill>
              </a:rPr>
              <a:t>• This integration ensures that the model does not just look at</a:t>
            </a:r>
          </a:p>
          <a:p>
            <a:pPr>
              <a:lnSpc>
                <a:spcPct val="135000"/>
              </a:lnSpc>
              <a:spcAft>
                <a:spcPts val="1000"/>
              </a:spcAft>
              <a:defRPr sz="1600">
                <a:solidFill>
                  <a:srgbClr val="1E293B"/>
                </a:solidFill>
                <a:latin typeface="Calibri"/>
              </a:defRPr>
            </a:pPr>
            <a:r>
              <a:rPr>
                <a:solidFill>
                  <a:srgbClr val="3B82F6"/>
                </a:solidFill>
              </a:rPr>
              <a:t>• what the news says, but also at who is sharing it and how it is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Integrating multi-modal semantics with structural embeddings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spreading through the network.</a:t>
            </a:r>
          </a:p>
          <a:p>
            <a:pPr>
              <a:lnSpc>
                <a:spcPct val="135000"/>
              </a:lnSpc>
              <a:spcAft>
                <a:spcPts val="1000"/>
              </a:spcAft>
              <a:defRPr sz="1600">
                <a:solidFill>
                  <a:srgbClr val="1E293B"/>
                </a:solidFill>
                <a:latin typeface="Calibri"/>
              </a:defRPr>
            </a:pPr>
            <a:r>
              <a:rPr>
                <a:solidFill>
                  <a:srgbClr val="3B82F6"/>
                </a:solidFill>
              </a:rPr>
              <a:t>• By combining these multi-modal features into a unified input for</a:t>
            </a:r>
          </a:p>
          <a:p>
            <a:pPr>
              <a:lnSpc>
                <a:spcPct val="135000"/>
              </a:lnSpc>
              <a:spcAft>
                <a:spcPts val="1000"/>
              </a:spcAft>
              <a:defRPr sz="1600">
                <a:solidFill>
                  <a:srgbClr val="1E293B"/>
                </a:solidFill>
                <a:latin typeface="Calibri"/>
              </a:defRPr>
            </a:pPr>
            <a:r>
              <a:rPr>
                <a:solidFill>
                  <a:srgbClr val="3B82F6"/>
                </a:solidFill>
              </a:rPr>
              <a:t>• the Transformer, the model captures the local semantics of the</a:t>
            </a:r>
          </a:p>
          <a:p>
            <a:pPr>
              <a:lnSpc>
                <a:spcPct val="135000"/>
              </a:lnSpc>
              <a:spcAft>
                <a:spcPts val="1000"/>
              </a:spcAft>
              <a:defRPr sz="1600">
                <a:solidFill>
                  <a:srgbClr val="1E293B"/>
                </a:solidFill>
                <a:latin typeface="Calibri"/>
              </a:defRPr>
            </a:pPr>
            <a:r>
              <a:rPr>
                <a:solidFill>
                  <a:srgbClr val="3B82F6"/>
                </a:solidFill>
              </a:rPr>
              <a:t>• news alongside the global structural context of the social</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Integrating multi-modal semantics with structural embeddings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network, providing a more comprehensive view of the information</a:t>
            </a:r>
          </a:p>
          <a:p>
            <a:pPr>
              <a:lnSpc>
                <a:spcPct val="135000"/>
              </a:lnSpc>
              <a:spcAft>
                <a:spcPts val="1000"/>
              </a:spcAft>
              <a:defRPr sz="1600">
                <a:solidFill>
                  <a:srgbClr val="1E293B"/>
                </a:solidFill>
                <a:latin typeface="Calibri"/>
              </a:defRPr>
            </a:pPr>
            <a:r>
              <a:rPr>
                <a:solidFill>
                  <a:srgbClr val="3B82F6"/>
                </a:solidFill>
              </a:rPr>
              <a:t>• dissemination process.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Integrating multi-modal semantics with structural embeddings</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186410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186410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model achieves this integration through the concatenation of content embeddings with positional and type embeddings, ensuring that the multi-modal semantics are enriched by the structural context of the heterogeneous graph.</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645920" cy="292608"/>
          </a:xfrm>
          <a:prstGeom prst="rect">
            <a:avLst/>
          </a:prstGeom>
          <a:noFill/>
        </p:spPr>
        <p:txBody>
          <a:bodyPr wrap="none">
            <a:spAutoFit/>
          </a:bodyPr>
          <a:lstStyle/>
          <a:p>
            <a:pPr algn="ctr">
              <a:defRPr sz="1100" b="1">
                <a:solidFill>
                  <a:srgbClr val="FFFFFF"/>
                </a:solidFill>
                <a:latin typeface="Calibri"/>
              </a:defRPr>
            </a:pPr>
            <a:r>
              <a:t>Multi-modal Semantics</a:t>
            </a:r>
          </a:p>
        </p:txBody>
      </p:sp>
      <p:sp>
        <p:nvSpPr>
          <p:cNvPr id="9" name="TextBox 8"/>
          <p:cNvSpPr txBox="1"/>
          <p:nvPr/>
        </p:nvSpPr>
        <p:spPr>
          <a:xfrm>
            <a:off x="2331720" y="1157731"/>
            <a:ext cx="3154680" cy="1465580"/>
          </a:xfrm>
          <a:prstGeom prst="rect">
            <a:avLst/>
          </a:prstGeom>
          <a:noFill/>
        </p:spPr>
        <p:txBody>
          <a:bodyPr wrap="square">
            <a:spAutoFit/>
          </a:bodyPr>
          <a:lstStyle/>
          <a:p>
            <a:pPr>
              <a:lnSpc>
                <a:spcPct val="130000"/>
              </a:lnSpc>
              <a:defRPr sz="1400">
                <a:solidFill>
                  <a:srgbClr val="1E293B"/>
                </a:solidFill>
                <a:latin typeface="Calibri"/>
              </a:defRPr>
            </a:pPr>
            <a:r>
              <a:t>Information derived from multiple data types, such as text, images, and metadata.</a:t>
            </a:r>
          </a:p>
        </p:txBody>
      </p:sp>
      <p:sp>
        <p:nvSpPr>
          <p:cNvPr id="10" name="Rounded Rectangle 9"/>
          <p:cNvSpPr/>
          <p:nvPr/>
        </p:nvSpPr>
        <p:spPr>
          <a:xfrm>
            <a:off x="5943600" y="1048004"/>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645920" cy="292608"/>
          </a:xfrm>
          <a:prstGeom prst="rect">
            <a:avLst/>
          </a:prstGeom>
          <a:noFill/>
        </p:spPr>
        <p:txBody>
          <a:bodyPr wrap="none">
            <a:spAutoFit/>
          </a:bodyPr>
          <a:lstStyle/>
          <a:p>
            <a:pPr algn="ctr">
              <a:defRPr sz="1100" b="1">
                <a:solidFill>
                  <a:srgbClr val="FFFFFF"/>
                </a:solidFill>
                <a:latin typeface="Calibri"/>
              </a:defRPr>
            </a:pPr>
            <a:r>
              <a:t>Structural Embeddings</a:t>
            </a:r>
          </a:p>
        </p:txBody>
      </p:sp>
      <p:sp>
        <p:nvSpPr>
          <p:cNvPr id="13" name="TextBox 12"/>
          <p:cNvSpPr txBox="1"/>
          <p:nvPr/>
        </p:nvSpPr>
        <p:spPr>
          <a:xfrm>
            <a:off x="7726680" y="1157731"/>
            <a:ext cx="3154680" cy="1465580"/>
          </a:xfrm>
          <a:prstGeom prst="rect">
            <a:avLst/>
          </a:prstGeom>
          <a:noFill/>
        </p:spPr>
        <p:txBody>
          <a:bodyPr wrap="square">
            <a:spAutoFit/>
          </a:bodyPr>
          <a:lstStyle/>
          <a:p>
            <a:pPr>
              <a:lnSpc>
                <a:spcPct val="130000"/>
              </a:lnSpc>
              <a:defRPr sz="1400">
                <a:solidFill>
                  <a:srgbClr val="1E293B"/>
                </a:solidFill>
                <a:latin typeface="Calibri"/>
              </a:defRPr>
            </a:pPr>
            <a:r>
              <a:t>Vector representations that encode the topological structure of a graph.</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344168"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344168" cy="292608"/>
          </a:xfrm>
          <a:prstGeom prst="rect">
            <a:avLst/>
          </a:prstGeom>
          <a:noFill/>
        </p:spPr>
        <p:txBody>
          <a:bodyPr wrap="none">
            <a:spAutoFit/>
          </a:bodyPr>
          <a:lstStyle/>
          <a:p>
            <a:pPr algn="ctr">
              <a:defRPr sz="1100" b="1">
                <a:solidFill>
                  <a:srgbClr val="FFFFFF"/>
                </a:solidFill>
                <a:latin typeface="Calibri"/>
              </a:defRPr>
            </a:pPr>
            <a:r>
              <a:t>Concatenation</a:t>
            </a:r>
          </a:p>
        </p:txBody>
      </p:sp>
      <p:sp>
        <p:nvSpPr>
          <p:cNvPr id="17" name="TextBox 16"/>
          <p:cNvSpPr txBox="1"/>
          <p:nvPr/>
        </p:nvSpPr>
        <p:spPr>
          <a:xfrm>
            <a:off x="2029968" y="3219958"/>
            <a:ext cx="3456432" cy="1705610"/>
          </a:xfrm>
          <a:prstGeom prst="rect">
            <a:avLst/>
          </a:prstGeom>
          <a:noFill/>
        </p:spPr>
        <p:txBody>
          <a:bodyPr wrap="square">
            <a:spAutoFit/>
          </a:bodyPr>
          <a:lstStyle/>
          <a:p>
            <a:pPr>
              <a:lnSpc>
                <a:spcPct val="130000"/>
              </a:lnSpc>
              <a:defRPr sz="1400">
                <a:solidFill>
                  <a:srgbClr val="1E293B"/>
                </a:solidFill>
                <a:latin typeface="Calibri"/>
              </a:defRPr>
            </a:pPr>
            <a:r>
              <a:t>The process of joining multiple vectors or sequences end-to-end to form a single input.</a:t>
            </a:r>
          </a:p>
        </p:txBody>
      </p:sp>
      <p:sp>
        <p:nvSpPr>
          <p:cNvPr id="18" name="Rounded Rectangle 17"/>
          <p:cNvSpPr/>
          <p:nvPr/>
        </p:nvSpPr>
        <p:spPr>
          <a:xfrm>
            <a:off x="594360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265677"/>
            <a:ext cx="1645920" cy="292608"/>
          </a:xfrm>
          <a:prstGeom prst="rect">
            <a:avLst/>
          </a:prstGeom>
          <a:noFill/>
        </p:spPr>
        <p:txBody>
          <a:bodyPr wrap="none">
            <a:spAutoFit/>
          </a:bodyPr>
          <a:lstStyle/>
          <a:p>
            <a:pPr algn="ctr">
              <a:defRPr sz="1100" b="1">
                <a:solidFill>
                  <a:srgbClr val="FFFFFF"/>
                </a:solidFill>
                <a:latin typeface="Calibri"/>
              </a:defRPr>
            </a:pPr>
            <a:r>
              <a:t>Positional Embeddings</a:t>
            </a:r>
          </a:p>
        </p:txBody>
      </p:sp>
      <p:sp>
        <p:nvSpPr>
          <p:cNvPr id="21" name="TextBox 20"/>
          <p:cNvSpPr txBox="1"/>
          <p:nvPr/>
        </p:nvSpPr>
        <p:spPr>
          <a:xfrm>
            <a:off x="772668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Vectors that encode the position or location of elements within a sequence or graph.</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2148840"/>
          </a:xfrm>
          <a:prstGeom prst="rect">
            <a:avLst/>
          </a:prstGeom>
          <a:noFill/>
        </p:spPr>
        <p:txBody>
          <a:bodyPr wrap="square">
            <a:spAutoFit/>
          </a:bodyPr>
          <a:lstStyle/>
          <a:p>
            <a:pPr>
              <a:defRPr sz="4400" b="1">
                <a:solidFill>
                  <a:srgbClr val="1E293B"/>
                </a:solidFill>
                <a:latin typeface="Calibri"/>
              </a:defRPr>
            </a:pPr>
            <a:r>
              <a:t>Random Walk with Restart (RWR) for neighbor order determination</a:t>
            </a:r>
          </a:p>
        </p:txBody>
      </p:sp>
      <p:sp>
        <p:nvSpPr>
          <p:cNvPr id="7" name="Rectangle 6"/>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9" name="TextBox 8"/>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Random Walk with Restart (RWR) for neighbor order determination</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Determining the importance of neighbors in a heterogeneous graph</a:t>
            </a:r>
          </a:p>
          <a:p>
            <a:pPr>
              <a:lnSpc>
                <a:spcPct val="135000"/>
              </a:lnSpc>
              <a:spcAft>
                <a:spcPts val="1000"/>
              </a:spcAft>
              <a:defRPr sz="1600">
                <a:solidFill>
                  <a:srgbClr val="1E293B"/>
                </a:solidFill>
                <a:latin typeface="Calibri"/>
              </a:defRPr>
            </a:pPr>
            <a:r>
              <a:rPr>
                <a:solidFill>
                  <a:srgbClr val="3B82F6"/>
                </a:solidFill>
              </a:rPr>
              <a:t>• is a significant challenge.</a:t>
            </a:r>
          </a:p>
          <a:p>
            <a:pPr>
              <a:lnSpc>
                <a:spcPct val="135000"/>
              </a:lnSpc>
              <a:spcAft>
                <a:spcPts val="1000"/>
              </a:spcAft>
              <a:defRPr sz="1600">
                <a:solidFill>
                  <a:srgbClr val="1E293B"/>
                </a:solidFill>
                <a:latin typeface="Calibri"/>
              </a:defRPr>
            </a:pPr>
            <a:r>
              <a:rPr>
                <a:solidFill>
                  <a:srgbClr val="3B82F6"/>
                </a:solidFill>
              </a:rPr>
              <a:t>• The HetTransformer employs a Random Walk with Restart (RWR)</a:t>
            </a:r>
          </a:p>
          <a:p>
            <a:pPr>
              <a:lnSpc>
                <a:spcPct val="135000"/>
              </a:lnSpc>
              <a:spcAft>
                <a:spcPts val="1000"/>
              </a:spcAft>
              <a:defRPr sz="1600">
                <a:solidFill>
                  <a:srgbClr val="1E293B"/>
                </a:solidFill>
                <a:latin typeface="Calibri"/>
              </a:defRPr>
            </a:pPr>
            <a:r>
              <a:rPr>
                <a:solidFill>
                  <a:srgbClr val="3B82F6"/>
                </a:solidFill>
              </a:rPr>
              <a:t>• strategy to determine the order and relevance of neighbors during</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Random Walk with Restart (RWR) for neighbor order determination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the sampling process.</a:t>
            </a:r>
          </a:p>
          <a:p>
            <a:pPr>
              <a:lnSpc>
                <a:spcPct val="135000"/>
              </a:lnSpc>
              <a:spcAft>
                <a:spcPts val="1000"/>
              </a:spcAft>
              <a:defRPr sz="1600">
                <a:solidFill>
                  <a:srgbClr val="1E293B"/>
                </a:solidFill>
                <a:latin typeface="Calibri"/>
              </a:defRPr>
            </a:pPr>
            <a:r>
              <a:rPr>
                <a:solidFill>
                  <a:srgbClr val="3B82F6"/>
                </a:solidFill>
              </a:rPr>
              <a:t>• Unlike simple neighborhood sampling, RWR allows the model to</a:t>
            </a:r>
          </a:p>
          <a:p>
            <a:pPr>
              <a:lnSpc>
                <a:spcPct val="135000"/>
              </a:lnSpc>
              <a:spcAft>
                <a:spcPts val="1000"/>
              </a:spcAft>
              <a:defRPr sz="1600">
                <a:solidFill>
                  <a:srgbClr val="1E293B"/>
                </a:solidFill>
                <a:latin typeface="Calibri"/>
              </a:defRPr>
            </a:pPr>
            <a:r>
              <a:rPr>
                <a:solidFill>
                  <a:srgbClr val="3B82F6"/>
                </a:solidFill>
              </a:rPr>
              <a:t>• capture the proximity and influence of nodes within the graph</a:t>
            </a:r>
          </a:p>
          <a:p>
            <a:pPr>
              <a:lnSpc>
                <a:spcPct val="135000"/>
              </a:lnSpc>
              <a:spcAft>
                <a:spcPts val="1000"/>
              </a:spcAft>
              <a:defRPr sz="1600">
                <a:solidFill>
                  <a:srgbClr val="1E293B"/>
                </a:solidFill>
                <a:latin typeface="Calibri"/>
              </a:defRPr>
            </a:pPr>
            <a:r>
              <a:rPr>
                <a:solidFill>
                  <a:srgbClr val="3B82F6"/>
                </a:solidFill>
              </a:rPr>
              <a:t>• structure more effectively.</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Random Walk with Restart (RWR) for neighbor order determination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This is a one-off pre-processing step that identifies the most</a:t>
            </a:r>
          </a:p>
          <a:p>
            <a:pPr>
              <a:lnSpc>
                <a:spcPct val="135000"/>
              </a:lnSpc>
              <a:spcAft>
                <a:spcPts val="1000"/>
              </a:spcAft>
              <a:defRPr sz="1600">
                <a:solidFill>
                  <a:srgbClr val="1E293B"/>
                </a:solidFill>
                <a:latin typeface="Calibri"/>
              </a:defRPr>
            </a:pPr>
            <a:r>
              <a:rPr>
                <a:solidFill>
                  <a:srgbClr val="3B82F6"/>
                </a:solidFill>
              </a:rPr>
              <a:t>• relevant neighbors for each node, ensuring that the subsequent</a:t>
            </a:r>
          </a:p>
          <a:p>
            <a:pPr>
              <a:lnSpc>
                <a:spcPct val="135000"/>
              </a:lnSpc>
              <a:spcAft>
                <a:spcPts val="1000"/>
              </a:spcAft>
              <a:defRPr sz="1600">
                <a:solidFill>
                  <a:srgbClr val="1E293B"/>
                </a:solidFill>
                <a:latin typeface="Calibri"/>
              </a:defRPr>
            </a:pPr>
            <a:r>
              <a:rPr>
                <a:solidFill>
                  <a:srgbClr val="3B82F6"/>
                </a:solidFill>
              </a:rPr>
              <a:t>• Transformer layers receive high-quality, structurally significant</a:t>
            </a:r>
          </a:p>
          <a:p>
            <a:pPr>
              <a:lnSpc>
                <a:spcPct val="135000"/>
              </a:lnSpc>
              <a:spcAft>
                <a:spcPts val="1000"/>
              </a:spcAft>
              <a:defRPr sz="1600">
                <a:solidFill>
                  <a:srgbClr val="1E293B"/>
                </a:solidFill>
                <a:latin typeface="Calibri"/>
              </a:defRPr>
            </a:pPr>
            <a:r>
              <a:rPr>
                <a:solidFill>
                  <a:srgbClr val="3B82F6"/>
                </a:solidFill>
              </a:rPr>
              <a:t>• input.</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Random Walk with Restart (RWR) for neighbor order determination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By using RWR, the model can better capture the global structural</a:t>
            </a:r>
          </a:p>
          <a:p>
            <a:pPr>
              <a:lnSpc>
                <a:spcPct val="135000"/>
              </a:lnSpc>
              <a:spcAft>
                <a:spcPts val="1000"/>
              </a:spcAft>
              <a:defRPr sz="1600">
                <a:solidFill>
                  <a:srgbClr val="1E293B"/>
                </a:solidFill>
                <a:latin typeface="Calibri"/>
              </a:defRPr>
            </a:pPr>
            <a:r>
              <a:rPr>
                <a:solidFill>
                  <a:srgbClr val="3B82F6"/>
                </a:solidFill>
              </a:rPr>
              <a:t>• representation of news propagation, as it identifies nodes that</a:t>
            </a:r>
          </a:p>
          <a:p>
            <a:pPr>
              <a:lnSpc>
                <a:spcPct val="135000"/>
              </a:lnSpc>
              <a:spcAft>
                <a:spcPts val="1000"/>
              </a:spcAft>
              <a:defRPr sz="1600">
                <a:solidFill>
                  <a:srgbClr val="1E293B"/>
                </a:solidFill>
                <a:latin typeface="Calibri"/>
              </a:defRPr>
            </a:pPr>
            <a:r>
              <a:rPr>
                <a:solidFill>
                  <a:srgbClr val="3B82F6"/>
                </a:solidFill>
              </a:rPr>
              <a:t>• are not just immediate neighbors but are also structurally</a:t>
            </a:r>
          </a:p>
          <a:p>
            <a:pPr>
              <a:lnSpc>
                <a:spcPct val="135000"/>
              </a:lnSpc>
              <a:spcAft>
                <a:spcPts val="1000"/>
              </a:spcAft>
              <a:defRPr sz="1600">
                <a:solidFill>
                  <a:srgbClr val="1E293B"/>
                </a:solidFill>
                <a:latin typeface="Calibri"/>
              </a:defRPr>
            </a:pPr>
            <a:r>
              <a:rPr>
                <a:solidFill>
                  <a:srgbClr val="3B82F6"/>
                </a:solidFill>
              </a:rPr>
              <a:t>• influential in the context of the news item.</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Random Walk with Restart (RWR) for neighbor order determination</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186410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186410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RWR-based strategy is used as a one-off pre-processing step for heterogeneous neighbor sampling, which is essential for determining the neighbor order before the data is fed into the Transformer layers.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4051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645920" cy="292608"/>
          </a:xfrm>
          <a:prstGeom prst="rect">
            <a:avLst/>
          </a:prstGeom>
          <a:noFill/>
        </p:spPr>
        <p:txBody>
          <a:bodyPr wrap="none">
            <a:spAutoFit/>
          </a:bodyPr>
          <a:lstStyle/>
          <a:p>
            <a:pPr algn="ctr">
              <a:defRPr sz="1100" b="1">
                <a:solidFill>
                  <a:srgbClr val="FFFFFF"/>
                </a:solidFill>
                <a:latin typeface="Calibri"/>
              </a:defRPr>
            </a:pPr>
            <a:r>
              <a:t>Random Walk with Restart</a:t>
            </a:r>
          </a:p>
        </p:txBody>
      </p:sp>
      <p:sp>
        <p:nvSpPr>
          <p:cNvPr id="9" name="TextBox 8"/>
          <p:cNvSpPr txBox="1"/>
          <p:nvPr/>
        </p:nvSpPr>
        <p:spPr>
          <a:xfrm>
            <a:off x="2331720" y="1157731"/>
            <a:ext cx="3154680" cy="2185669"/>
          </a:xfrm>
          <a:prstGeom prst="rect">
            <a:avLst/>
          </a:prstGeom>
          <a:noFill/>
        </p:spPr>
        <p:txBody>
          <a:bodyPr wrap="square">
            <a:spAutoFit/>
          </a:bodyPr>
          <a:lstStyle/>
          <a:p>
            <a:pPr>
              <a:lnSpc>
                <a:spcPct val="130000"/>
              </a:lnSpc>
              <a:defRPr sz="1400">
                <a:solidFill>
                  <a:srgbClr val="1E293B"/>
                </a:solidFill>
                <a:latin typeface="Calibri"/>
              </a:defRPr>
            </a:pPr>
            <a:r>
              <a:t>A graph traversal algorithm that randomly walks from a starting node and periodically returns to it, used to measure node proximity.</a:t>
            </a:r>
          </a:p>
        </p:txBody>
      </p:sp>
      <p:sp>
        <p:nvSpPr>
          <p:cNvPr id="10" name="Rounded Rectangle 9"/>
          <p:cNvSpPr/>
          <p:nvPr/>
        </p:nvSpPr>
        <p:spPr>
          <a:xfrm>
            <a:off x="594360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645920" cy="292608"/>
          </a:xfrm>
          <a:prstGeom prst="rect">
            <a:avLst/>
          </a:prstGeom>
          <a:noFill/>
        </p:spPr>
        <p:txBody>
          <a:bodyPr wrap="none">
            <a:spAutoFit/>
          </a:bodyPr>
          <a:lstStyle/>
          <a:p>
            <a:pPr algn="ctr">
              <a:defRPr sz="1100" b="1">
                <a:solidFill>
                  <a:srgbClr val="FFFFFF"/>
                </a:solidFill>
                <a:latin typeface="Calibri"/>
              </a:defRPr>
            </a:pPr>
            <a:r>
              <a:t>Neighbor Sampling</a:t>
            </a:r>
          </a:p>
        </p:txBody>
      </p:sp>
      <p:sp>
        <p:nvSpPr>
          <p:cNvPr id="13" name="TextBox 12"/>
          <p:cNvSpPr txBox="1"/>
          <p:nvPr/>
        </p:nvSpPr>
        <p:spPr>
          <a:xfrm>
            <a:off x="7726680" y="1157731"/>
            <a:ext cx="3154680" cy="1705610"/>
          </a:xfrm>
          <a:prstGeom prst="rect">
            <a:avLst/>
          </a:prstGeom>
          <a:noFill/>
        </p:spPr>
        <p:txBody>
          <a:bodyPr wrap="square">
            <a:spAutoFit/>
          </a:bodyPr>
          <a:lstStyle/>
          <a:p>
            <a:pPr>
              <a:lnSpc>
                <a:spcPct val="130000"/>
              </a:lnSpc>
              <a:defRPr sz="1400">
                <a:solidFill>
                  <a:srgbClr val="1E293B"/>
                </a:solidFill>
                <a:latin typeface="Calibri"/>
              </a:defRPr>
            </a:pPr>
            <a:r>
              <a:t>The process of selecting a subset of a node's neighbors for computational efficiency.</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645920" cy="292608"/>
          </a:xfrm>
          <a:prstGeom prst="rect">
            <a:avLst/>
          </a:prstGeom>
          <a:noFill/>
        </p:spPr>
        <p:txBody>
          <a:bodyPr wrap="none">
            <a:spAutoFit/>
          </a:bodyPr>
          <a:lstStyle/>
          <a:p>
            <a:pPr algn="ctr">
              <a:defRPr sz="1100" b="1">
                <a:solidFill>
                  <a:srgbClr val="FFFFFF"/>
                </a:solidFill>
                <a:latin typeface="Calibri"/>
              </a:defRPr>
            </a:pPr>
            <a:r>
              <a:t>Structural Influence</a:t>
            </a:r>
          </a:p>
        </p:txBody>
      </p:sp>
      <p:sp>
        <p:nvSpPr>
          <p:cNvPr id="17" name="TextBox 16"/>
          <p:cNvSpPr txBox="1"/>
          <p:nvPr/>
        </p:nvSpPr>
        <p:spPr>
          <a:xfrm>
            <a:off x="233172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The impact a node has on the overall topology and information flow within a graph.</a:t>
            </a:r>
          </a:p>
        </p:txBody>
      </p:sp>
      <p:sp>
        <p:nvSpPr>
          <p:cNvPr id="18" name="Rounded Rectangle 17"/>
          <p:cNvSpPr/>
          <p:nvPr/>
        </p:nvSpPr>
        <p:spPr>
          <a:xfrm>
            <a:off x="5943600" y="2870200"/>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007360"/>
            <a:ext cx="1426464"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025648"/>
            <a:ext cx="1426464" cy="292608"/>
          </a:xfrm>
          <a:prstGeom prst="rect">
            <a:avLst/>
          </a:prstGeom>
          <a:noFill/>
        </p:spPr>
        <p:txBody>
          <a:bodyPr wrap="none">
            <a:spAutoFit/>
          </a:bodyPr>
          <a:lstStyle/>
          <a:p>
            <a:pPr algn="ctr">
              <a:defRPr sz="1100" b="1">
                <a:solidFill>
                  <a:srgbClr val="FFFFFF"/>
                </a:solidFill>
                <a:latin typeface="Calibri"/>
              </a:defRPr>
            </a:pPr>
            <a:r>
              <a:t>Pre-processing</a:t>
            </a:r>
          </a:p>
        </p:txBody>
      </p:sp>
      <p:sp>
        <p:nvSpPr>
          <p:cNvPr id="21" name="TextBox 20"/>
          <p:cNvSpPr txBox="1"/>
          <p:nvPr/>
        </p:nvSpPr>
        <p:spPr>
          <a:xfrm>
            <a:off x="7507224" y="2979928"/>
            <a:ext cx="3374136" cy="1465580"/>
          </a:xfrm>
          <a:prstGeom prst="rect">
            <a:avLst/>
          </a:prstGeom>
          <a:noFill/>
        </p:spPr>
        <p:txBody>
          <a:bodyPr wrap="square">
            <a:spAutoFit/>
          </a:bodyPr>
          <a:lstStyle/>
          <a:p>
            <a:pPr>
              <a:lnSpc>
                <a:spcPct val="130000"/>
              </a:lnSpc>
              <a:defRPr sz="1400">
                <a:solidFill>
                  <a:srgbClr val="1E293B"/>
                </a:solidFill>
                <a:latin typeface="Calibri"/>
              </a:defRPr>
            </a:pPr>
            <a:r>
              <a:t>Data preparation steps performed before the main model training or inference.</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Lesson Summary</a:t>
            </a:r>
          </a:p>
        </p:txBody>
      </p:sp>
      <p:sp>
        <p:nvSpPr>
          <p:cNvPr id="5" name="Rectangle 4"/>
          <p:cNvSpPr/>
          <p:nvPr/>
        </p:nvSpPr>
        <p:spPr>
          <a:xfrm>
            <a:off x="548640" y="901700"/>
            <a:ext cx="10972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398678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249172"/>
            <a:ext cx="438912" cy="43891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276604"/>
            <a:ext cx="438912" cy="384048"/>
          </a:xfrm>
          <a:prstGeom prst="rect">
            <a:avLst/>
          </a:prstGeom>
          <a:noFill/>
        </p:spPr>
        <p:txBody>
          <a:bodyPr wrap="none">
            <a:spAutoFit/>
          </a:bodyPr>
          <a:lstStyle/>
          <a:p>
            <a:pPr algn="ctr">
              <a:defRPr sz="2200">
                <a:solidFill>
                  <a:srgbClr val="FFFFFF"/>
                </a:solidFill>
              </a:defRPr>
            </a:pPr>
            <a:r>
              <a:t>✓</a:t>
            </a:r>
          </a:p>
        </p:txBody>
      </p:sp>
      <p:sp>
        <p:nvSpPr>
          <p:cNvPr id="9" name="TextBox 8"/>
          <p:cNvSpPr txBox="1"/>
          <p:nvPr/>
        </p:nvSpPr>
        <p:spPr>
          <a:xfrm>
            <a:off x="1325880" y="1185164"/>
            <a:ext cx="10134295"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t>This lesson introduced the HetTransformer model, a novel approach to fake news detection that addresses the limitations of existing graph models. By utilizing an encoder-decoder Transformer architecture, the model effectively integrates multi-modal content semantics with global structural representations derived from heterogeneous social networks.</a:t>
            </a:r>
          </a:p>
          <a:p>
            <a:pPr>
              <a:lnSpc>
                <a:spcPct val="135000"/>
              </a:lnSpc>
              <a:spcAft>
                <a:spcPts val="1000"/>
              </a:spcAft>
              <a:defRPr sz="1600">
                <a:solidFill>
                  <a:srgbClr val="1E293B"/>
                </a:solidFill>
                <a:latin typeface="Calibri"/>
              </a:defRPr>
            </a:pPr>
            <a:r>
              <a:t>Key technical components include the use of type-specific transformation matrices to handle node heterogeneity, and a Random Walk with Restart (RWR) strategy to optimize neighbor sampling. These advancements allow the model to better capture the complex propagation patterns of fake news, leading to superior performance in real-world detection tasks.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Check Your Understanding</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602991"/>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b="1">
                <a:solidFill>
                  <a:srgbClr val="3B82F6"/>
                </a:solidFill>
              </a:rPr>
              <a:t>1. How does the use of type-specific transformation matrices help in modeling heterogeneous social networks?</a:t>
            </a:r>
          </a:p>
          <a:p>
            <a:pPr>
              <a:lnSpc>
                <a:spcPct val="135000"/>
              </a:lnSpc>
              <a:spcAft>
                <a:spcPts val="1000"/>
              </a:spcAft>
              <a:defRPr sz="1600">
                <a:solidFill>
                  <a:srgbClr val="1E293B"/>
                </a:solidFill>
                <a:latin typeface="Calibri"/>
              </a:defRPr>
            </a:pPr>
            <a:r>
              <a:rPr b="1">
                <a:solidFill>
                  <a:srgbClr val="3B82F6"/>
                </a:solidFill>
              </a:rPr>
              <a:t>2. Why is the encoder-decoder structure more effective for fake news detection than standard classification layers?</a:t>
            </a:r>
          </a:p>
          <a:p>
            <a:pPr>
              <a:lnSpc>
                <a:spcPct val="135000"/>
              </a:lnSpc>
              <a:spcAft>
                <a:spcPts val="1000"/>
              </a:spcAft>
              <a:defRPr sz="1600">
                <a:solidFill>
                  <a:srgbClr val="1E293B"/>
                </a:solidFill>
                <a:latin typeface="Calibri"/>
              </a:defRPr>
            </a:pPr>
            <a:r>
              <a:rPr b="1">
                <a:solidFill>
                  <a:srgbClr val="3B82F6"/>
                </a:solidFill>
              </a:rPr>
              <a:t>3. What is the benefit of concatenating content embeddings with positional and type embeddings?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Check Your Understanding</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b="1">
                <a:solidFill>
                  <a:srgbClr val="3B82F6"/>
                </a:solidFill>
              </a:rPr>
              <a:t>1. How does the RWR strategy improve the quality of neighbor sampling compared to random selection?</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References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132994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320040" cy="3200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320040" cy="283464"/>
          </a:xfrm>
          <a:prstGeom prst="rect">
            <a:avLst/>
          </a:prstGeom>
          <a:noFill/>
        </p:spPr>
        <p:txBody>
          <a:bodyPr wrap="none">
            <a:spAutoFit/>
          </a:bodyPr>
          <a:lstStyle/>
          <a:p>
            <a:pPr algn="ctr">
              <a:defRPr sz="1200" b="1">
                <a:solidFill>
                  <a:srgbClr val="FFFFFF"/>
                </a:solidFill>
                <a:latin typeface="Calibri"/>
              </a:defRPr>
            </a:pPr>
            <a:r>
              <a:t>1</a:t>
            </a:r>
          </a:p>
        </p:txBody>
      </p:sp>
      <p:sp>
        <p:nvSpPr>
          <p:cNvPr id="9" name="TextBox 8"/>
          <p:cNvSpPr txBox="1"/>
          <p:nvPr/>
        </p:nvSpPr>
        <p:spPr>
          <a:xfrm>
            <a:off x="1051560" y="1139444"/>
            <a:ext cx="10454335" cy="2743200"/>
          </a:xfrm>
          <a:prstGeom prst="rect">
            <a:avLst/>
          </a:prstGeom>
          <a:noFill/>
        </p:spPr>
        <p:txBody>
          <a:bodyPr wrap="square">
            <a:spAutoFit/>
          </a:bodyPr>
          <a:lstStyle/>
          <a:p>
            <a:pPr>
              <a:lnSpc>
                <a:spcPct val="125000"/>
              </a:lnSpc>
              <a:defRPr sz="1600" b="1">
                <a:solidFill>
                  <a:srgbClr val="1E293B"/>
                </a:solidFill>
                <a:latin typeface="Calibri"/>
              </a:defRPr>
            </a:pPr>
            <a:r>
              <a:t>Fake News Detection with Heterogeneous Transformer</a:t>
            </a:r>
          </a:p>
          <a:p>
            <a:pPr>
              <a:lnSpc>
                <a:spcPct val="125000"/>
              </a:lnSpc>
              <a:defRPr sz="1400">
                <a:solidFill>
                  <a:srgbClr val="64748B"/>
                </a:solidFill>
                <a:latin typeface="Calibri"/>
              </a:defRPr>
            </a:pPr>
            <a:r>
              <a:t>Research Team</a:t>
            </a:r>
          </a:p>
          <a:p>
            <a:pPr>
              <a:lnSpc>
                <a:spcPct val="125000"/>
              </a:lnSpc>
              <a:defRPr sz="1400">
                <a:solidFill>
                  <a:srgbClr val="64748B"/>
                </a:solidFill>
                <a:latin typeface="Calibri"/>
              </a:defRPr>
            </a:pPr>
            <a:r>
              <a:t>(2024)</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